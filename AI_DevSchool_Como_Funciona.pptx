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notesMasterIdLst>
    <p:notesMasterId r:id="rId27"/>
  </p:notesMasterIdLst>
  <p:sldSz cx="12192000" cy="6858000" type="custom"/>
  <p:notesSz cx="12192000" cy="6858000"/>
</p:presentation>
</file>

<file path=ppt/presProps.xml><?xml version="1.0" encoding="utf-8"?>
<p:presentationPr xmlns:p="http://schemas.openxmlformats.org/presentationml/2006/main" xmlns:a="http://schemas.openxmlformats.org/drawingml/2006/main" xmlns:r="http://schemas.openxmlformats.org/officeDocument/2006/relationships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xmlns:r="http://schemas.openxmlformats.org/officeDocument/2006/relationships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/>
          <p:nvPr>
            <p:ph type="body" idx="1"/>
          </p:nvPr>
        </p:nvSpPr>
        <p:spPr/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Abertura: AI DevSchool não é um produto único, é um ecossistema. Uma escola contínua e multiagente de engenharia de software.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O que é: uma escola, não um gerador de código. IA propõe, máquina de estados e gates executáveis dispõem.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Princípio norteador: one learner, one curriculum, many engines. As cinco regras de ouro do handbook.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Regra-mestra: completion certainty never lives in the language model. A máquina de estados do learning gate com retry e escalação.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Mapa do ecossistema: engines ao redor, substrato canônico no centro. Setas mostram direção de leitura/escrita.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Três camadas sobre o filesystem. Por que dois núcleos de agentes: mesmo protocolo, plataformas diferentes.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Os dois loops: ciclo de software de 5 fases (pipeline_status.yaml) e learning gate por unidade (learning_state.yaml). Encontram-se no diagnóstico.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Substrato: edite o canônico, validate(), sync() regenera 11+ views derivadas atomicamente. Nunca edite view derivada.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Anatomia do learning_state.yaml e as invariantes que o validador impõe — incluindo a regra nascida das 18 masterizações falsas.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learner/gate: a fronteira de confiança. Consome evidência, nunca produz. Pipeline de decisão e integridade criptográfica.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Curriculum: catálogo canônico, 6 níveis, ciclo de vida uniforme, anatomia de projeto, status honesto 2/18.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Caso real: projeto 02 key_value_store. Métricas reais, honestidade empírica, caveats explícitos.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minimaxDojo: os 14 agentes Ágora Continuum organizados em 5 camadas, com roteamento de modelo e RACI.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minimaxDojo por dentro: máquina de estados formal, portão empírico com blacklist de anti-padrões, whiteboard de 3 camadas.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miniMaxEvolutionEngine: motor Claude Code. Orquestrador que nunca escreve código, PhaseRunner, verifier sem escrita, auditoria cross-model.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openclaw: runner de checklist file-based. Simulate grade prova existência, nunca correção. Escrita transacional com rollback.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O contrato de jogos de ensino: 8 regras canônicas e o envelope de evidência compartilhado.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pixelDojo: 5 mecânicas aprovadas, thresholds centralizados, Playwright que joga de verdade e prova ausência de side-effects.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voxelDojo: simulação 3D com núcleo determinístico headless; a cena é projeção. Caso hash-ring e o bug que tornava a lição falsa.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codexDojo e codexdojo-os-prototype: janelas e controles sobre a verdade canônica, nunca a fonte dela.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O fluxo completo de uma unidade, da seleção à projeção — e a trilha de auditoria que sustenta a honestidade do sistema.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Todos os números vivem num único lugar: config/learner.yaml, referenciado simbolicamente via marcador config e protegido por testes anti-drift.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Comandos de validação por superfície. make só cobre as suítes Python compartilhadas; cada app JS valida a si mesmo.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Fechamento: a tese do ecossistema em uma frase, o estado honesto do projeto e para onde ele vai.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3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4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5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6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7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8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9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0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1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3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4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5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6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7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8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9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20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21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2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23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24" Type="http://schemas.openxmlformats.org/officeDocument/2006/relationships/notesSlide" Target="../notesSlides/notesSlide24.xml"/></Relationships>
</file>

<file path=ppt/slides/slide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-bar"/>
          <p:cNvSpPr/>
          <p:nvPr/>
        </p:nvSpPr>
        <p:spPr>
          <a:xfrm>
            <a:off x="711200" y="1498600"/>
            <a:ext cx="76200" cy="1219200"/>
          </a:xfrm>
          <a:prstGeom prst="rect">
            <a:avLst/>
          </a:prstGeom>
          <a:solidFill>
            <a:srgbClr val="BC5327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1016000" y="14224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 b="1" spc="250" kern="0">
                <a:solidFill>
                  <a:srgbClr val="BC5327"/>
                </a:solidFill>
                <a:latin typeface="MiSans"/>
                <a:ea typeface="MiSans"/>
              </a:rPr>
              <a:t>AI DEVSCHOOL · ECOSSISTEMA TÉCNICO</a:t>
            </a:r>
            <a:endParaRPr lang="en-US" sz="1100"/>
          </a:p>
        </p:txBody>
      </p:sp>
      <p:sp>
        <p:nvSpPr>
          <p:cNvPr id="4" name="title"/>
          <p:cNvSpPr txBox="1"/>
          <p:nvPr/>
        </p:nvSpPr>
        <p:spPr>
          <a:xfrm>
            <a:off x="990600" y="1701800"/>
            <a:ext cx="10160000" cy="1320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20000"/>
              </a:lnSpc>
            </a:pPr>
            <a:r>
              <a:rPr lang="en-US" sz="3800" b="1">
                <a:solidFill>
                  <a:srgbClr val="1B1E23"/>
                </a:solidFill>
                <a:latin typeface="MiSans"/>
                <a:ea typeface="MiSans"/>
              </a:rPr>
              <a:t>Como funciona a escola contínua e</a:t>
            </a:r>
            <a:endParaRPr lang="en-US" sz="1600"/>
          </a:p>
          <a:p>
            <a:pPr algn="l">
              <a:lnSpc>
                <a:spcPct val="120000"/>
              </a:lnSpc>
            </a:pPr>
            <a:r>
              <a:rPr lang="en-US" sz="3800" b="1">
                <a:solidFill>
                  <a:srgbClr val="1B1E23"/>
                </a:solidFill>
                <a:latin typeface="MiSans"/>
                <a:ea typeface="MiSans"/>
              </a:rPr>
              <a:t>multiagente de engenharia de software</a:t>
            </a:r>
            <a:endParaRPr lang="en-US" sz="1600"/>
          </a:p>
        </p:txBody>
      </p:sp>
      <p:sp>
        <p:nvSpPr>
          <p:cNvPr id="5" name="subtitle"/>
          <p:cNvSpPr txBox="1"/>
          <p:nvPr/>
        </p:nvSpPr>
        <p:spPr>
          <a:xfrm>
            <a:off x="1016000" y="3175000"/>
            <a:ext cx="8890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5000"/>
              </a:lnSpc>
            </a:pPr>
            <a:r>
              <a:rPr lang="en-US" sz="1400">
                <a:solidFill>
                  <a:srgbClr val="454A51"/>
                </a:solidFill>
                <a:latin typeface="MiSans"/>
                <a:ea typeface="MiSans"/>
              </a:rPr>
              <a:t>Um aprendiz, um currículo, muitos engines — arquitetura, learning gate,
evidência executável e o substrato compartilhado, explicados de ponta a ponta.</a:t>
            </a:r>
            <a:endParaRPr lang="en-US" sz="1400"/>
          </a:p>
        </p:txBody>
      </p:sp>
      <p:sp>
        <p:nvSpPr>
          <p:cNvPr id="6" name="sm-label"/>
          <p:cNvSpPr txBox="1"/>
          <p:nvPr/>
        </p:nvSpPr>
        <p:spPr>
          <a:xfrm>
            <a:off x="711200" y="45212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950" b="1" spc="200" kern="0">
                <a:solidFill>
                  <a:srgbClr val="8B9199"/>
                </a:solidFill>
                <a:latin typeface="MiSans"/>
                <a:ea typeface="MiSans"/>
              </a:rPr>
              <a:t>A MÁQUINA DE ESTADOS QUE GOVERNA TUDO</a:t>
            </a:r>
            <a:endParaRPr lang="en-US" sz="950"/>
          </a:p>
        </p:txBody>
      </p:sp>
      <p:sp>
        <p:nvSpPr>
          <p:cNvPr id="7" name="sm-s1"/>
          <p:cNvSpPr/>
          <p:nvPr/>
        </p:nvSpPr>
        <p:spPr>
          <a:xfrm>
            <a:off x="711200" y="4800600"/>
            <a:ext cx="1524000" cy="508000"/>
          </a:xfrm>
          <a:prstGeom prst="rect">
            <a:avLst/>
          </a:prstGeom>
          <a:solidFill>
            <a:srgbClr val="EDF1F5"/>
          </a:solidFill>
          <a:ln w="12700">
            <a:solidFill>
              <a:srgbClr val="33506B"/>
            </a:solidFill>
          </a:ln>
        </p:spPr>
      </p:sp>
      <p:sp>
        <p:nvSpPr>
          <p:cNvPr id="8" name="sm-s1-t"/>
          <p:cNvSpPr txBox="1"/>
          <p:nvPr/>
        </p:nvSpPr>
        <p:spPr>
          <a:xfrm>
            <a:off x="711200" y="4800600"/>
            <a:ext cx="152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100" b="1">
                <a:solidFill>
                  <a:srgbClr val="24405A"/>
                </a:solidFill>
                <a:latin typeface="MiSans"/>
                <a:ea typeface="MiSans"/>
              </a:rPr>
              <a:t>apresentando</a:t>
            </a:r>
            <a:endParaRPr lang="en-US" sz="1100"/>
          </a:p>
        </p:txBody>
      </p:sp>
      <p:sp>
        <p:nvSpPr>
          <p:cNvPr id="9" name="sm-a1"/>
          <p:cNvSpPr/>
          <p:nvPr>
            <p:extLst>
              <p:ext uri="{F5677B7D-0D2A-4D9B-9A5C-6D8D7D0E5A5D}">
                <pptd:line encoding="base64url">eyJjdXJ2ZSI6InJvdW5kIiwicG9pbnRzIjoiMCwyIDI2LDIiLCJ2aWV3Qm94IjpbMjYsNF19</pptd:line>
              </p:ext>
            </p:extLst>
          </p:nvPr>
        </p:nvSpPr>
        <p:spPr>
          <a:xfrm>
            <a:off x="2235200" y="5029200"/>
            <a:ext cx="330200" cy="50800"/>
          </a:xfrm>
          <a:custGeom>
            <a:avLst/>
            <a:gdLst/>
            <a:ahLst/>
            <a:cxnLst/>
            <a:rect l="l" t="t" r="r" b="b"/>
            <a:pathLst>
              <a:path w="26" h="4">
                <a:moveTo>
                  <a:pt x="0" y="2"/>
                </a:moveTo>
                <a:lnTo>
                  <a:pt x="26" y="2"/>
                </a:lnTo>
              </a:path>
            </a:pathLst>
          </a:custGeom>
          <a:noFill/>
          <a:ln w="19050" cap="rnd">
            <a:solidFill>
              <a:srgbClr val="8B9199"/>
            </a:solidFill>
            <a:round/>
            <a:tailEnd type="stealth"/>
          </a:ln>
        </p:spPr>
      </p:sp>
      <p:sp>
        <p:nvSpPr>
          <p:cNvPr id="10" name="sm-s2"/>
          <p:cNvSpPr/>
          <p:nvPr/>
        </p:nvSpPr>
        <p:spPr>
          <a:xfrm>
            <a:off x="2565400" y="4800600"/>
            <a:ext cx="1524000" cy="508000"/>
          </a:xfrm>
          <a:prstGeom prst="rect">
            <a:avLst/>
          </a:prstGeom>
          <a:solidFill>
            <a:srgbClr val="EDF1F5"/>
          </a:solidFill>
          <a:ln w="12700">
            <a:solidFill>
              <a:srgbClr val="33506B"/>
            </a:solidFill>
          </a:ln>
        </p:spPr>
      </p:sp>
      <p:sp>
        <p:nvSpPr>
          <p:cNvPr id="11" name="sm-s2-t"/>
          <p:cNvSpPr txBox="1"/>
          <p:nvPr/>
        </p:nvSpPr>
        <p:spPr>
          <a:xfrm>
            <a:off x="2565400" y="4800600"/>
            <a:ext cx="152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100" b="1">
                <a:solidFill>
                  <a:srgbClr val="24405A"/>
                </a:solidFill>
                <a:latin typeface="MiSans"/>
                <a:ea typeface="MiSans"/>
              </a:rPr>
              <a:t>praticando</a:t>
            </a:r>
            <a:endParaRPr lang="en-US" sz="1100"/>
          </a:p>
        </p:txBody>
      </p:sp>
      <p:sp>
        <p:nvSpPr>
          <p:cNvPr id="12" name="sm-a2"/>
          <p:cNvSpPr/>
          <p:nvPr>
            <p:extLst>
              <p:ext uri="{F5677B7D-0D2A-4D9B-9A5C-6D8D7D0E5A5D}">
                <pptd:line encoding="base64url">eyJjdXJ2ZSI6InJvdW5kIiwicG9pbnRzIjoiMCwyIDI2LDIiLCJ2aWV3Qm94IjpbMjYsNF19</pptd:line>
              </p:ext>
            </p:extLst>
          </p:nvPr>
        </p:nvSpPr>
        <p:spPr>
          <a:xfrm>
            <a:off x="4089400" y="5029200"/>
            <a:ext cx="330200" cy="50800"/>
          </a:xfrm>
          <a:custGeom>
            <a:avLst/>
            <a:gdLst/>
            <a:ahLst/>
            <a:cxnLst/>
            <a:rect l="l" t="t" r="r" b="b"/>
            <a:pathLst>
              <a:path w="26" h="4">
                <a:moveTo>
                  <a:pt x="0" y="2"/>
                </a:moveTo>
                <a:lnTo>
                  <a:pt x="26" y="2"/>
                </a:lnTo>
              </a:path>
            </a:pathLst>
          </a:custGeom>
          <a:noFill/>
          <a:ln w="19050" cap="rnd">
            <a:solidFill>
              <a:srgbClr val="8B9199"/>
            </a:solidFill>
            <a:round/>
            <a:tailEnd type="stealth"/>
          </a:ln>
        </p:spPr>
      </p:sp>
      <p:sp>
        <p:nvSpPr>
          <p:cNvPr id="13" name="sm-s3"/>
          <p:cNvSpPr/>
          <p:nvPr/>
        </p:nvSpPr>
        <p:spPr>
          <a:xfrm>
            <a:off x="4419600" y="4800600"/>
            <a:ext cx="1524000" cy="508000"/>
          </a:xfrm>
          <a:prstGeom prst="rect">
            <a:avLst/>
          </a:prstGeom>
          <a:solidFill>
            <a:srgbClr val="F8EAE1"/>
          </a:solidFill>
          <a:ln w="19050">
            <a:solidFill>
              <a:srgbClr val="BC5327"/>
            </a:solidFill>
          </a:ln>
        </p:spPr>
      </p:sp>
      <p:sp>
        <p:nvSpPr>
          <p:cNvPr id="14" name="sm-s3-t"/>
          <p:cNvSpPr txBox="1"/>
          <p:nvPr/>
        </p:nvSpPr>
        <p:spPr>
          <a:xfrm>
            <a:off x="4419600" y="4800600"/>
            <a:ext cx="152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100" b="1">
                <a:solidFill>
                  <a:srgbClr val="96401E"/>
                </a:solidFill>
                <a:latin typeface="MiSans"/>
                <a:ea typeface="MiSans"/>
              </a:rPr>
              <a:t>avaliando</a:t>
            </a:r>
            <a:endParaRPr lang="en-US" sz="1100"/>
          </a:p>
        </p:txBody>
      </p:sp>
      <p:sp>
        <p:nvSpPr>
          <p:cNvPr id="15" name="sm-a3"/>
          <p:cNvSpPr/>
          <p:nvPr>
            <p:extLst>
              <p:ext uri="{F5677B7D-0D2A-4D9B-9A5C-6D8D7D0E5A5D}">
                <pptd:line encoding="base64url">eyJjdXJ2ZSI6InJvdW5kIiwicG9pbnRzIjoiMCwyIDI2LDIiLCJ2aWV3Qm94IjpbMjYsNF19</pptd:line>
              </p:ext>
            </p:extLst>
          </p:nvPr>
        </p:nvSpPr>
        <p:spPr>
          <a:xfrm>
            <a:off x="5943600" y="5029200"/>
            <a:ext cx="330200" cy="50800"/>
          </a:xfrm>
          <a:custGeom>
            <a:avLst/>
            <a:gdLst/>
            <a:ahLst/>
            <a:cxnLst/>
            <a:rect l="l" t="t" r="r" b="b"/>
            <a:pathLst>
              <a:path w="26" h="4">
                <a:moveTo>
                  <a:pt x="0" y="2"/>
                </a:moveTo>
                <a:lnTo>
                  <a:pt x="26" y="2"/>
                </a:lnTo>
              </a:path>
            </a:pathLst>
          </a:custGeom>
          <a:noFill/>
          <a:ln w="19050" cap="rnd">
            <a:solidFill>
              <a:srgbClr val="BC5327"/>
            </a:solidFill>
            <a:round/>
            <a:tailEnd type="stealth"/>
          </a:ln>
        </p:spPr>
      </p:sp>
      <p:sp>
        <p:nvSpPr>
          <p:cNvPr id="16" name="sm-s4"/>
          <p:cNvSpPr/>
          <p:nvPr/>
        </p:nvSpPr>
        <p:spPr>
          <a:xfrm>
            <a:off x="6273800" y="4800600"/>
            <a:ext cx="1524000" cy="508000"/>
          </a:xfrm>
          <a:prstGeom prst="rect">
            <a:avLst/>
          </a:prstGeom>
          <a:solidFill>
            <a:srgbClr val="E9F3EC"/>
          </a:solidFill>
          <a:ln w="19050">
            <a:solidFill>
              <a:srgbClr val="2F7D4F"/>
            </a:solidFill>
          </a:ln>
        </p:spPr>
      </p:sp>
      <p:sp>
        <p:nvSpPr>
          <p:cNvPr id="17" name="sm-s4-t"/>
          <p:cNvSpPr txBox="1"/>
          <p:nvPr/>
        </p:nvSpPr>
        <p:spPr>
          <a:xfrm>
            <a:off x="6273800" y="4800600"/>
            <a:ext cx="152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100" b="1">
                <a:solidFill>
                  <a:srgbClr val="2F7D4F"/>
                </a:solidFill>
                <a:latin typeface="MiSans"/>
                <a:ea typeface="MiSans"/>
              </a:rPr>
              <a:t>dominado</a:t>
            </a:r>
            <a:endParaRPr lang="en-US" sz="1100"/>
          </a:p>
        </p:txBody>
      </p:sp>
      <p:sp>
        <p:nvSpPr>
          <p:cNvPr id="18" name="sm-note"/>
          <p:cNvSpPr txBox="1"/>
          <p:nvPr/>
        </p:nvSpPr>
        <p:spPr>
          <a:xfrm>
            <a:off x="8128000" y="4800600"/>
            <a:ext cx="3352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0000"/>
              </a:lnSpc>
            </a:pPr>
            <a:r>
              <a:rPr lang="en-US" sz="1050">
                <a:solidFill>
                  <a:srgbClr val="8B9199"/>
                </a:solidFill>
                <a:latin typeface="MiSans"/>
                <a:ea typeface="MiSans"/>
              </a:rPr>
              <a:t>Só se avança com </a:t>
            </a:r>
            <a:r>
              <a:rPr lang="en-US" sz="1050" b="1">
                <a:solidFill>
                  <a:srgbClr val="8B9199"/>
                </a:solidFill>
                <a:latin typeface="MiSans"/>
                <a:ea typeface="MiSans"/>
              </a:rPr>
              <a:t>evidência executável</a:t>
            </a:r>
            <a:r>
              <a:rPr lang="en-US" sz="1050">
                <a:solidFill>
                  <a:srgbClr val="8B9199"/>
                </a:solidFill>
                <a:latin typeface="MiSans"/>
                <a:ea typeface="MiSans"/>
              </a:rPr>
              <a:t> verificada por um verificador independente.</a:t>
            </a:r>
            <a:endParaRPr lang="en-US" sz="1050"/>
          </a:p>
        </p:txBody>
      </p:sp>
      <p:sp>
        <p:nvSpPr>
          <p:cNvPr id="19" name="meta-line"/>
          <p:cNvSpPr/>
          <p:nvPr>
            <p:extLst>
              <p:ext uri="{F5677B7D-0D2A-4D9B-9A5C-6D8D7D0E5A5D}">
                <pptd:line encoding="base64url">eyJjdXJ2ZSI6InJvdW5kIiwicG9pbnRzIjoiMCwxIDg0OCwxIiwidmlld0JveCI6Wzg0OCwyXX0</pptd:line>
              </p:ext>
            </p:extLst>
          </p:nvPr>
        </p:nvSpPr>
        <p:spPr>
          <a:xfrm>
            <a:off x="711200" y="5969000"/>
            <a:ext cx="10769600" cy="25400"/>
          </a:xfrm>
          <a:custGeom>
            <a:avLst/>
            <a:gdLst/>
            <a:ahLst/>
            <a:cxnLst/>
            <a:rect l="l" t="t" r="r" b="b"/>
            <a:pathLst>
              <a:path w="848" h="2">
                <a:moveTo>
                  <a:pt x="0" y="1"/>
                </a:moveTo>
                <a:lnTo>
                  <a:pt x="848" y="1"/>
                </a:lnTo>
              </a:path>
            </a:pathLst>
          </a:custGeom>
          <a:noFill/>
          <a:ln w="12700" cap="rnd">
            <a:solidFill>
              <a:srgbClr val="E3E6EA"/>
            </a:solidFill>
            <a:round/>
          </a:ln>
        </p:spPr>
      </p:sp>
      <p:sp>
        <p:nvSpPr>
          <p:cNvPr id="20" name="meta"/>
          <p:cNvSpPr txBox="1"/>
          <p:nvPr/>
        </p:nvSpPr>
        <p:spPr>
          <a:xfrm>
            <a:off x="711200" y="6121400"/>
            <a:ext cx="10769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000">
                <a:solidFill>
                  <a:srgbClr val="8B9199"/>
                </a:solidFill>
                <a:latin typeface="MiSans"/>
                <a:ea typeface="MiSans"/>
              </a:rPr>
              <a:t>Deep dive técnico · público: engenharia · fonte: docs/handbook, AGENTS.md e código do repositório aidevschool (2026-07)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 b="1" spc="250" kern="0">
                <a:solidFill>
                  <a:srgbClr val="BC5327"/>
                </a:solidFill>
                <a:latin typeface="MiSans"/>
                <a:ea typeface="MiSans"/>
              </a:rPr>
              <a:t>01 · O QUE É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11200" y="7112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15000"/>
              </a:lnSpc>
            </a:pPr>
            <a:r>
              <a:rPr lang="en-US" sz="2600" b="1">
                <a:solidFill>
                  <a:srgbClr val="1B1E23"/>
                </a:solidFill>
                <a:latin typeface="MiSans"/>
                <a:ea typeface="MiSans"/>
              </a:rPr>
              <a:t>Uma escola dirigida por agentes — não um gerador de código</a:t>
            </a:r>
            <a:endParaRPr lang="en-US" sz="2600"/>
          </a:p>
        </p:txBody>
      </p:sp>
      <p:sp>
        <p:nvSpPr>
          <p:cNvPr id="4" name="title-rule"/>
          <p:cNvSpPr/>
          <p:nvPr/>
        </p:nvSpPr>
        <p:spPr>
          <a:xfrm>
            <a:off x="711200" y="1295400"/>
            <a:ext cx="711200" cy="38100"/>
          </a:xfrm>
          <a:prstGeom prst="rect">
            <a:avLst/>
          </a:prstGeom>
          <a:solidFill>
            <a:srgbClr val="BC5327"/>
          </a:solidFill>
          <a:ln>
            <a:noFill/>
          </a:ln>
        </p:spPr>
      </p:sp>
      <p:sp>
        <p:nvSpPr>
          <p:cNvPr id="5" name="quote-panel"/>
          <p:cNvSpPr/>
          <p:nvPr/>
        </p:nvSpPr>
        <p:spPr>
          <a:xfrm>
            <a:off x="711200" y="1625600"/>
            <a:ext cx="10769600" cy="736600"/>
          </a:xfrm>
          <a:prstGeom prst="rect">
            <a:avLst/>
          </a:prstGeom>
          <a:solidFill>
            <a:srgbClr val="F7F5F0"/>
          </a:solidFill>
          <a:ln w="12700">
            <a:solidFill>
              <a:srgbClr val="E3E6EA"/>
            </a:solidFill>
          </a:ln>
        </p:spPr>
      </p:sp>
      <p:sp>
        <p:nvSpPr>
          <p:cNvPr id="6" name="quote"/>
          <p:cNvSpPr txBox="1"/>
          <p:nvPr/>
        </p:nvSpPr>
        <p:spPr>
          <a:xfrm>
            <a:off x="965200" y="1727200"/>
            <a:ext cx="102616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0000"/>
              </a:lnSpc>
            </a:pPr>
            <a:r>
              <a:rPr lang="en-US" sz="1300" i="1">
                <a:solidFill>
                  <a:srgbClr val="1B1E23"/>
                </a:solidFill>
                <a:latin typeface="MiSans"/>
                <a:ea typeface="MiSans"/>
              </a:rPr>
              <a:t>"Driven by a team of AI agents that </a:t>
            </a:r>
            <a:r>
              <a:rPr lang="en-US" sz="1300" b="1" i="1">
                <a:solidFill>
                  <a:srgbClr val="1B1E23"/>
                </a:solidFill>
                <a:latin typeface="MiSans"/>
                <a:ea typeface="MiSans"/>
              </a:rPr>
              <a:t>propose</a:t>
            </a:r>
            <a:r>
              <a:rPr lang="en-US" sz="1300" i="1">
                <a:solidFill>
                  <a:srgbClr val="1B1E23"/>
                </a:solidFill>
                <a:latin typeface="MiSans"/>
                <a:ea typeface="MiSans"/>
              </a:rPr>
              <a:t>, while a deterministic state machine and executable gates </a:t>
            </a:r>
            <a:r>
              <a:rPr lang="en-US" sz="1300" b="1" i="1">
                <a:solidFill>
                  <a:srgbClr val="1B1E23"/>
                </a:solidFill>
                <a:latin typeface="MiSans"/>
                <a:ea typeface="MiSans"/>
              </a:rPr>
              <a:t>dispose</a:t>
            </a:r>
            <a:r>
              <a:rPr lang="en-US" sz="1300" i="1">
                <a:solidFill>
                  <a:srgbClr val="1B1E23"/>
                </a:solidFill>
                <a:latin typeface="MiSans"/>
                <a:ea typeface="MiSans"/>
              </a:rPr>
              <a:t>."</a:t>
            </a:r>
            <a:endParaRPr lang="en-US" sz="1300"/>
          </a:p>
          <a:p>
            <a:pPr algn="l">
              <a:lnSpc>
                <a:spcPct val="140000"/>
              </a:lnSpc>
            </a:pPr>
            <a:r>
              <a:rPr lang="en-US" sz="950">
                <a:solidFill>
                  <a:srgbClr val="8B9199"/>
                </a:solidFill>
                <a:latin typeface="MiSans"/>
                <a:ea typeface="MiSans"/>
              </a:rPr>
              <a:t>— docs/handbook/README.md: agentes de IA propõem; a máquina de estados determinística e os gates executáveis decidem.</a:t>
            </a:r>
            <a:endParaRPr lang="en-US" sz="1300"/>
          </a:p>
        </p:txBody>
      </p:sp>
      <p:sp>
        <p:nvSpPr>
          <p:cNvPr id="7" name="col1-head"/>
          <p:cNvSpPr txBox="1"/>
          <p:nvPr/>
        </p:nvSpPr>
        <p:spPr>
          <a:xfrm>
            <a:off x="711200" y="26670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 b="1" spc="150" kern="0">
                <a:solidFill>
                  <a:srgbClr val="2F7D4F"/>
                </a:solidFill>
                <a:latin typeface="MiSans"/>
                <a:ea typeface="MiSans"/>
              </a:rPr>
              <a:t>O QUE É</a:t>
            </a:r>
            <a:endParaRPr lang="en-US" sz="1100"/>
          </a:p>
        </p:txBody>
      </p:sp>
      <p:sp>
        <p:nvSpPr>
          <p:cNvPr id="8" name="col1-rule"/>
          <p:cNvSpPr/>
          <p:nvPr>
            <p:extLst>
              <p:ext uri="{F5677B7D-0D2A-4D9B-9A5C-6D8D7D0E5A5D}">
                <pptd:line encoding="base64url">eyJjdXJ2ZSI6InJvdW5kIiwicG9pbnRzIjoiMCwxIDQwMCwxIiwidmlld0JveCI6WzQwMCwyXX0</pptd:line>
              </p:ext>
            </p:extLst>
          </p:nvPr>
        </p:nvSpPr>
        <p:spPr>
          <a:xfrm>
            <a:off x="711200" y="2946400"/>
            <a:ext cx="5080000" cy="25400"/>
          </a:xfrm>
          <a:custGeom>
            <a:avLst/>
            <a:gdLst/>
            <a:ahLst/>
            <a:cxnLst/>
            <a:rect l="l" t="t" r="r" b="b"/>
            <a:pathLst>
              <a:path w="400" h="2">
                <a:moveTo>
                  <a:pt x="0" y="1"/>
                </a:moveTo>
                <a:lnTo>
                  <a:pt x="400" y="1"/>
                </a:lnTo>
              </a:path>
            </a:pathLst>
          </a:custGeom>
          <a:noFill/>
          <a:ln w="12700" cap="rnd">
            <a:solidFill>
              <a:srgbClr val="E3E6EA"/>
            </a:solidFill>
            <a:round/>
          </a:ln>
        </p:spPr>
      </p:sp>
      <p:sp>
        <p:nvSpPr>
          <p:cNvPr id="9" name="col1-body"/>
          <p:cNvSpPr txBox="1"/>
          <p:nvPr/>
        </p:nvSpPr>
        <p:spPr>
          <a:xfrm>
            <a:off x="711200" y="3073400"/>
            <a:ext cx="5080000" cy="304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5000"/>
              </a:lnSpc>
            </a:pPr>
            <a:r>
              <a:rPr lang="en-US" sz="1250" b="1">
                <a:solidFill>
                  <a:srgbClr val="454A51"/>
                </a:solidFill>
                <a:latin typeface="MiSans"/>
                <a:ea typeface="MiSans"/>
              </a:rPr>
              <a:t>Uma escola prática e contínua de engenharia de software</a:t>
            </a:r>
            <a:r>
              <a:rPr lang="en-US" sz="1250">
                <a:solidFill>
                  <a:srgbClr val="454A51"/>
                </a:solidFill>
                <a:latin typeface="MiSans"/>
                <a:ea typeface="MiSans"/>
              </a:rPr>
              <a:t> que ensina um único aprendiz a escrever código robusto construindo projetos reais — testando, revisando, comparando linguagens e medindo resultados.</a:t>
            </a:r>
            <a:endParaRPr lang="en-US" sz="1250"/>
          </a:p>
          <a:p>
            <a:pPr algn="l">
              <a:lnSpc>
                <a:spcPct val="145000"/>
              </a:lnSpc>
              <a:spcBef>
                <a:spcPts val="1000"/>
              </a:spcBef>
            </a:pPr>
            <a:r>
              <a:rPr lang="en-US" sz="1250" b="1">
                <a:solidFill>
                  <a:srgbClr val="454A51"/>
                </a:solidFill>
                <a:latin typeface="MiSans"/>
                <a:ea typeface="MiSans"/>
              </a:rPr>
              <a:t>Um ecossistema multiagente:</a:t>
            </a:r>
            <a:r>
              <a:rPr lang="en-US" sz="1250">
                <a:solidFill>
                  <a:srgbClr val="454A51"/>
                </a:solidFill>
                <a:latin typeface="MiSans"/>
                <a:ea typeface="MiSans"/>
              </a:rPr>
              <a:t> um time de 14 papéis de agentes (tutor, verificador, revisor, scheduler…) operando sobre uma máquina de estados determinística.</a:t>
            </a:r>
            <a:endParaRPr lang="en-US" sz="1250"/>
          </a:p>
          <a:p>
            <a:pPr algn="l">
              <a:lnSpc>
                <a:spcPct val="145000"/>
              </a:lnSpc>
              <a:spcBef>
                <a:spcPts val="1000"/>
              </a:spcBef>
            </a:pPr>
            <a:r>
              <a:rPr lang="en-US" sz="1250" b="1">
                <a:solidFill>
                  <a:srgbClr val="454A51"/>
                </a:solidFill>
                <a:latin typeface="MiSans"/>
                <a:ea typeface="MiSans"/>
              </a:rPr>
              <a:t>Um repositório-guarda-chuva:</a:t>
            </a:r>
            <a:r>
              <a:rPr lang="en-US" sz="1250">
                <a:solidFill>
                  <a:srgbClr val="454A51"/>
                </a:solidFill>
                <a:latin typeface="MiSans"/>
                <a:ea typeface="MiSans"/>
              </a:rPr>
              <a:t> a raiz não é uma aplicação — não há </a:t>
            </a:r>
            <a:r>
              <a:rPr lang="en-US" sz="1250">
                <a:solidFill>
                  <a:srgbClr val="96401E"/>
                </a:solidFill>
                <a:latin typeface="MiSans"/>
                <a:ea typeface="MiSans"/>
              </a:rPr>
              <a:t>package.json</a:t>
            </a:r>
            <a:r>
              <a:rPr lang="en-US" sz="1250">
                <a:solidFill>
                  <a:srgbClr val="454A51"/>
                </a:solidFill>
                <a:latin typeface="MiSans"/>
                <a:ea typeface="MiSans"/>
              </a:rPr>
              <a:t> na raiz; cada engine é um projeto independente.</a:t>
            </a:r>
            <a:endParaRPr lang="en-US" sz="1250"/>
          </a:p>
          <a:p>
            <a:pPr algn="l">
              <a:lnSpc>
                <a:spcPct val="145000"/>
              </a:lnSpc>
              <a:spcBef>
                <a:spcPts val="1000"/>
              </a:spcBef>
            </a:pPr>
            <a:r>
              <a:rPr lang="en-US" sz="1250" b="1">
                <a:solidFill>
                  <a:srgbClr val="454A51"/>
                </a:solidFill>
                <a:latin typeface="MiSans"/>
                <a:ea typeface="MiSans"/>
              </a:rPr>
              <a:t>Um piloto single-learner</a:t>
            </a:r>
            <a:r>
              <a:rPr lang="en-US" sz="1250">
                <a:solidFill>
                  <a:srgbClr val="454A51"/>
                </a:solidFill>
                <a:latin typeface="MiSans"/>
                <a:ea typeface="MiSans"/>
              </a:rPr>
              <a:t> (Daniel = learner 0) de uma visão maior: lições pequenas com revisão espaçada e streak, "numa pegada Duolingo" (docs/VISION.md).</a:t>
            </a:r>
            <a:endParaRPr lang="en-US" sz="1250"/>
          </a:p>
        </p:txBody>
      </p:sp>
      <p:sp>
        <p:nvSpPr>
          <p:cNvPr id="10" name="col2-head"/>
          <p:cNvSpPr txBox="1"/>
          <p:nvPr/>
        </p:nvSpPr>
        <p:spPr>
          <a:xfrm>
            <a:off x="6400800" y="26670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 b="1" spc="150" kern="0">
                <a:solidFill>
                  <a:srgbClr val="B4443C"/>
                </a:solidFill>
                <a:latin typeface="MiSans"/>
                <a:ea typeface="MiSans"/>
              </a:rPr>
              <a:t>O QUE NÃO É</a:t>
            </a:r>
            <a:endParaRPr lang="en-US" sz="1100"/>
          </a:p>
        </p:txBody>
      </p:sp>
      <p:sp>
        <p:nvSpPr>
          <p:cNvPr id="11" name="col2-rule"/>
          <p:cNvSpPr/>
          <p:nvPr>
            <p:extLst>
              <p:ext uri="{F5677B7D-0D2A-4D9B-9A5C-6D8D7D0E5A5D}">
                <pptd:line encoding="base64url">eyJjdXJ2ZSI6InJvdW5kIiwicG9pbnRzIjoiMCwxIDQwMCwxIiwidmlld0JveCI6WzQwMCwyXX0</pptd:line>
              </p:ext>
            </p:extLst>
          </p:nvPr>
        </p:nvSpPr>
        <p:spPr>
          <a:xfrm>
            <a:off x="6400800" y="2946400"/>
            <a:ext cx="5080000" cy="25400"/>
          </a:xfrm>
          <a:custGeom>
            <a:avLst/>
            <a:gdLst/>
            <a:ahLst/>
            <a:cxnLst/>
            <a:rect l="l" t="t" r="r" b="b"/>
            <a:pathLst>
              <a:path w="400" h="2">
                <a:moveTo>
                  <a:pt x="0" y="1"/>
                </a:moveTo>
                <a:lnTo>
                  <a:pt x="400" y="1"/>
                </a:lnTo>
              </a:path>
            </a:pathLst>
          </a:custGeom>
          <a:noFill/>
          <a:ln w="12700" cap="rnd">
            <a:solidFill>
              <a:srgbClr val="E3E6EA"/>
            </a:solidFill>
            <a:round/>
          </a:ln>
        </p:spPr>
      </p:sp>
      <p:sp>
        <p:nvSpPr>
          <p:cNvPr id="12" name="col2-body"/>
          <p:cNvSpPr txBox="1"/>
          <p:nvPr/>
        </p:nvSpPr>
        <p:spPr>
          <a:xfrm>
            <a:off x="6400800" y="3073400"/>
            <a:ext cx="5080000" cy="304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5000"/>
              </a:lnSpc>
            </a:pPr>
            <a:r>
              <a:rPr lang="en-US" sz="1250" b="1">
                <a:solidFill>
                  <a:srgbClr val="454A51"/>
                </a:solidFill>
                <a:latin typeface="MiSans"/>
                <a:ea typeface="MiSans"/>
              </a:rPr>
              <a:t>Não é um gerador de código.</a:t>
            </a:r>
            <a:r>
              <a:rPr lang="en-US" sz="1250">
                <a:solidFill>
                  <a:srgbClr val="454A51"/>
                </a:solidFill>
                <a:latin typeface="MiSans"/>
                <a:ea typeface="MiSans"/>
              </a:rPr>
              <a:t> Enquanto o learning gate estiver bloqueado, a IA é </a:t>
            </a:r>
            <a:r>
              <a:rPr lang="en-US" sz="1250" i="1">
                <a:solidFill>
                  <a:srgbClr val="454A51"/>
                </a:solidFill>
                <a:latin typeface="MiSans"/>
                <a:ea typeface="MiSans"/>
              </a:rPr>
              <a:t>proibida</a:t>
            </a:r>
            <a:r>
              <a:rPr lang="en-US" sz="1250">
                <a:solidFill>
                  <a:srgbClr val="454A51"/>
                </a:solidFill>
                <a:latin typeface="MiSans"/>
                <a:ea typeface="MiSans"/>
              </a:rPr>
              <a:t> de implementar a unidade — o aprendiz precisa tentar primeiro.</a:t>
            </a:r>
            <a:endParaRPr lang="en-US" sz="1250"/>
          </a:p>
          <a:p>
            <a:pPr algn="l">
              <a:lnSpc>
                <a:spcPct val="145000"/>
              </a:lnSpc>
              <a:spcBef>
                <a:spcPts val="1000"/>
              </a:spcBef>
            </a:pPr>
            <a:r>
              <a:rPr lang="en-US" sz="1250" b="1">
                <a:solidFill>
                  <a:srgbClr val="454A51"/>
                </a:solidFill>
                <a:latin typeface="MiSans"/>
                <a:ea typeface="MiSans"/>
              </a:rPr>
              <a:t>Não é auto-certificação.</a:t>
            </a:r>
            <a:r>
              <a:rPr lang="en-US" sz="1250">
                <a:solidFill>
                  <a:srgbClr val="454A51"/>
                </a:solidFill>
                <a:latin typeface="MiSans"/>
                <a:ea typeface="MiSans"/>
              </a:rPr>
              <a:t> Nenhuma quantidade de explicação, review ou código entregue marca uma unidade como </a:t>
            </a:r>
            <a:r>
              <a:rPr lang="en-US" sz="1250">
                <a:solidFill>
                  <a:srgbClr val="96401E"/>
                </a:solidFill>
                <a:latin typeface="MiSans"/>
                <a:ea typeface="MiSans"/>
              </a:rPr>
              <a:t>mastered</a:t>
            </a:r>
            <a:r>
              <a:rPr lang="en-US" sz="1250">
                <a:solidFill>
                  <a:srgbClr val="454A51"/>
                </a:solidFill>
                <a:latin typeface="MiSans"/>
                <a:ea typeface="MiSans"/>
              </a:rPr>
              <a:t>.</a:t>
            </a:r>
            <a:endParaRPr lang="en-US" sz="1250"/>
          </a:p>
          <a:p>
            <a:pPr algn="l">
              <a:lnSpc>
                <a:spcPct val="145000"/>
              </a:lnSpc>
              <a:spcBef>
                <a:spcPts val="1000"/>
              </a:spcBef>
            </a:pPr>
            <a:r>
              <a:rPr lang="en-US" sz="1250" b="1">
                <a:solidFill>
                  <a:srgbClr val="454A51"/>
                </a:solidFill>
                <a:latin typeface="MiSans"/>
                <a:ea typeface="MiSans"/>
              </a:rPr>
              <a:t>Não é um banco de dados.</a:t>
            </a:r>
            <a:r>
              <a:rPr lang="en-US" sz="1250">
                <a:solidFill>
                  <a:srgbClr val="454A51"/>
                </a:solidFill>
                <a:latin typeface="MiSans"/>
                <a:ea typeface="MiSans"/>
              </a:rPr>
              <a:t> Todo o estado vive em arquivos auditáveis (Markdown / YAML / NDJSON) versionados em git.</a:t>
            </a:r>
            <a:endParaRPr lang="en-US" sz="1250"/>
          </a:p>
          <a:p>
            <a:pPr algn="l">
              <a:lnSpc>
                <a:spcPct val="145000"/>
              </a:lnSpc>
              <a:spcBef>
                <a:spcPts val="1000"/>
              </a:spcBef>
            </a:pPr>
            <a:r>
              <a:rPr lang="en-US" sz="1250" b="1">
                <a:solidFill>
                  <a:srgbClr val="454A51"/>
                </a:solidFill>
                <a:latin typeface="MiSans"/>
                <a:ea typeface="MiSans"/>
              </a:rPr>
              <a:t>Não é "confie no modelo".</a:t>
            </a:r>
            <a:r>
              <a:rPr lang="en-US" sz="1250">
                <a:solidFill>
                  <a:srgbClr val="454A51"/>
                </a:solidFill>
                <a:latin typeface="MiSans"/>
                <a:ea typeface="MiSans"/>
              </a:rPr>
              <a:t> Consenso entre agentes ≠ correção: só evidência executável (testes, mutation score, benchmarks) promove.</a:t>
            </a:r>
            <a:endParaRPr lang="en-US" sz="1250"/>
          </a:p>
        </p:txBody>
      </p:sp>
      <p:sp>
        <p:nvSpPr>
          <p:cNvPr id="13" name="origin"/>
          <p:cNvSpPr txBox="1"/>
          <p:nvPr/>
        </p:nvSpPr>
        <p:spPr>
          <a:xfrm>
            <a:off x="711200" y="61468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35000"/>
              </a:lnSpc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Origem: prompt-semente de 2026 inspirado em "MiniMax Agent Team — long-running tasks and continuous evolution" (docs/PROMPTS/-01_GOAL.md).</a:t>
            </a:r>
            <a:endParaRPr lang="en-US" sz="900"/>
          </a:p>
        </p:txBody>
      </p:sp>
      <p:sp>
        <p:nvSpPr>
          <p:cNvPr id="14" name="footer-lin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E3E6EA"/>
          </a:solidFill>
          <a:ln>
            <a:noFill/>
          </a:ln>
        </p:spPr>
      </p:sp>
      <p:sp>
        <p:nvSpPr>
          <p:cNvPr id="15" name="footer-left"/>
          <p:cNvSpPr txBox="1"/>
          <p:nvPr/>
        </p:nvSpPr>
        <p:spPr>
          <a:xfrm>
            <a:off x="711200" y="6553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35000"/>
              </a:lnSpc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AI DEVSCHOOL — COMO FUNCIONA</a:t>
            </a:r>
            <a:endParaRPr lang="en-US" sz="900"/>
          </a:p>
        </p:txBody>
      </p:sp>
      <p:sp>
        <p:nvSpPr>
          <p:cNvPr id="16" name="footer-page"/>
          <p:cNvSpPr txBox="1"/>
          <p:nvPr/>
        </p:nvSpPr>
        <p:spPr>
          <a:xfrm>
            <a:off x="10414000" y="6553200"/>
            <a:ext cx="106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35000"/>
              </a:lnSpc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02</a:t>
            </a:r>
            <a:endParaRPr lang="en-US" sz="9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 b="1" spc="250" kern="0">
                <a:solidFill>
                  <a:srgbClr val="BC5327"/>
                </a:solidFill>
                <a:latin typeface="MiSans"/>
                <a:ea typeface="MiSans"/>
              </a:rPr>
              <a:t>02 · FILOSOFIA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11200" y="7112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15000"/>
              </a:lnSpc>
            </a:pPr>
            <a:r>
              <a:rPr lang="en-US" sz="2600" b="1">
                <a:solidFill>
                  <a:srgbClr val="1B1E23"/>
                </a:solidFill>
                <a:latin typeface="MiSans"/>
                <a:ea typeface="MiSans"/>
              </a:rPr>
              <a:t>Um aprendiz, um currículo, muitos engines</a:t>
            </a:r>
            <a:endParaRPr lang="en-US" sz="2600"/>
          </a:p>
        </p:txBody>
      </p:sp>
      <p:sp>
        <p:nvSpPr>
          <p:cNvPr id="4" name="title-rule"/>
          <p:cNvSpPr/>
          <p:nvPr/>
        </p:nvSpPr>
        <p:spPr>
          <a:xfrm>
            <a:off x="711200" y="1295400"/>
            <a:ext cx="711200" cy="38100"/>
          </a:xfrm>
          <a:prstGeom prst="rect">
            <a:avLst/>
          </a:prstGeom>
          <a:solidFill>
            <a:srgbClr val="BC5327"/>
          </a:solidFill>
          <a:ln>
            <a:noFill/>
          </a:ln>
        </p:spPr>
      </p:sp>
      <p:sp>
        <p:nvSpPr>
          <p:cNvPr id="5" name="dia-learner"/>
          <p:cNvSpPr/>
          <p:nvPr/>
        </p:nvSpPr>
        <p:spPr>
          <a:xfrm>
            <a:off x="711200" y="1727200"/>
            <a:ext cx="2413000" cy="1295400"/>
          </a:xfrm>
          <a:prstGeom prst="rect">
            <a:avLst/>
          </a:prstGeom>
          <a:solidFill>
            <a:srgbClr val="EDF1F5"/>
          </a:solidFill>
          <a:ln w="19050">
            <a:solidFill>
              <a:srgbClr val="33506B"/>
            </a:solidFill>
          </a:ln>
        </p:spPr>
      </p:sp>
      <p:sp>
        <p:nvSpPr>
          <p:cNvPr id="6" name="dia-learner-t"/>
          <p:cNvSpPr txBox="1"/>
          <p:nvPr/>
        </p:nvSpPr>
        <p:spPr>
          <a:xfrm>
            <a:off x="863600" y="1828800"/>
            <a:ext cx="2108200" cy="1092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24405A"/>
                </a:solidFill>
                <a:latin typeface="MiSans"/>
                <a:ea typeface="MiSans"/>
              </a:rPr>
              <a:t>1 aprendiz</a:t>
            </a:r>
            <a:endParaRPr lang="en-US" sz="1600"/>
          </a:p>
          <a:p>
            <a:pPr algn="l">
              <a:lnSpc>
                <a:spcPct val="120000"/>
              </a:lnSpc>
              <a:spcBef>
                <a:spcPts val="500"/>
              </a:spcBef>
            </a:pPr>
            <a:r>
              <a:rPr lang="en-US" sz="900">
                <a:solidFill>
                  <a:srgbClr val="454A51"/>
                </a:solidFill>
                <a:latin typeface="MiSans"/>
                <a:ea typeface="MiSans"/>
              </a:rPr>
              <a:t>Uma jornada única: o progresso nunca se fragmenta entre engines.</a:t>
            </a:r>
            <a:endParaRPr lang="en-US" sz="1600"/>
          </a:p>
        </p:txBody>
      </p:sp>
      <p:sp>
        <p:nvSpPr>
          <p:cNvPr id="7" name="dia-a1"/>
          <p:cNvSpPr/>
          <p:nvPr>
            <p:extLst>
              <p:ext uri="{F5677B7D-0D2A-4D9B-9A5C-6D8D7D0E5A5D}">
                <pptd:line encoding="base64url">eyJjdXJ2ZSI6InJvdW5kIiwicG9pbnRzIjoiMCw4IDQwLDgiLCJ2aWV3Qm94IjpbNDAsMTZdfQ</pptd:line>
              </p:ext>
            </p:extLst>
          </p:nvPr>
        </p:nvSpPr>
        <p:spPr>
          <a:xfrm>
            <a:off x="3124200" y="2286000"/>
            <a:ext cx="508000" cy="203200"/>
          </a:xfrm>
          <a:custGeom>
            <a:avLst/>
            <a:gdLst/>
            <a:ahLst/>
            <a:cxnLst/>
            <a:rect l="l" t="t" r="r" b="b"/>
            <a:pathLst>
              <a:path w="40" h="16">
                <a:moveTo>
                  <a:pt x="0" y="8"/>
                </a:moveTo>
                <a:lnTo>
                  <a:pt x="40" y="8"/>
                </a:lnTo>
              </a:path>
            </a:pathLst>
          </a:custGeom>
          <a:noFill/>
          <a:ln w="25400" cap="rnd">
            <a:solidFill>
              <a:srgbClr val="8B9199"/>
            </a:solidFill>
            <a:round/>
            <a:tailEnd type="stealth"/>
          </a:ln>
        </p:spPr>
      </p:sp>
      <p:sp>
        <p:nvSpPr>
          <p:cNvPr id="8" name="dia-curr"/>
          <p:cNvSpPr/>
          <p:nvPr/>
        </p:nvSpPr>
        <p:spPr>
          <a:xfrm>
            <a:off x="3632200" y="1727200"/>
            <a:ext cx="2413000" cy="1295400"/>
          </a:xfrm>
          <a:prstGeom prst="rect">
            <a:avLst/>
          </a:prstGeom>
          <a:solidFill>
            <a:srgbClr val="EDF1F5"/>
          </a:solidFill>
          <a:ln w="19050">
            <a:solidFill>
              <a:srgbClr val="33506B"/>
            </a:solidFill>
          </a:ln>
        </p:spPr>
      </p:sp>
      <p:sp>
        <p:nvSpPr>
          <p:cNvPr id="9" name="dia-curr-t"/>
          <p:cNvSpPr txBox="1"/>
          <p:nvPr/>
        </p:nvSpPr>
        <p:spPr>
          <a:xfrm>
            <a:off x="3784600" y="1828800"/>
            <a:ext cx="2108200" cy="1092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24405A"/>
                </a:solidFill>
                <a:latin typeface="MiSans"/>
                <a:ea typeface="MiSans"/>
              </a:rPr>
              <a:t>1 currículo</a:t>
            </a:r>
            <a:endParaRPr lang="en-US" sz="1600"/>
          </a:p>
          <a:p>
            <a:pPr algn="l">
              <a:lnSpc>
                <a:spcPct val="120000"/>
              </a:lnSpc>
              <a:spcBef>
                <a:spcPts val="500"/>
              </a:spcBef>
            </a:pPr>
            <a:r>
              <a:rPr lang="en-US" sz="900">
                <a:solidFill>
                  <a:srgbClr val="454A51"/>
                </a:solidFill>
                <a:latin typeface="MiSans"/>
                <a:ea typeface="MiSans"/>
              </a:rPr>
              <a:t>18 projetos poliglotas (Go · Rust · Node) compartilhados por todos os engines.</a:t>
            </a:r>
            <a:endParaRPr lang="en-US" sz="1600"/>
          </a:p>
        </p:txBody>
      </p:sp>
      <p:sp>
        <p:nvSpPr>
          <p:cNvPr id="10" name="dia-a2"/>
          <p:cNvSpPr/>
          <p:nvPr>
            <p:extLst>
              <p:ext uri="{F5677B7D-0D2A-4D9B-9A5C-6D8D7D0E5A5D}">
                <pptd:line encoding="base64url">eyJjdXJ2ZSI6InJvdW5kIiwicG9pbnRzIjoiMCw4IDQwLDgiLCJ2aWV3Qm94IjpbNDAsMTZdfQ</pptd:line>
              </p:ext>
            </p:extLst>
          </p:nvPr>
        </p:nvSpPr>
        <p:spPr>
          <a:xfrm>
            <a:off x="6045200" y="2286000"/>
            <a:ext cx="508000" cy="203200"/>
          </a:xfrm>
          <a:custGeom>
            <a:avLst/>
            <a:gdLst/>
            <a:ahLst/>
            <a:cxnLst/>
            <a:rect l="l" t="t" r="r" b="b"/>
            <a:pathLst>
              <a:path w="40" h="16">
                <a:moveTo>
                  <a:pt x="0" y="8"/>
                </a:moveTo>
                <a:lnTo>
                  <a:pt x="40" y="8"/>
                </a:lnTo>
              </a:path>
            </a:pathLst>
          </a:custGeom>
          <a:noFill/>
          <a:ln w="25400" cap="rnd">
            <a:solidFill>
              <a:srgbClr val="8B9199"/>
            </a:solidFill>
            <a:round/>
            <a:tailEnd type="stealth"/>
          </a:ln>
        </p:spPr>
      </p:sp>
      <p:sp>
        <p:nvSpPr>
          <p:cNvPr id="11" name="dia-engines"/>
          <p:cNvSpPr/>
          <p:nvPr/>
        </p:nvSpPr>
        <p:spPr>
          <a:xfrm>
            <a:off x="6553200" y="1549400"/>
            <a:ext cx="4927600" cy="1574800"/>
          </a:xfrm>
          <a:prstGeom prst="rect">
            <a:avLst/>
          </a:prstGeom>
          <a:solidFill>
            <a:srgbClr val="F7F5F0"/>
          </a:solidFill>
          <a:ln w="19050">
            <a:solidFill>
              <a:srgbClr val="BC5327"/>
            </a:solidFill>
          </a:ln>
        </p:spPr>
      </p:sp>
      <p:sp>
        <p:nvSpPr>
          <p:cNvPr id="12" name="dia-engines-t"/>
          <p:cNvSpPr txBox="1"/>
          <p:nvPr/>
        </p:nvSpPr>
        <p:spPr>
          <a:xfrm>
            <a:off x="6731000" y="1651000"/>
            <a:ext cx="4572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96401E"/>
                </a:solidFill>
                <a:latin typeface="MiSans"/>
                <a:ea typeface="MiSans"/>
              </a:rPr>
              <a:t>N engines</a:t>
            </a:r>
            <a:endParaRPr lang="en-US" sz="1600"/>
          </a:p>
          <a:p>
            <a:pPr algn="l">
              <a:lnSpc>
                <a:spcPct val="120000"/>
              </a:lnSpc>
              <a:spcBef>
                <a:spcPts val="500"/>
              </a:spcBef>
            </a:pPr>
            <a:r>
              <a:rPr lang="en-US" sz="950">
                <a:solidFill>
                  <a:srgbClr val="454A51"/>
                </a:solidFill>
                <a:latin typeface="MiSans"/>
                <a:ea typeface="MiSans"/>
              </a:rPr>
              <a:t>Dashboards, OS educacional, jogos 2D/3D, tutores e runners — cada um um projeto separado, todos sobre o </a:t>
            </a:r>
            <a:r>
              <a:rPr lang="en-US" sz="950" b="1">
                <a:solidFill>
                  <a:srgbClr val="454A51"/>
                </a:solidFill>
                <a:latin typeface="MiSans"/>
                <a:ea typeface="MiSans"/>
              </a:rPr>
              <a:t>mesmo substrato</a:t>
            </a:r>
            <a:r>
              <a:rPr lang="en-US" sz="950">
                <a:solidFill>
                  <a:srgbClr val="454A51"/>
                </a:solidFill>
                <a:latin typeface="MiSans"/>
                <a:ea typeface="MiSans"/>
              </a:rPr>
              <a:t>.</a:t>
            </a:r>
            <a:endParaRPr lang="en-US" sz="1600"/>
          </a:p>
          <a:p>
            <a:pPr algn="l">
              <a:lnSpc>
                <a:spcPct val="120000"/>
              </a:lnSpc>
              <a:spcBef>
                <a:spcPts val="500"/>
              </a:spcBef>
            </a:pPr>
            <a:r>
              <a:rPr lang="en-US" sz="950">
                <a:solidFill>
                  <a:srgbClr val="8B9199"/>
                </a:solidFill>
                <a:latin typeface="MiSans"/>
                <a:ea typeface="MiSans"/>
              </a:rPr>
              <a:t>Acessam learner/ e curriculum/ por symlinks e paths relativos — </a:t>
            </a:r>
            <a:r>
              <a:rPr lang="en-US" sz="950" b="1">
                <a:solidFill>
                  <a:srgbClr val="8B9199"/>
                </a:solidFill>
                <a:latin typeface="MiSans"/>
                <a:ea typeface="MiSans"/>
              </a:rPr>
              <a:t>nunca duplicam nem bifurcam</a:t>
            </a:r>
            <a:r>
              <a:rPr lang="en-US" sz="950">
                <a:solidFill>
                  <a:srgbClr val="8B9199"/>
                </a:solidFill>
                <a:latin typeface="MiSans"/>
                <a:ea typeface="MiSans"/>
              </a:rPr>
              <a:t> o estado.</a:t>
            </a:r>
            <a:endParaRPr lang="en-US" sz="1600"/>
          </a:p>
        </p:txBody>
      </p:sp>
      <p:sp>
        <p:nvSpPr>
          <p:cNvPr id="13" name="dia-note"/>
          <p:cNvSpPr txBox="1"/>
          <p:nvPr/>
        </p:nvSpPr>
        <p:spPr>
          <a:xfrm>
            <a:off x="711200" y="3200400"/>
            <a:ext cx="10769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35000"/>
              </a:lnSpc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Symlinks de compatibilidade na raiz: projects → curriculum · .agora → learner · project_proposal.md → curriculum/catalog.md · learning_journal.md → learner/journal.md</a:t>
            </a:r>
            <a:endParaRPr lang="en-US" sz="900"/>
          </a:p>
        </p:txBody>
      </p:sp>
      <p:sp>
        <p:nvSpPr>
          <p:cNvPr id="14" name="rules-head"/>
          <p:cNvSpPr txBox="1"/>
          <p:nvPr/>
        </p:nvSpPr>
        <p:spPr>
          <a:xfrm>
            <a:off x="711200" y="36068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 b="1" spc="150" kern="0">
                <a:solidFill>
                  <a:srgbClr val="1B1E23"/>
                </a:solidFill>
                <a:latin typeface="MiSans"/>
                <a:ea typeface="MiSans"/>
              </a:rPr>
              <a:t>AS CINCO REGRAS DE OURO (docs/handbook/README.md)</a:t>
            </a:r>
            <a:endParaRPr lang="en-US" sz="1100"/>
          </a:p>
        </p:txBody>
      </p:sp>
      <p:sp>
        <p:nvSpPr>
          <p:cNvPr id="15" name="rules-rule"/>
          <p:cNvSpPr/>
          <p:nvPr>
            <p:extLst>
              <p:ext uri="{F5677B7D-0D2A-4D9B-9A5C-6D8D7D0E5A5D}">
                <pptd:line encoding="base64url">eyJjdXJ2ZSI6InJvdW5kIiwicG9pbnRzIjoiMCwxIDg0OCwxIiwidmlld0JveCI6Wzg0OCwyXX0</pptd:line>
              </p:ext>
            </p:extLst>
          </p:nvPr>
        </p:nvSpPr>
        <p:spPr>
          <a:xfrm>
            <a:off x="711200" y="3886200"/>
            <a:ext cx="10769600" cy="25400"/>
          </a:xfrm>
          <a:custGeom>
            <a:avLst/>
            <a:gdLst/>
            <a:ahLst/>
            <a:cxnLst/>
            <a:rect l="l" t="t" r="r" b="b"/>
            <a:pathLst>
              <a:path w="848" h="2">
                <a:moveTo>
                  <a:pt x="0" y="1"/>
                </a:moveTo>
                <a:lnTo>
                  <a:pt x="848" y="1"/>
                </a:lnTo>
              </a:path>
            </a:pathLst>
          </a:custGeom>
          <a:noFill/>
          <a:ln w="12700" cap="rnd">
            <a:solidFill>
              <a:srgbClr val="E3E6EA"/>
            </a:solidFill>
            <a:round/>
          </a:ln>
        </p:spPr>
      </p:sp>
      <p:sp>
        <p:nvSpPr>
          <p:cNvPr id="16" name="r1-n"/>
          <p:cNvSpPr txBox="1"/>
          <p:nvPr/>
        </p:nvSpPr>
        <p:spPr>
          <a:xfrm>
            <a:off x="711200" y="40386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BC5327"/>
                </a:solidFill>
                <a:latin typeface="MiSans"/>
                <a:ea typeface="MiSans"/>
              </a:rPr>
              <a:t>1</a:t>
            </a:r>
            <a:endParaRPr lang="en-US" sz="2000"/>
          </a:p>
        </p:txBody>
      </p:sp>
      <p:sp>
        <p:nvSpPr>
          <p:cNvPr id="17" name="r1"/>
          <p:cNvSpPr txBox="1"/>
          <p:nvPr/>
        </p:nvSpPr>
        <p:spPr>
          <a:xfrm>
            <a:off x="1117600" y="4038600"/>
            <a:ext cx="46736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5000"/>
              </a:lnSpc>
            </a:pPr>
            <a:r>
              <a:rPr lang="en-US" sz="1150" b="1">
                <a:solidFill>
                  <a:srgbClr val="454A51"/>
                </a:solidFill>
                <a:latin typeface="MiSans"/>
                <a:ea typeface="MiSans"/>
              </a:rPr>
              <a:t>Learning gate</a:t>
            </a:r>
            <a:r>
              <a:rPr lang="en-US" sz="1150">
                <a:solidFill>
                  <a:srgbClr val="454A51"/>
                </a:solidFill>
                <a:latin typeface="MiSans"/>
                <a:ea typeface="MiSans"/>
              </a:rPr>
              <a:t> — tentativa do aprendiz + avaliação com evidência executável antes de qualquer </a:t>
            </a:r>
            <a:r>
              <a:rPr lang="en-US" sz="1150">
                <a:solidFill>
                  <a:srgbClr val="96401E"/>
                </a:solidFill>
                <a:latin typeface="MiSans"/>
                <a:ea typeface="MiSans"/>
              </a:rPr>
              <a:t>mastered</a:t>
            </a:r>
            <a:r>
              <a:rPr lang="en-US" sz="1150">
                <a:solidFill>
                  <a:srgbClr val="454A51"/>
                </a:solidFill>
                <a:latin typeface="MiSans"/>
                <a:ea typeface="MiSans"/>
              </a:rPr>
              <a:t>.</a:t>
            </a:r>
            <a:endParaRPr lang="en-US" sz="1150"/>
          </a:p>
        </p:txBody>
      </p:sp>
      <p:sp>
        <p:nvSpPr>
          <p:cNvPr id="18" name="r2-n"/>
          <p:cNvSpPr txBox="1"/>
          <p:nvPr/>
        </p:nvSpPr>
        <p:spPr>
          <a:xfrm>
            <a:off x="711200" y="48768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BC5327"/>
                </a:solidFill>
                <a:latin typeface="MiSans"/>
                <a:ea typeface="MiSans"/>
              </a:rPr>
              <a:t>2</a:t>
            </a:r>
            <a:endParaRPr lang="en-US" sz="2000"/>
          </a:p>
        </p:txBody>
      </p:sp>
      <p:sp>
        <p:nvSpPr>
          <p:cNvPr id="19" name="r2"/>
          <p:cNvSpPr txBox="1"/>
          <p:nvPr/>
        </p:nvSpPr>
        <p:spPr>
          <a:xfrm>
            <a:off x="1117600" y="4876800"/>
            <a:ext cx="46736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5000"/>
              </a:lnSpc>
            </a:pPr>
            <a:r>
              <a:rPr lang="en-US" sz="1150" b="1">
                <a:solidFill>
                  <a:srgbClr val="454A51"/>
                </a:solidFill>
                <a:latin typeface="MiSans"/>
                <a:ea typeface="MiSans"/>
              </a:rPr>
              <a:t>Produtor ≠ verificador</a:t>
            </a:r>
            <a:r>
              <a:rPr lang="en-US" sz="1150">
                <a:solidFill>
                  <a:srgbClr val="454A51"/>
                </a:solidFill>
                <a:latin typeface="MiSans"/>
                <a:ea typeface="MiSans"/>
              </a:rPr>
              <a:t> — nada se autoverifica; o verificador trabalha de contexto isolado.</a:t>
            </a:r>
            <a:endParaRPr lang="en-US" sz="1150"/>
          </a:p>
        </p:txBody>
      </p:sp>
      <p:sp>
        <p:nvSpPr>
          <p:cNvPr id="20" name="r3-n"/>
          <p:cNvSpPr txBox="1"/>
          <p:nvPr/>
        </p:nvSpPr>
        <p:spPr>
          <a:xfrm>
            <a:off x="711200" y="57150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BC5327"/>
                </a:solidFill>
                <a:latin typeface="MiSans"/>
                <a:ea typeface="MiSans"/>
              </a:rPr>
              <a:t>3</a:t>
            </a:r>
            <a:endParaRPr lang="en-US" sz="2000"/>
          </a:p>
        </p:txBody>
      </p:sp>
      <p:sp>
        <p:nvSpPr>
          <p:cNvPr id="21" name="r3"/>
          <p:cNvSpPr txBox="1"/>
          <p:nvPr/>
        </p:nvSpPr>
        <p:spPr>
          <a:xfrm>
            <a:off x="1117600" y="5715000"/>
            <a:ext cx="46736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5000"/>
              </a:lnSpc>
            </a:pPr>
            <a:r>
              <a:rPr lang="en-US" sz="1150" b="1">
                <a:solidFill>
                  <a:srgbClr val="454A51"/>
                </a:solidFill>
                <a:latin typeface="MiSans"/>
                <a:ea typeface="MiSans"/>
              </a:rPr>
              <a:t>Sem claims sem evidência</a:t>
            </a:r>
            <a:r>
              <a:rPr lang="en-US" sz="1150">
                <a:solidFill>
                  <a:srgbClr val="454A51"/>
                </a:solidFill>
                <a:latin typeface="MiSans"/>
                <a:ea typeface="MiSans"/>
              </a:rPr>
              <a:t> — mastery, paridade, benchmark e robustez exigem prova executável.</a:t>
            </a:r>
            <a:endParaRPr lang="en-US" sz="1150"/>
          </a:p>
        </p:txBody>
      </p:sp>
      <p:sp>
        <p:nvSpPr>
          <p:cNvPr id="22" name="r4-n"/>
          <p:cNvSpPr txBox="1"/>
          <p:nvPr/>
        </p:nvSpPr>
        <p:spPr>
          <a:xfrm>
            <a:off x="6400800" y="40386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BC5327"/>
                </a:solidFill>
                <a:latin typeface="MiSans"/>
                <a:ea typeface="MiSans"/>
              </a:rPr>
              <a:t>4</a:t>
            </a:r>
            <a:endParaRPr lang="en-US" sz="2000"/>
          </a:p>
        </p:txBody>
      </p:sp>
      <p:sp>
        <p:nvSpPr>
          <p:cNvPr id="23" name="r4"/>
          <p:cNvSpPr txBox="1"/>
          <p:nvPr/>
        </p:nvSpPr>
        <p:spPr>
          <a:xfrm>
            <a:off x="6807200" y="4038600"/>
            <a:ext cx="46736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5000"/>
              </a:lnSpc>
            </a:pPr>
            <a:r>
              <a:rPr lang="en-US" sz="1150" b="1">
                <a:solidFill>
                  <a:srgbClr val="454A51"/>
                </a:solidFill>
                <a:latin typeface="MiSans"/>
                <a:ea typeface="MiSans"/>
              </a:rPr>
              <a:t>O filesystem é a fonte da verdade</a:t>
            </a:r>
            <a:r>
              <a:rPr lang="en-US" sz="1150">
                <a:solidFill>
                  <a:srgbClr val="454A51"/>
                </a:solidFill>
                <a:latin typeface="MiSans"/>
                <a:ea typeface="MiSans"/>
              </a:rPr>
              <a:t> — estado auditável em Markdown / YAML / NDJSON; não há banco de dados.</a:t>
            </a:r>
            <a:endParaRPr lang="en-US" sz="1150"/>
          </a:p>
        </p:txBody>
      </p:sp>
      <p:sp>
        <p:nvSpPr>
          <p:cNvPr id="24" name="r5-n"/>
          <p:cNvSpPr txBox="1"/>
          <p:nvPr/>
        </p:nvSpPr>
        <p:spPr>
          <a:xfrm>
            <a:off x="6400800" y="48768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t"/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BC5327"/>
                </a:solidFill>
                <a:latin typeface="MiSans"/>
                <a:ea typeface="MiSans"/>
              </a:rPr>
              <a:t>5</a:t>
            </a:r>
            <a:endParaRPr lang="en-US" sz="2000"/>
          </a:p>
        </p:txBody>
      </p:sp>
      <p:sp>
        <p:nvSpPr>
          <p:cNvPr id="25" name="r5"/>
          <p:cNvSpPr txBox="1"/>
          <p:nvPr/>
        </p:nvSpPr>
        <p:spPr>
          <a:xfrm>
            <a:off x="6807200" y="4876800"/>
            <a:ext cx="46736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5000"/>
              </a:lnSpc>
            </a:pPr>
            <a:r>
              <a:rPr lang="en-US" sz="1150" b="1">
                <a:solidFill>
                  <a:srgbClr val="454A51"/>
                </a:solidFill>
                <a:latin typeface="MiSans"/>
                <a:ea typeface="MiSans"/>
              </a:rPr>
              <a:t>Simplificar antes de commitar</a:t>
            </a:r>
            <a:r>
              <a:rPr lang="en-US" sz="1150">
                <a:solidFill>
                  <a:srgbClr val="454A51"/>
                </a:solidFill>
                <a:latin typeface="MiSans"/>
                <a:ea typeface="MiSans"/>
              </a:rPr>
              <a:t> — rodar </a:t>
            </a:r>
            <a:r>
              <a:rPr lang="en-US" sz="1150">
                <a:solidFill>
                  <a:srgbClr val="96401E"/>
                </a:solidFill>
                <a:latin typeface="MiSans"/>
                <a:ea typeface="MiSans"/>
              </a:rPr>
              <a:t>/simplify</a:t>
            </a:r>
            <a:r>
              <a:rPr lang="en-US" sz="1150">
                <a:solidFill>
                  <a:srgbClr val="454A51"/>
                </a:solidFill>
                <a:latin typeface="MiSans"/>
                <a:ea typeface="MiSans"/>
              </a:rPr>
              <a:t> no diff, aplicar, só então commitar.</a:t>
            </a:r>
            <a:endParaRPr lang="en-US" sz="1150"/>
          </a:p>
        </p:txBody>
      </p:sp>
      <p:sp>
        <p:nvSpPr>
          <p:cNvPr id="26" name="footer-lin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E3E6EA"/>
          </a:solidFill>
          <a:ln>
            <a:noFill/>
          </a:ln>
        </p:spPr>
      </p:sp>
      <p:sp>
        <p:nvSpPr>
          <p:cNvPr id="27" name="footer-left"/>
          <p:cNvSpPr txBox="1"/>
          <p:nvPr/>
        </p:nvSpPr>
        <p:spPr>
          <a:xfrm>
            <a:off x="711200" y="6553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35000"/>
              </a:lnSpc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AI DEVSCHOOL — COMO FUNCIONA</a:t>
            </a:r>
            <a:endParaRPr lang="en-US" sz="900"/>
          </a:p>
        </p:txBody>
      </p:sp>
      <p:sp>
        <p:nvSpPr>
          <p:cNvPr id="28" name="footer-page"/>
          <p:cNvSpPr txBox="1"/>
          <p:nvPr/>
        </p:nvSpPr>
        <p:spPr>
          <a:xfrm>
            <a:off x="10414000" y="6553200"/>
            <a:ext cx="106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35000"/>
              </a:lnSpc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03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 b="1" spc="250" kern="0">
                <a:solidFill>
                  <a:srgbClr val="BC5327"/>
                </a:solidFill>
                <a:latin typeface="MiSans"/>
                <a:ea typeface="MiSans"/>
              </a:rPr>
              <a:t>03 · A REGRA-MESTRA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11200" y="7112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15000"/>
              </a:lnSpc>
            </a:pPr>
            <a:r>
              <a:rPr lang="en-US" sz="2600" b="1">
                <a:solidFill>
                  <a:srgbClr val="1B1E23"/>
                </a:solidFill>
                <a:latin typeface="MiSans"/>
                <a:ea typeface="MiSans"/>
              </a:rPr>
              <a:t>A certeza de conclusão nunca vive no modelo de linguagem</a:t>
            </a:r>
            <a:endParaRPr lang="en-US" sz="2600"/>
          </a:p>
        </p:txBody>
      </p:sp>
      <p:sp>
        <p:nvSpPr>
          <p:cNvPr id="4" name="title-rule"/>
          <p:cNvSpPr/>
          <p:nvPr/>
        </p:nvSpPr>
        <p:spPr>
          <a:xfrm>
            <a:off x="711200" y="1295400"/>
            <a:ext cx="711200" cy="38100"/>
          </a:xfrm>
          <a:prstGeom prst="rect">
            <a:avLst/>
          </a:prstGeom>
          <a:solidFill>
            <a:srgbClr val="BC5327"/>
          </a:solidFill>
          <a:ln>
            <a:noFill/>
          </a:ln>
        </p:spPr>
      </p:sp>
      <p:sp>
        <p:nvSpPr>
          <p:cNvPr id="5" name="rule-quote"/>
          <p:cNvSpPr txBox="1"/>
          <p:nvPr/>
        </p:nvSpPr>
        <p:spPr>
          <a:xfrm>
            <a:off x="711200" y="14986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rgbClr val="454A51"/>
                </a:solidFill>
                <a:latin typeface="MiSans"/>
                <a:ea typeface="MiSans"/>
              </a:rPr>
              <a:t>Uma unidade só vira </a:t>
            </a:r>
            <a:r>
              <a:rPr lang="en-US" sz="1250" b="1">
                <a:solidFill>
                  <a:srgbClr val="454A51"/>
                </a:solidFill>
                <a:latin typeface="MiSans"/>
                <a:ea typeface="MiSans"/>
              </a:rPr>
              <a:t>dominado</a:t>
            </a:r>
            <a:r>
              <a:rPr lang="en-US" sz="1250">
                <a:solidFill>
                  <a:srgbClr val="454A51"/>
                </a:solidFill>
                <a:latin typeface="MiSans"/>
                <a:ea typeface="MiSans"/>
              </a:rPr>
              <a:t> quando (1) o aprendiz </a:t>
            </a:r>
            <a:r>
              <a:rPr lang="en-US" sz="1250" b="1">
                <a:solidFill>
                  <a:srgbClr val="454A51"/>
                </a:solidFill>
                <a:latin typeface="MiSans"/>
                <a:ea typeface="MiSans"/>
              </a:rPr>
              <a:t>tenta</a:t>
            </a:r>
            <a:r>
              <a:rPr lang="en-US" sz="1250">
                <a:solidFill>
                  <a:srgbClr val="454A51"/>
                </a:solidFill>
                <a:latin typeface="MiSans"/>
                <a:ea typeface="MiSans"/>
              </a:rPr>
              <a:t> e (2) um </a:t>
            </a:r>
            <a:r>
              <a:rPr lang="en-US" sz="1250" b="1">
                <a:solidFill>
                  <a:srgbClr val="454A51"/>
                </a:solidFill>
                <a:latin typeface="MiSans"/>
                <a:ea typeface="MiSans"/>
              </a:rPr>
              <a:t>verificador separado</a:t>
            </a:r>
            <a:r>
              <a:rPr lang="en-US" sz="1250">
                <a:solidFill>
                  <a:srgbClr val="454A51"/>
                </a:solidFill>
                <a:latin typeface="MiSans"/>
                <a:ea typeface="MiSans"/>
              </a:rPr>
              <a:t>, partindo do zero, produz </a:t>
            </a:r>
            <a:r>
              <a:rPr lang="en-US" sz="1250" b="1">
                <a:solidFill>
                  <a:srgbClr val="454A51"/>
                </a:solidFill>
                <a:latin typeface="MiSans"/>
                <a:ea typeface="MiSans"/>
              </a:rPr>
              <a:t>evidência executável</a:t>
            </a:r>
            <a:r>
              <a:rPr lang="en-US" sz="1250">
                <a:solidFill>
                  <a:srgbClr val="454A51"/>
                </a:solidFill>
                <a:latin typeface="MiSans"/>
                <a:ea typeface="MiSans"/>
              </a:rPr>
              <a:t>. Nenhuma explicação, review ou código entregue encurta esse caminho.</a:t>
            </a:r>
            <a:endParaRPr lang="en-US" sz="1250"/>
          </a:p>
        </p:txBody>
      </p:sp>
      <p:sp>
        <p:nvSpPr>
          <p:cNvPr id="6" name="st1"/>
          <p:cNvSpPr/>
          <p:nvPr/>
        </p:nvSpPr>
        <p:spPr>
          <a:xfrm>
            <a:off x="711200" y="2413000"/>
            <a:ext cx="1905000" cy="711200"/>
          </a:xfrm>
          <a:prstGeom prst="rect">
            <a:avLst/>
          </a:prstGeom>
          <a:solidFill>
            <a:srgbClr val="EDF1F5"/>
          </a:solidFill>
          <a:ln w="12700">
            <a:solidFill>
              <a:srgbClr val="33506B"/>
            </a:solidFill>
          </a:ln>
        </p:spPr>
      </p:sp>
      <p:sp>
        <p:nvSpPr>
          <p:cNvPr id="7" name="st1-t"/>
          <p:cNvSpPr txBox="1"/>
          <p:nvPr/>
        </p:nvSpPr>
        <p:spPr>
          <a:xfrm>
            <a:off x="711200" y="2413000"/>
            <a:ext cx="1905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20000"/>
              </a:lnSpc>
            </a:pPr>
            <a:r>
              <a:rPr lang="en-US" sz="1250" b="1">
                <a:solidFill>
                  <a:srgbClr val="24405A"/>
                </a:solidFill>
                <a:latin typeface="MiSans"/>
                <a:ea typeface="MiSans"/>
              </a:rPr>
              <a:t>apresentando</a:t>
            </a:r>
            <a:endParaRPr lang="en-US" sz="1600"/>
          </a:p>
          <a:p>
            <a:pPr algn="ctr">
              <a:lnSpc>
                <a:spcPct val="120000"/>
              </a:lnSpc>
            </a:pPr>
            <a:r>
              <a:rPr lang="en-US" sz="850">
                <a:solidFill>
                  <a:srgbClr val="8B9199"/>
                </a:solidFill>
                <a:latin typeface="MiSans"/>
                <a:ea typeface="MiSans"/>
              </a:rPr>
              <a:t>Sonda apresenta o diagnóstico</a:t>
            </a:r>
            <a:endParaRPr lang="en-US" sz="1600"/>
          </a:p>
        </p:txBody>
      </p:sp>
      <p:sp>
        <p:nvSpPr>
          <p:cNvPr id="8" name="sa1"/>
          <p:cNvSpPr/>
          <p:nvPr>
            <p:extLst>
              <p:ext uri="{F5677B7D-0D2A-4D9B-9A5C-6D8D7D0E5A5D}">
                <pptd:line encoding="base64url">eyJjdXJ2ZSI6InJvdW5kIiwicG9pbnRzIjoiMCw2IDM0LDYiLCJ2aWV3Qm94IjpbMzQsMTJdfQ</pptd:line>
              </p:ext>
            </p:extLst>
          </p:nvPr>
        </p:nvSpPr>
        <p:spPr>
          <a:xfrm>
            <a:off x="2616200" y="2692400"/>
            <a:ext cx="431800" cy="152400"/>
          </a:xfrm>
          <a:custGeom>
            <a:avLst/>
            <a:gdLst/>
            <a:ahLst/>
            <a:cxnLst/>
            <a:rect l="l" t="t" r="r" b="b"/>
            <a:pathLst>
              <a:path w="34" h="12">
                <a:moveTo>
                  <a:pt x="0" y="6"/>
                </a:moveTo>
                <a:lnTo>
                  <a:pt x="34" y="6"/>
                </a:lnTo>
              </a:path>
            </a:pathLst>
          </a:custGeom>
          <a:noFill/>
          <a:ln w="25400" cap="rnd">
            <a:solidFill>
              <a:srgbClr val="8B9199"/>
            </a:solidFill>
            <a:round/>
            <a:tailEnd type="stealth"/>
          </a:ln>
        </p:spPr>
      </p:sp>
      <p:sp>
        <p:nvSpPr>
          <p:cNvPr id="9" name="st2"/>
          <p:cNvSpPr/>
          <p:nvPr/>
        </p:nvSpPr>
        <p:spPr>
          <a:xfrm>
            <a:off x="3048000" y="2413000"/>
            <a:ext cx="1905000" cy="711200"/>
          </a:xfrm>
          <a:prstGeom prst="rect">
            <a:avLst/>
          </a:prstGeom>
          <a:solidFill>
            <a:srgbClr val="EDF1F5"/>
          </a:solidFill>
          <a:ln w="12700">
            <a:solidFill>
              <a:srgbClr val="33506B"/>
            </a:solidFill>
          </a:ln>
        </p:spPr>
      </p:sp>
      <p:sp>
        <p:nvSpPr>
          <p:cNvPr id="10" name="st2-t"/>
          <p:cNvSpPr txBox="1"/>
          <p:nvPr/>
        </p:nvSpPr>
        <p:spPr>
          <a:xfrm>
            <a:off x="3048000" y="2413000"/>
            <a:ext cx="1905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20000"/>
              </a:lnSpc>
            </a:pPr>
            <a:r>
              <a:rPr lang="en-US" sz="1250" b="1">
                <a:solidFill>
                  <a:srgbClr val="24405A"/>
                </a:solidFill>
                <a:latin typeface="MiSans"/>
                <a:ea typeface="MiSans"/>
              </a:rPr>
              <a:t>praticando</a:t>
            </a:r>
            <a:endParaRPr lang="en-US" sz="1600"/>
          </a:p>
          <a:p>
            <a:pPr algn="ctr">
              <a:lnSpc>
                <a:spcPct val="120000"/>
              </a:lnSpc>
            </a:pPr>
            <a:r>
              <a:rPr lang="en-US" sz="850">
                <a:solidFill>
                  <a:srgbClr val="8B9199"/>
                </a:solidFill>
                <a:latin typeface="MiSans"/>
                <a:ea typeface="MiSans"/>
              </a:rPr>
              <a:t>aprendiz escreve a tentativa</a:t>
            </a:r>
            <a:endParaRPr lang="en-US" sz="1600"/>
          </a:p>
        </p:txBody>
      </p:sp>
      <p:sp>
        <p:nvSpPr>
          <p:cNvPr id="11" name="sa2"/>
          <p:cNvSpPr/>
          <p:nvPr>
            <p:extLst>
              <p:ext uri="{F5677B7D-0D2A-4D9B-9A5C-6D8D7D0E5A5D}">
                <pptd:line encoding="base64url">eyJjdXJ2ZSI6InJvdW5kIiwicG9pbnRzIjoiMCw2IDM0LDYiLCJ2aWV3Qm94IjpbMzQsMTJdfQ</pptd:line>
              </p:ext>
            </p:extLst>
          </p:nvPr>
        </p:nvSpPr>
        <p:spPr>
          <a:xfrm>
            <a:off x="4953000" y="2692400"/>
            <a:ext cx="431800" cy="152400"/>
          </a:xfrm>
          <a:custGeom>
            <a:avLst/>
            <a:gdLst/>
            <a:ahLst/>
            <a:cxnLst/>
            <a:rect l="l" t="t" r="r" b="b"/>
            <a:pathLst>
              <a:path w="34" h="12">
                <a:moveTo>
                  <a:pt x="0" y="6"/>
                </a:moveTo>
                <a:lnTo>
                  <a:pt x="34" y="6"/>
                </a:lnTo>
              </a:path>
            </a:pathLst>
          </a:custGeom>
          <a:noFill/>
          <a:ln w="25400" cap="rnd">
            <a:solidFill>
              <a:srgbClr val="8B9199"/>
            </a:solidFill>
            <a:round/>
            <a:tailEnd type="stealth"/>
          </a:ln>
        </p:spPr>
      </p:sp>
      <p:sp>
        <p:nvSpPr>
          <p:cNvPr id="12" name="st3"/>
          <p:cNvSpPr/>
          <p:nvPr/>
        </p:nvSpPr>
        <p:spPr>
          <a:xfrm>
            <a:off x="5384800" y="2413000"/>
            <a:ext cx="1905000" cy="711200"/>
          </a:xfrm>
          <a:prstGeom prst="rect">
            <a:avLst/>
          </a:prstGeom>
          <a:solidFill>
            <a:srgbClr val="F8EAE1"/>
          </a:solidFill>
          <a:ln w="19050">
            <a:solidFill>
              <a:srgbClr val="BC5327"/>
            </a:solidFill>
          </a:ln>
        </p:spPr>
      </p:sp>
      <p:sp>
        <p:nvSpPr>
          <p:cNvPr id="13" name="st3-t"/>
          <p:cNvSpPr txBox="1"/>
          <p:nvPr/>
        </p:nvSpPr>
        <p:spPr>
          <a:xfrm>
            <a:off x="5384800" y="2413000"/>
            <a:ext cx="1905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20000"/>
              </a:lnSpc>
            </a:pPr>
            <a:r>
              <a:rPr lang="en-US" sz="1250" b="1">
                <a:solidFill>
                  <a:srgbClr val="96401E"/>
                </a:solidFill>
                <a:latin typeface="MiSans"/>
                <a:ea typeface="MiSans"/>
              </a:rPr>
              <a:t>avaliando</a:t>
            </a:r>
            <a:endParaRPr lang="en-US" sz="1600"/>
          </a:p>
          <a:p>
            <a:pPr algn="ctr">
              <a:lnSpc>
                <a:spcPct val="120000"/>
              </a:lnSpc>
            </a:pPr>
            <a:r>
              <a:rPr lang="en-US" sz="850">
                <a:solidFill>
                  <a:srgbClr val="96401E"/>
                </a:solidFill>
                <a:latin typeface="MiSans"/>
                <a:ea typeface="MiSans"/>
              </a:rPr>
              <a:t>gate desbloqueado → missão no jogo</a:t>
            </a:r>
            <a:endParaRPr lang="en-US" sz="1600"/>
          </a:p>
        </p:txBody>
      </p:sp>
      <p:sp>
        <p:nvSpPr>
          <p:cNvPr id="14" name="gate-box"/>
          <p:cNvSpPr/>
          <p:nvPr/>
        </p:nvSpPr>
        <p:spPr>
          <a:xfrm>
            <a:off x="7569200" y="2209800"/>
            <a:ext cx="1727200" cy="1117600"/>
          </a:xfrm>
          <a:prstGeom prst="rect">
            <a:avLst/>
          </a:prstGeom>
          <a:solidFill>
            <a:srgbClr val="1B1E23"/>
          </a:solidFill>
          <a:ln>
            <a:noFill/>
          </a:ln>
        </p:spPr>
      </p:sp>
      <p:sp>
        <p:nvSpPr>
          <p:cNvPr id="15" name="gate-t"/>
          <p:cNvSpPr txBox="1"/>
          <p:nvPr/>
        </p:nvSpPr>
        <p:spPr>
          <a:xfrm>
            <a:off x="7670800" y="2286000"/>
            <a:ext cx="15240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20000"/>
              </a:lnSpc>
            </a:pPr>
            <a:r>
              <a:rPr lang="en-US" sz="950" b="1">
                <a:solidFill>
                  <a:srgbClr val="F2B794"/>
                </a:solidFill>
                <a:latin typeface="MiSans"/>
                <a:ea typeface="MiSans"/>
              </a:rPr>
              <a:t>GATE EXECUTÁVEL</a:t>
            </a:r>
            <a:endParaRPr lang="en-US" sz="1600"/>
          </a:p>
          <a:p>
            <a:pPr algn="ctr">
              <a:lnSpc>
                <a:spcPct val="120000"/>
              </a:lnSpc>
              <a:spcBef>
                <a:spcPts val="400"/>
              </a:spcBef>
            </a:pPr>
            <a:r>
              <a:rPr lang="en-US" sz="750">
                <a:solidFill>
                  <a:srgbClr val="D8DDE3"/>
                </a:solidFill>
                <a:latin typeface="MiSans"/>
                <a:ea typeface="MiSans"/>
              </a:rPr>
              <a:t>verificador isolado: suíte verde · mutation ≥ 0,65 · cobertura ≥ 0,80</a:t>
            </a:r>
            <a:endParaRPr lang="en-US" sz="1600"/>
          </a:p>
        </p:txBody>
      </p:sp>
      <p:sp>
        <p:nvSpPr>
          <p:cNvPr id="16" name="sa3"/>
          <p:cNvSpPr/>
          <p:nvPr>
            <p:extLst>
              <p:ext uri="{F5677B7D-0D2A-4D9B-9A5C-6D8D7D0E5A5D}">
                <pptd:line encoding="base64url">eyJjdXJ2ZSI6InJvdW5kIiwicG9pbnRzIjoiMCw2IDI0LDYiLCJ2aWV3Qm94IjpbMjQsMTJdfQ</pptd:line>
              </p:ext>
            </p:extLst>
          </p:nvPr>
        </p:nvSpPr>
        <p:spPr>
          <a:xfrm>
            <a:off x="7289800" y="2692400"/>
            <a:ext cx="304800" cy="152400"/>
          </a:xfrm>
          <a:custGeom>
            <a:avLst/>
            <a:gdLst/>
            <a:ahLst/>
            <a:cxnLst/>
            <a:rect l="l" t="t" r="r" b="b"/>
            <a:pathLst>
              <a:path w="24" h="12">
                <a:moveTo>
                  <a:pt x="0" y="6"/>
                </a:moveTo>
                <a:lnTo>
                  <a:pt x="24" y="6"/>
                </a:lnTo>
              </a:path>
            </a:pathLst>
          </a:custGeom>
          <a:noFill/>
          <a:ln w="25400" cap="rnd">
            <a:solidFill>
              <a:srgbClr val="BC5327"/>
            </a:solidFill>
            <a:round/>
            <a:tailEnd type="stealth"/>
          </a:ln>
        </p:spPr>
      </p:sp>
      <p:sp>
        <p:nvSpPr>
          <p:cNvPr id="17" name="st4"/>
          <p:cNvSpPr/>
          <p:nvPr/>
        </p:nvSpPr>
        <p:spPr>
          <a:xfrm>
            <a:off x="9550400" y="2413000"/>
            <a:ext cx="1930400" cy="711200"/>
          </a:xfrm>
          <a:prstGeom prst="rect">
            <a:avLst/>
          </a:prstGeom>
          <a:solidFill>
            <a:srgbClr val="E9F3EC"/>
          </a:solidFill>
          <a:ln w="19050">
            <a:solidFill>
              <a:srgbClr val="2F7D4F"/>
            </a:solidFill>
          </a:ln>
        </p:spPr>
      </p:sp>
      <p:sp>
        <p:nvSpPr>
          <p:cNvPr id="18" name="st4-t"/>
          <p:cNvSpPr txBox="1"/>
          <p:nvPr/>
        </p:nvSpPr>
        <p:spPr>
          <a:xfrm>
            <a:off x="9550400" y="2413000"/>
            <a:ext cx="19304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20000"/>
              </a:lnSpc>
            </a:pPr>
            <a:r>
              <a:rPr lang="en-US" sz="1250" b="1">
                <a:solidFill>
                  <a:srgbClr val="2F7D4F"/>
                </a:solidFill>
                <a:latin typeface="MiSans"/>
                <a:ea typeface="MiSans"/>
              </a:rPr>
              <a:t>dominado</a:t>
            </a:r>
            <a:endParaRPr lang="en-US" sz="1600"/>
          </a:p>
          <a:p>
            <a:pPr algn="ctr">
              <a:lnSpc>
                <a:spcPct val="120000"/>
              </a:lnSpc>
            </a:pPr>
            <a:r>
              <a:rPr lang="en-US" sz="850">
                <a:solidFill>
                  <a:srgbClr val="8B9199"/>
                </a:solidFill>
                <a:latin typeface="MiSans"/>
                <a:ea typeface="MiSans"/>
              </a:rPr>
              <a:t>PASS auditado + recibo c/ digest</a:t>
            </a:r>
            <a:endParaRPr lang="en-US" sz="1600"/>
          </a:p>
        </p:txBody>
      </p:sp>
      <p:sp>
        <p:nvSpPr>
          <p:cNvPr id="19" name="sa4"/>
          <p:cNvSpPr/>
          <p:nvPr>
            <p:extLst>
              <p:ext uri="{F5677B7D-0D2A-4D9B-9A5C-6D8D7D0E5A5D}">
                <pptd:line encoding="base64url">eyJjdXJ2ZSI6InJvdW5kIiwicG9pbnRzIjoiMCw2IDI0LDYiLCJ2aWV3Qm94IjpbMjQsMTJdfQ</pptd:line>
              </p:ext>
            </p:extLst>
          </p:nvPr>
        </p:nvSpPr>
        <p:spPr>
          <a:xfrm>
            <a:off x="9245600" y="2692400"/>
            <a:ext cx="304800" cy="152400"/>
          </a:xfrm>
          <a:custGeom>
            <a:avLst/>
            <a:gdLst/>
            <a:ahLst/>
            <a:cxnLst/>
            <a:rect l="l" t="t" r="r" b="b"/>
            <a:pathLst>
              <a:path w="24" h="12">
                <a:moveTo>
                  <a:pt x="0" y="6"/>
                </a:moveTo>
                <a:lnTo>
                  <a:pt x="24" y="6"/>
                </a:lnTo>
              </a:path>
            </a:pathLst>
          </a:custGeom>
          <a:noFill/>
          <a:ln w="25400" cap="rnd">
            <a:solidFill>
              <a:srgbClr val="2F7D4F"/>
            </a:solidFill>
            <a:round/>
            <a:tailEnd type="stealth"/>
          </a:ln>
        </p:spPr>
      </p:sp>
      <p:sp>
        <p:nvSpPr>
          <p:cNvPr id="20" name="fail-line"/>
          <p:cNvSpPr/>
          <p:nvPr>
            <p:extLst>
              <p:ext uri="{F5677B7D-0D2A-4D9B-9A5C-6D8D7D0E5A5D}">
                <pptd:line encoding="base64url">eyJjdXJ2ZSI6InNoYXJwIiwicG9pbnRzIjoiMzY4LDAgMzY4LDIyIDAsMjIgMCw0MiIsInZpZXdCb3giOlszNjgsNDRdfQ</pptd:line>
              </p:ext>
            </p:extLst>
          </p:nvPr>
        </p:nvSpPr>
        <p:spPr>
          <a:xfrm>
            <a:off x="1663700" y="3124200"/>
            <a:ext cx="4673600" cy="558800"/>
          </a:xfrm>
          <a:custGeom>
            <a:avLst/>
            <a:gdLst/>
            <a:ahLst/>
            <a:cxnLst/>
            <a:rect l="l" t="t" r="r" b="b"/>
            <a:pathLst>
              <a:path w="368" h="44">
                <a:moveTo>
                  <a:pt x="368" y="0"/>
                </a:moveTo>
                <a:lnTo>
                  <a:pt x="368" y="22"/>
                </a:lnTo>
                <a:lnTo>
                  <a:pt x="0" y="22"/>
                </a:lnTo>
                <a:lnTo>
                  <a:pt x="0" y="42"/>
                </a:lnTo>
              </a:path>
            </a:pathLst>
          </a:custGeom>
          <a:noFill/>
          <a:ln w="19050">
            <a:solidFill>
              <a:srgbClr val="B4443C"/>
            </a:solidFill>
            <a:prstDash val="dash"/>
            <a:tailEnd type="stealth"/>
          </a:ln>
        </p:spPr>
      </p:sp>
      <p:sp>
        <p:nvSpPr>
          <p:cNvPr id="21" name="fail-label"/>
          <p:cNvSpPr txBox="1"/>
          <p:nvPr/>
        </p:nvSpPr>
        <p:spPr>
          <a:xfrm>
            <a:off x="1905000" y="35052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950">
                <a:solidFill>
                  <a:srgbClr val="B4443C"/>
                </a:solidFill>
                <a:latin typeface="MiSans"/>
                <a:ea typeface="MiSans"/>
              </a:rPr>
              <a:t>FAIL → variação e volta a apresentando (retry_count += 1)</a:t>
            </a:r>
            <a:endParaRPr lang="en-US" sz="950"/>
          </a:p>
        </p:txBody>
      </p:sp>
      <p:sp>
        <p:nvSpPr>
          <p:cNvPr id="22" name="block-box"/>
          <p:cNvSpPr/>
          <p:nvPr/>
        </p:nvSpPr>
        <p:spPr>
          <a:xfrm>
            <a:off x="7112000" y="3657600"/>
            <a:ext cx="2413000" cy="711200"/>
          </a:xfrm>
          <a:prstGeom prst="rect">
            <a:avLst/>
          </a:prstGeom>
          <a:solidFill>
            <a:srgbClr val="F9ECEA"/>
          </a:solidFill>
          <a:ln w="12700">
            <a:solidFill>
              <a:srgbClr val="B4443C"/>
            </a:solidFill>
          </a:ln>
        </p:spPr>
      </p:sp>
      <p:sp>
        <p:nvSpPr>
          <p:cNvPr id="23" name="block-t"/>
          <p:cNvSpPr txBox="1"/>
          <p:nvPr/>
        </p:nvSpPr>
        <p:spPr>
          <a:xfrm>
            <a:off x="7213600" y="3708400"/>
            <a:ext cx="22098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20000"/>
              </a:lnSpc>
            </a:pPr>
            <a:r>
              <a:rPr lang="en-US" sz="1000" b="1">
                <a:solidFill>
                  <a:srgbClr val="B4443C"/>
                </a:solidFill>
                <a:latin typeface="MiSans"/>
                <a:ea typeface="MiSans"/>
              </a:rPr>
              <a:t>FALHA_BLOQUEIO</a:t>
            </a:r>
            <a:endParaRPr lang="en-US" sz="1600"/>
          </a:p>
          <a:p>
            <a:pPr algn="ctr">
              <a:lnSpc>
                <a:spcPct val="120000"/>
              </a:lnSpc>
            </a:pPr>
            <a:r>
              <a:rPr lang="en-US" sz="750">
                <a:solidFill>
                  <a:srgbClr val="B4443C"/>
                </a:solidFill>
                <a:latin typeface="MiSans"/>
                <a:ea typeface="MiSans"/>
              </a:rPr>
              <a:t>após 3 retries → escala Sêneca (SLA 24h)</a:t>
            </a:r>
            <a:endParaRPr lang="en-US" sz="1600"/>
          </a:p>
        </p:txBody>
      </p:sp>
      <p:sp>
        <p:nvSpPr>
          <p:cNvPr id="24" name="block-arrow"/>
          <p:cNvSpPr/>
          <p:nvPr>
            <p:extLst>
              <p:ext uri="{F5677B7D-0D2A-4D9B-9A5C-6D8D7D0E5A5D}">
                <pptd:line encoding="base64url">eyJjdXJ2ZSI6InNoYXJwIiwicG9pbnRzIjoiMCwwIDMyLDI4Iiwidmlld0JveCI6WzMyLDI4XX0</pptd:line>
              </p:ext>
            </p:extLst>
          </p:nvPr>
        </p:nvSpPr>
        <p:spPr>
          <a:xfrm>
            <a:off x="8432800" y="3302000"/>
            <a:ext cx="406400" cy="355600"/>
          </a:xfrm>
          <a:custGeom>
            <a:avLst/>
            <a:gdLst/>
            <a:ahLst/>
            <a:cxnLst/>
            <a:rect l="l" t="t" r="r" b="b"/>
            <a:pathLst>
              <a:path w="32" h="28">
                <a:moveTo>
                  <a:pt x="0" y="0"/>
                </a:moveTo>
                <a:lnTo>
                  <a:pt x="32" y="28"/>
                </a:lnTo>
              </a:path>
            </a:pathLst>
          </a:custGeom>
          <a:noFill/>
          <a:ln w="19050">
            <a:solidFill>
              <a:srgbClr val="B4443C"/>
            </a:solidFill>
            <a:prstDash val="dash"/>
            <a:tailEnd type="stealth"/>
          </a:ln>
        </p:spPr>
      </p:sp>
      <p:sp>
        <p:nvSpPr>
          <p:cNvPr id="25" name="notes-head"/>
          <p:cNvSpPr txBox="1"/>
          <p:nvPr/>
        </p:nvSpPr>
        <p:spPr>
          <a:xfrm>
            <a:off x="711200" y="4521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 b="1" spc="150" kern="0">
                <a:solidFill>
                  <a:srgbClr val="1B1E23"/>
                </a:solidFill>
                <a:latin typeface="MiSans"/>
                <a:ea typeface="MiSans"/>
              </a:rPr>
              <a:t>O QUE O GATE IMPÕE NA PRÁTICA</a:t>
            </a:r>
            <a:endParaRPr lang="en-US" sz="1100"/>
          </a:p>
        </p:txBody>
      </p:sp>
      <p:sp>
        <p:nvSpPr>
          <p:cNvPr id="26" name="notes-rule"/>
          <p:cNvSpPr/>
          <p:nvPr>
            <p:extLst>
              <p:ext uri="{F5677B7D-0D2A-4D9B-9A5C-6D8D7D0E5A5D}">
                <pptd:line encoding="base64url">eyJjdXJ2ZSI6InJvdW5kIiwicG9pbnRzIjoiMCwxIDg0OCwxIiwidmlld0JveCI6Wzg0OCwyXX0</pptd:line>
              </p:ext>
            </p:extLst>
          </p:nvPr>
        </p:nvSpPr>
        <p:spPr>
          <a:xfrm>
            <a:off x="711200" y="4775200"/>
            <a:ext cx="10769600" cy="25400"/>
          </a:xfrm>
          <a:custGeom>
            <a:avLst/>
            <a:gdLst/>
            <a:ahLst/>
            <a:cxnLst/>
            <a:rect l="l" t="t" r="r" b="b"/>
            <a:pathLst>
              <a:path w="848" h="2">
                <a:moveTo>
                  <a:pt x="0" y="1"/>
                </a:moveTo>
                <a:lnTo>
                  <a:pt x="848" y="1"/>
                </a:lnTo>
              </a:path>
            </a:pathLst>
          </a:custGeom>
          <a:noFill/>
          <a:ln w="12700" cap="rnd">
            <a:solidFill>
              <a:srgbClr val="E3E6EA"/>
            </a:solidFill>
            <a:round/>
          </a:ln>
        </p:spPr>
      </p:sp>
      <p:sp>
        <p:nvSpPr>
          <p:cNvPr id="27" name="note1"/>
          <p:cNvSpPr txBox="1"/>
          <p:nvPr/>
        </p:nvSpPr>
        <p:spPr>
          <a:xfrm>
            <a:off x="711200" y="4927600"/>
            <a:ext cx="34544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5000"/>
              </a:lnSpc>
            </a:pPr>
            <a:r>
              <a:rPr lang="en-US" sz="1100" b="1">
                <a:solidFill>
                  <a:srgbClr val="454A51"/>
                </a:solidFill>
                <a:latin typeface="MiSans"/>
                <a:ea typeface="MiSans"/>
              </a:rPr>
              <a:t>IA bloqueada até a tentativa.</a:t>
            </a:r>
            <a:r>
              <a:rPr lang="en-US" sz="1100">
                <a:solidFill>
                  <a:srgbClr val="454A51"/>
                </a:solidFill>
                <a:latin typeface="MiSans"/>
                <a:ea typeface="MiSans"/>
              </a:rPr>
              <a:t> Enquanto </a:t>
            </a:r>
            <a:r>
              <a:rPr lang="en-US" sz="1100">
                <a:solidFill>
                  <a:srgbClr val="96401E"/>
                </a:solidFill>
                <a:latin typeface="MiSans"/>
                <a:ea typeface="MiSans"/>
              </a:rPr>
              <a:t>gate.implementation_blocked: true</a:t>
            </a:r>
            <a:r>
              <a:rPr lang="en-US" sz="1100">
                <a:solidFill>
                  <a:srgbClr val="454A51"/>
                </a:solidFill>
                <a:latin typeface="MiSans"/>
                <a:ea typeface="MiSans"/>
              </a:rPr>
              <a:t>, nenhum agente implementa a unidade — productive struggle primeiro.</a:t>
            </a:r>
            <a:endParaRPr lang="en-US" sz="1100"/>
          </a:p>
        </p:txBody>
      </p:sp>
      <p:sp>
        <p:nvSpPr>
          <p:cNvPr id="28" name="note2"/>
          <p:cNvSpPr txBox="1"/>
          <p:nvPr/>
        </p:nvSpPr>
        <p:spPr>
          <a:xfrm>
            <a:off x="4368800" y="4927600"/>
            <a:ext cx="34544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5000"/>
              </a:lnSpc>
            </a:pPr>
            <a:r>
              <a:rPr lang="en-US" sz="1100" b="1">
                <a:solidFill>
                  <a:srgbClr val="454A51"/>
                </a:solidFill>
                <a:latin typeface="MiSans"/>
                <a:ea typeface="MiSans"/>
              </a:rPr>
              <a:t>Diagnóstico nunca basta.</a:t>
            </a:r>
            <a:r>
              <a:rPr lang="en-US" sz="1100">
                <a:solidFill>
                  <a:srgbClr val="454A51"/>
                </a:solidFill>
                <a:latin typeface="MiSans"/>
                <a:ea typeface="MiSans"/>
              </a:rPr>
              <a:t> A tentativa avaliada só desbloqueia a implementação; </a:t>
            </a:r>
            <a:r>
              <a:rPr lang="en-US" sz="1100">
                <a:solidFill>
                  <a:srgbClr val="96401E"/>
                </a:solidFill>
                <a:latin typeface="MiSans"/>
                <a:ea typeface="MiSans"/>
              </a:rPr>
              <a:t>mastered</a:t>
            </a:r>
            <a:r>
              <a:rPr lang="en-US" sz="1100">
                <a:solidFill>
                  <a:srgbClr val="454A51"/>
                </a:solidFill>
                <a:latin typeface="MiSans"/>
                <a:ea typeface="MiSans"/>
              </a:rPr>
              <a:t> exige evidência de verificador independente.</a:t>
            </a:r>
            <a:endParaRPr lang="en-US" sz="1100"/>
          </a:p>
        </p:txBody>
      </p:sp>
      <p:sp>
        <p:nvSpPr>
          <p:cNvPr id="29" name="note3"/>
          <p:cNvSpPr txBox="1"/>
          <p:nvPr/>
        </p:nvSpPr>
        <p:spPr>
          <a:xfrm>
            <a:off x="8026400" y="4927600"/>
            <a:ext cx="34544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5000"/>
              </a:lnSpc>
            </a:pPr>
            <a:r>
              <a:rPr lang="en-US" sz="1100" b="1">
                <a:solidFill>
                  <a:srgbClr val="454A51"/>
                </a:solidFill>
                <a:latin typeface="MiSans"/>
                <a:ea typeface="MiSans"/>
              </a:rPr>
              <a:t>Falha não é silenciada.</a:t>
            </a:r>
            <a:r>
              <a:rPr lang="en-US" sz="1100">
                <a:solidFill>
                  <a:srgbClr val="454A51"/>
                </a:solidFill>
                <a:latin typeface="MiSans"/>
                <a:ea typeface="MiSans"/>
              </a:rPr>
              <a:t> Esgotado o retry budget (3), a governança humana (Sêneca) decide — nunca vira mastery nem fail silencioso.</a:t>
            </a:r>
            <a:endParaRPr lang="en-US" sz="1100"/>
          </a:p>
        </p:txBody>
      </p:sp>
      <p:sp>
        <p:nvSpPr>
          <p:cNvPr id="30" name="footer-lin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E3E6EA"/>
          </a:solidFill>
          <a:ln>
            <a:noFill/>
          </a:ln>
        </p:spPr>
      </p:sp>
      <p:sp>
        <p:nvSpPr>
          <p:cNvPr id="31" name="footer-left"/>
          <p:cNvSpPr txBox="1"/>
          <p:nvPr/>
        </p:nvSpPr>
        <p:spPr>
          <a:xfrm>
            <a:off x="711200" y="6553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35000"/>
              </a:lnSpc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AI DEVSCHOOL — COMO FUNCIONA</a:t>
            </a:r>
            <a:endParaRPr lang="en-US" sz="900"/>
          </a:p>
        </p:txBody>
      </p:sp>
      <p:sp>
        <p:nvSpPr>
          <p:cNvPr id="32" name="footer-page"/>
          <p:cNvSpPr txBox="1"/>
          <p:nvPr/>
        </p:nvSpPr>
        <p:spPr>
          <a:xfrm>
            <a:off x="10414000" y="6553200"/>
            <a:ext cx="106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35000"/>
              </a:lnSpc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04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 b="1" spc="250" kern="0">
                <a:solidFill>
                  <a:srgbClr val="BC5327"/>
                </a:solidFill>
                <a:latin typeface="MiSans"/>
                <a:ea typeface="MiSans"/>
              </a:rPr>
              <a:t>04 · MAPA DO ECOSSISTEMA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11200" y="7112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15000"/>
              </a:lnSpc>
            </a:pPr>
            <a:r>
              <a:rPr lang="en-US" sz="2600" b="1">
                <a:solidFill>
                  <a:srgbClr val="1B1E23"/>
                </a:solidFill>
                <a:latin typeface="MiSans"/>
                <a:ea typeface="MiSans"/>
              </a:rPr>
              <a:t>Engines ao redor, substrato canônico no centro</a:t>
            </a:r>
            <a:endParaRPr lang="en-US" sz="2600"/>
          </a:p>
        </p:txBody>
      </p:sp>
      <p:sp>
        <p:nvSpPr>
          <p:cNvPr id="4" name="title-rule"/>
          <p:cNvSpPr/>
          <p:nvPr/>
        </p:nvSpPr>
        <p:spPr>
          <a:xfrm>
            <a:off x="711200" y="1295400"/>
            <a:ext cx="711200" cy="38100"/>
          </a:xfrm>
          <a:prstGeom prst="rect">
            <a:avLst/>
          </a:prstGeom>
          <a:solidFill>
            <a:srgbClr val="BC5327"/>
          </a:solidFill>
          <a:ln>
            <a:noFill/>
          </a:ln>
        </p:spPr>
      </p:sp>
      <p:sp>
        <p:nvSpPr>
          <p:cNvPr id="5" name="colL-head"/>
          <p:cNvSpPr txBox="1"/>
          <p:nvPr/>
        </p:nvSpPr>
        <p:spPr>
          <a:xfrm>
            <a:off x="711200" y="1473200"/>
            <a:ext cx="304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950" b="1" spc="150" kern="0">
                <a:solidFill>
                  <a:srgbClr val="33506B"/>
                </a:solidFill>
                <a:latin typeface="MiSans"/>
                <a:ea typeface="MiSans"/>
              </a:rPr>
              <a:t>SUPERFÍCIE DE PRODUTO</a:t>
            </a:r>
            <a:endParaRPr lang="en-US" sz="950"/>
          </a:p>
        </p:txBody>
      </p:sp>
      <p:sp>
        <p:nvSpPr>
          <p:cNvPr id="6" name="e1"/>
          <p:cNvSpPr/>
          <p:nvPr/>
        </p:nvSpPr>
        <p:spPr>
          <a:xfrm>
            <a:off x="711200" y="1727200"/>
            <a:ext cx="3048000" cy="863600"/>
          </a:xfrm>
          <a:prstGeom prst="rect">
            <a:avLst/>
          </a:prstGeom>
          <a:solidFill>
            <a:srgbClr val="EDF1F5"/>
          </a:solidFill>
          <a:ln w="12700">
            <a:solidFill>
              <a:srgbClr val="33506B"/>
            </a:solidFill>
          </a:ln>
        </p:spPr>
      </p:sp>
      <p:sp>
        <p:nvSpPr>
          <p:cNvPr id="7" name="e1-t"/>
          <p:cNvSpPr txBox="1"/>
          <p:nvPr/>
        </p:nvSpPr>
        <p:spPr>
          <a:xfrm>
            <a:off x="838200" y="1803400"/>
            <a:ext cx="2794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20000"/>
              </a:lnSpc>
            </a:pPr>
            <a:r>
              <a:rPr lang="en-US" sz="1100" b="1">
                <a:solidFill>
                  <a:srgbClr val="24405A"/>
                </a:solidFill>
                <a:latin typeface="MiSans"/>
                <a:ea typeface="MiSans"/>
              </a:rPr>
              <a:t>codexDojo</a:t>
            </a:r>
            <a:endParaRPr lang="en-US" sz="1600"/>
          </a:p>
          <a:p>
            <a:pPr algn="l">
              <a:lnSpc>
                <a:spcPct val="120000"/>
              </a:lnSpc>
            </a:pPr>
            <a:r>
              <a:rPr lang="en-US" sz="800">
                <a:solidFill>
                  <a:srgbClr val="454A51"/>
                </a:solidFill>
                <a:latin typeface="MiSans"/>
                <a:ea typeface="MiSans"/>
              </a:rPr>
              <a:t>dashboard operacional (Vite/TS) + contratos de produto (MANIFEST)</a:t>
            </a:r>
            <a:endParaRPr lang="en-US" sz="1600"/>
          </a:p>
        </p:txBody>
      </p:sp>
      <p:sp>
        <p:nvSpPr>
          <p:cNvPr id="8" name="e2"/>
          <p:cNvSpPr/>
          <p:nvPr/>
        </p:nvSpPr>
        <p:spPr>
          <a:xfrm>
            <a:off x="711200" y="2667000"/>
            <a:ext cx="3048000" cy="863600"/>
          </a:xfrm>
          <a:prstGeom prst="rect">
            <a:avLst/>
          </a:prstGeom>
          <a:solidFill>
            <a:srgbClr val="EDF1F5"/>
          </a:solidFill>
          <a:ln w="12700">
            <a:solidFill>
              <a:srgbClr val="33506B"/>
            </a:solidFill>
          </a:ln>
        </p:spPr>
      </p:sp>
      <p:sp>
        <p:nvSpPr>
          <p:cNvPr id="9" name="e2-t"/>
          <p:cNvSpPr txBox="1"/>
          <p:nvPr/>
        </p:nvSpPr>
        <p:spPr>
          <a:xfrm>
            <a:off x="838200" y="2743200"/>
            <a:ext cx="2794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20000"/>
              </a:lnSpc>
            </a:pPr>
            <a:r>
              <a:rPr lang="en-US" sz="1100" b="1">
                <a:solidFill>
                  <a:srgbClr val="24405A"/>
                </a:solidFill>
                <a:latin typeface="MiSans"/>
                <a:ea typeface="MiSans"/>
              </a:rPr>
              <a:t>codexdojo-os-prototype</a:t>
            </a:r>
            <a:endParaRPr lang="en-US" sz="1600"/>
          </a:p>
          <a:p>
            <a:pPr algn="l">
              <a:lnSpc>
                <a:spcPct val="120000"/>
              </a:lnSpc>
            </a:pPr>
            <a:r>
              <a:rPr lang="en-US" sz="800">
                <a:solidFill>
                  <a:srgbClr val="454A51"/>
                </a:solidFill>
                <a:latin typeface="MiSans"/>
                <a:ea typeface="MiSans"/>
              </a:rPr>
              <a:t>OS educacional canônico (React 19): desktop, terminal, mentor, Engine Hub</a:t>
            </a:r>
            <a:endParaRPr lang="en-US" sz="1600"/>
          </a:p>
        </p:txBody>
      </p:sp>
      <p:sp>
        <p:nvSpPr>
          <p:cNvPr id="10" name="e3"/>
          <p:cNvSpPr/>
          <p:nvPr/>
        </p:nvSpPr>
        <p:spPr>
          <a:xfrm>
            <a:off x="711200" y="3606800"/>
            <a:ext cx="3048000" cy="863600"/>
          </a:xfrm>
          <a:prstGeom prst="rect">
            <a:avLst/>
          </a:prstGeom>
          <a:solidFill>
            <a:srgbClr val="EDF1F5"/>
          </a:solidFill>
          <a:ln w="12700">
            <a:solidFill>
              <a:srgbClr val="33506B"/>
            </a:solidFill>
          </a:ln>
        </p:spPr>
      </p:sp>
      <p:sp>
        <p:nvSpPr>
          <p:cNvPr id="11" name="e3-t"/>
          <p:cNvSpPr txBox="1"/>
          <p:nvPr/>
        </p:nvSpPr>
        <p:spPr>
          <a:xfrm>
            <a:off x="838200" y="3683000"/>
            <a:ext cx="2794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20000"/>
              </a:lnSpc>
            </a:pPr>
            <a:r>
              <a:rPr lang="en-US" sz="1100" b="1">
                <a:solidFill>
                  <a:srgbClr val="24405A"/>
                </a:solidFill>
                <a:latin typeface="MiSans"/>
                <a:ea typeface="MiSans"/>
              </a:rPr>
              <a:t>pixelDojo</a:t>
            </a:r>
            <a:endParaRPr lang="en-US" sz="1600"/>
          </a:p>
          <a:p>
            <a:pPr algn="l">
              <a:lnSpc>
                <a:spcPct val="120000"/>
              </a:lnSpc>
            </a:pPr>
            <a:r>
              <a:rPr lang="en-US" sz="800">
                <a:solidFill>
                  <a:srgbClr val="454A51"/>
                </a:solidFill>
                <a:latin typeface="MiSans"/>
                <a:ea typeface="MiSans"/>
              </a:rPr>
              <a:t>jogos 2D 8-bit (pixel-quest): 1 conceito = 1 mecânica arcade</a:t>
            </a:r>
            <a:endParaRPr lang="en-US" sz="1600"/>
          </a:p>
        </p:txBody>
      </p:sp>
      <p:sp>
        <p:nvSpPr>
          <p:cNvPr id="12" name="e4"/>
          <p:cNvSpPr/>
          <p:nvPr/>
        </p:nvSpPr>
        <p:spPr>
          <a:xfrm>
            <a:off x="711200" y="4546600"/>
            <a:ext cx="3048000" cy="863600"/>
          </a:xfrm>
          <a:prstGeom prst="rect">
            <a:avLst/>
          </a:prstGeom>
          <a:solidFill>
            <a:srgbClr val="EDF1F5"/>
          </a:solidFill>
          <a:ln w="12700">
            <a:solidFill>
              <a:srgbClr val="33506B"/>
            </a:solidFill>
          </a:ln>
        </p:spPr>
      </p:sp>
      <p:sp>
        <p:nvSpPr>
          <p:cNvPr id="13" name="e4-t"/>
          <p:cNvSpPr txBox="1"/>
          <p:nvPr/>
        </p:nvSpPr>
        <p:spPr>
          <a:xfrm>
            <a:off x="838200" y="4622800"/>
            <a:ext cx="2794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20000"/>
              </a:lnSpc>
            </a:pPr>
            <a:r>
              <a:rPr lang="en-US" sz="1100" b="1">
                <a:solidFill>
                  <a:srgbClr val="24405A"/>
                </a:solidFill>
                <a:latin typeface="MiSans"/>
                <a:ea typeface="MiSans"/>
              </a:rPr>
              <a:t>voxelDojo</a:t>
            </a:r>
            <a:endParaRPr lang="en-US" sz="1600"/>
          </a:p>
          <a:p>
            <a:pPr algn="l">
              <a:lnSpc>
                <a:spcPct val="120000"/>
              </a:lnSpc>
            </a:pPr>
            <a:r>
              <a:rPr lang="en-US" sz="800">
                <a:solidFill>
                  <a:srgbClr val="454A51"/>
                </a:solidFill>
                <a:latin typeface="MiSans"/>
                <a:ea typeface="MiSans"/>
              </a:rPr>
              <a:t>16 simulações 3D Three.js com núcleo determinístico headless</a:t>
            </a:r>
            <a:endParaRPr lang="en-US" sz="1600"/>
          </a:p>
        </p:txBody>
      </p:sp>
      <p:sp>
        <p:nvSpPr>
          <p:cNvPr id="14" name="colC-head"/>
          <p:cNvSpPr txBox="1"/>
          <p:nvPr/>
        </p:nvSpPr>
        <p:spPr>
          <a:xfrm>
            <a:off x="4470400" y="1473200"/>
            <a:ext cx="3251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850" b="1" spc="120" kern="0">
                <a:solidFill>
                  <a:srgbClr val="96401E"/>
                </a:solidFill>
                <a:latin typeface="MiSans"/>
                <a:ea typeface="MiSans"/>
              </a:rPr>
              <a:t>SUBSTRATO · FONTE DA VERDADE</a:t>
            </a:r>
            <a:endParaRPr lang="en-US" sz="850"/>
          </a:p>
        </p:txBody>
      </p:sp>
      <p:sp>
        <p:nvSpPr>
          <p:cNvPr id="15" name="c1"/>
          <p:cNvSpPr/>
          <p:nvPr/>
        </p:nvSpPr>
        <p:spPr>
          <a:xfrm>
            <a:off x="4470400" y="1727200"/>
            <a:ext cx="3251200" cy="1600200"/>
          </a:xfrm>
          <a:prstGeom prst="rect">
            <a:avLst/>
          </a:prstGeom>
          <a:solidFill>
            <a:srgbClr val="F8EAE1"/>
          </a:solidFill>
          <a:ln w="19050">
            <a:solidFill>
              <a:srgbClr val="BC5327"/>
            </a:solidFill>
          </a:ln>
        </p:spPr>
      </p:sp>
      <p:sp>
        <p:nvSpPr>
          <p:cNvPr id="16" name="c1-t"/>
          <p:cNvSpPr txBox="1"/>
          <p:nvPr/>
        </p:nvSpPr>
        <p:spPr>
          <a:xfrm>
            <a:off x="4622800" y="1828800"/>
            <a:ext cx="29464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20000"/>
              </a:lnSpc>
            </a:pPr>
            <a:r>
              <a:rPr lang="en-US" sz="1200" b="1">
                <a:solidFill>
                  <a:srgbClr val="96401E"/>
                </a:solidFill>
                <a:latin typeface="MiSans"/>
                <a:ea typeface="MiSans"/>
              </a:rPr>
              <a:t>learner/</a:t>
            </a:r>
            <a:endParaRPr lang="en-US" sz="1600"/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en-US" sz="850">
                <a:solidFill>
                  <a:srgbClr val="454A51"/>
                </a:solidFill>
                <a:latin typeface="MiSans"/>
                <a:ea typeface="MiSans"/>
              </a:rPr>
              <a:t>learning_state.yaml (canônico) · pipeline_status.yaml · perfil · pitfalls · journal · attempts/ · verifier_receipts/ · gate/ · substrate/</a:t>
            </a:r>
            <a:endParaRPr lang="en-US" sz="1600"/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en-US" sz="800">
                <a:solidFill>
                  <a:srgbClr val="8B9199"/>
                </a:solidFill>
                <a:latin typeface="MiSans"/>
                <a:ea typeface="MiSans"/>
              </a:rPr>
              <a:t>estado único do aprendiz — gates e agendamento FSRS</a:t>
            </a:r>
            <a:endParaRPr lang="en-US" sz="1600"/>
          </a:p>
        </p:txBody>
      </p:sp>
      <p:sp>
        <p:nvSpPr>
          <p:cNvPr id="17" name="c2"/>
          <p:cNvSpPr/>
          <p:nvPr/>
        </p:nvSpPr>
        <p:spPr>
          <a:xfrm>
            <a:off x="4470400" y="3454400"/>
            <a:ext cx="3251200" cy="1346200"/>
          </a:xfrm>
          <a:prstGeom prst="rect">
            <a:avLst/>
          </a:prstGeom>
          <a:solidFill>
            <a:srgbClr val="F8EAE1"/>
          </a:solidFill>
          <a:ln w="19050">
            <a:solidFill>
              <a:srgbClr val="BC5327"/>
            </a:solidFill>
          </a:ln>
        </p:spPr>
      </p:sp>
      <p:sp>
        <p:nvSpPr>
          <p:cNvPr id="18" name="c2-t"/>
          <p:cNvSpPr txBox="1"/>
          <p:nvPr/>
        </p:nvSpPr>
        <p:spPr>
          <a:xfrm>
            <a:off x="4622800" y="3556000"/>
            <a:ext cx="29464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20000"/>
              </a:lnSpc>
            </a:pPr>
            <a:r>
              <a:rPr lang="en-US" sz="1200" b="1">
                <a:solidFill>
                  <a:srgbClr val="96401E"/>
                </a:solidFill>
                <a:latin typeface="MiSans"/>
                <a:ea typeface="MiSans"/>
              </a:rPr>
              <a:t>curriculum/</a:t>
            </a:r>
            <a:endParaRPr lang="en-US" sz="1600"/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en-US" sz="850">
                <a:solidFill>
                  <a:srgbClr val="454A51"/>
                </a:solidFill>
                <a:latin typeface="MiSans"/>
                <a:ea typeface="MiSans"/>
              </a:rPr>
              <a:t>catalog.md (18 projetos × 6 níveis) · specs · impls Go/Rust/Node · reviews · benchmarks · evidência</a:t>
            </a:r>
            <a:endParaRPr lang="en-US" sz="1600"/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en-US" sz="800">
                <a:solidFill>
                  <a:srgbClr val="8B9199"/>
                </a:solidFill>
                <a:latin typeface="MiSans"/>
                <a:ea typeface="MiSans"/>
              </a:rPr>
              <a:t>desafios e trilha de auditoria de engenharia</a:t>
            </a:r>
            <a:endParaRPr lang="en-US" sz="1600"/>
          </a:p>
        </p:txBody>
      </p:sp>
      <p:sp>
        <p:nvSpPr>
          <p:cNvPr id="19" name="c3"/>
          <p:cNvSpPr/>
          <p:nvPr/>
        </p:nvSpPr>
        <p:spPr>
          <a:xfrm>
            <a:off x="4470400" y="4927600"/>
            <a:ext cx="3251200" cy="558800"/>
          </a:xfrm>
          <a:prstGeom prst="rect">
            <a:avLst/>
          </a:prstGeom>
          <a:solidFill>
            <a:srgbClr val="F7F5F0"/>
          </a:solidFill>
          <a:ln w="12700">
            <a:solidFill>
              <a:srgbClr val="8B9199"/>
            </a:solidFill>
            <a:prstDash val="dash"/>
          </a:ln>
        </p:spPr>
      </p:sp>
      <p:sp>
        <p:nvSpPr>
          <p:cNvPr id="20" name="c3-t"/>
          <p:cNvSpPr txBox="1"/>
          <p:nvPr/>
        </p:nvSpPr>
        <p:spPr>
          <a:xfrm>
            <a:off x="4622800" y="4978400"/>
            <a:ext cx="29464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800" b="1">
                <a:solidFill>
                  <a:srgbClr val="8B9199"/>
                </a:solidFill>
                <a:latin typeface="MiSans"/>
                <a:ea typeface="MiSans"/>
              </a:rPr>
              <a:t>.mavis/</a:t>
            </a:r>
            <a:r>
              <a:rPr lang="en-US" sz="800">
                <a:solidFill>
                  <a:srgbClr val="8B9199"/>
                </a:solidFill>
                <a:latin typeface="MiSans"/>
                <a:ea typeface="MiSans"/>
              </a:rPr>
              <a:t> — view derivada regenerada; nunca editada à mão</a:t>
            </a:r>
            <a:endParaRPr lang="en-US" sz="1600"/>
          </a:p>
        </p:txBody>
      </p:sp>
      <p:sp>
        <p:nvSpPr>
          <p:cNvPr id="21" name="colR-head"/>
          <p:cNvSpPr txBox="1"/>
          <p:nvPr/>
        </p:nvSpPr>
        <p:spPr>
          <a:xfrm>
            <a:off x="8432800" y="1473200"/>
            <a:ext cx="304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950" b="1" spc="150" kern="0">
                <a:solidFill>
                  <a:srgbClr val="33506B"/>
                </a:solidFill>
                <a:latin typeface="MiSans"/>
                <a:ea typeface="MiSans"/>
              </a:rPr>
              <a:t>ORQUESTRAÇÃO &amp; TUTORIA</a:t>
            </a:r>
            <a:endParaRPr lang="en-US" sz="950"/>
          </a:p>
        </p:txBody>
      </p:sp>
      <p:sp>
        <p:nvSpPr>
          <p:cNvPr id="22" name="o1"/>
          <p:cNvSpPr/>
          <p:nvPr/>
        </p:nvSpPr>
        <p:spPr>
          <a:xfrm>
            <a:off x="8432800" y="1727200"/>
            <a:ext cx="3048000" cy="86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506B"/>
            </a:solidFill>
          </a:ln>
        </p:spPr>
      </p:sp>
      <p:sp>
        <p:nvSpPr>
          <p:cNvPr id="23" name="o1-t"/>
          <p:cNvSpPr txBox="1"/>
          <p:nvPr/>
        </p:nvSpPr>
        <p:spPr>
          <a:xfrm>
            <a:off x="8559800" y="1803400"/>
            <a:ext cx="2794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20000"/>
              </a:lnSpc>
            </a:pPr>
            <a:r>
              <a:rPr lang="en-US" sz="1100" b="1">
                <a:solidFill>
                  <a:srgbClr val="24405A"/>
                </a:solidFill>
                <a:latin typeface="MiSans"/>
                <a:ea typeface="MiSans"/>
              </a:rPr>
              <a:t>minimaxDojo</a:t>
            </a:r>
            <a:endParaRPr lang="en-US" sz="1600"/>
          </a:p>
          <a:p>
            <a:pPr algn="l">
              <a:lnSpc>
                <a:spcPct val="120000"/>
              </a:lnSpc>
            </a:pPr>
            <a:r>
              <a:rPr lang="en-US" sz="800">
                <a:solidFill>
                  <a:srgbClr val="454A51"/>
                </a:solidFill>
                <a:latin typeface="MiSans"/>
                <a:ea typeface="MiSans"/>
              </a:rPr>
              <a:t>núcleo de tutoria: 14 agentes, whiteboard, threshold seam, core Python</a:t>
            </a:r>
            <a:endParaRPr lang="en-US" sz="1600"/>
          </a:p>
        </p:txBody>
      </p:sp>
      <p:sp>
        <p:nvSpPr>
          <p:cNvPr id="24" name="o2"/>
          <p:cNvSpPr/>
          <p:nvPr/>
        </p:nvSpPr>
        <p:spPr>
          <a:xfrm>
            <a:off x="8432800" y="2667000"/>
            <a:ext cx="3048000" cy="86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506B"/>
            </a:solidFill>
          </a:ln>
        </p:spPr>
      </p:sp>
      <p:sp>
        <p:nvSpPr>
          <p:cNvPr id="25" name="o2-t"/>
          <p:cNvSpPr txBox="1"/>
          <p:nvPr/>
        </p:nvSpPr>
        <p:spPr>
          <a:xfrm>
            <a:off x="8559800" y="2743200"/>
            <a:ext cx="2794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20000"/>
              </a:lnSpc>
            </a:pPr>
            <a:r>
              <a:rPr lang="en-US" sz="1100" b="1">
                <a:solidFill>
                  <a:srgbClr val="24405A"/>
                </a:solidFill>
                <a:latin typeface="MiSans"/>
                <a:ea typeface="MiSans"/>
              </a:rPr>
              <a:t>miniMaxEvolutionEngine</a:t>
            </a:r>
            <a:endParaRPr lang="en-US" sz="1600"/>
          </a:p>
          <a:p>
            <a:pPr algn="l">
              <a:lnSpc>
                <a:spcPct val="120000"/>
              </a:lnSpc>
            </a:pPr>
            <a:r>
              <a:rPr lang="en-US" sz="800">
                <a:solidFill>
                  <a:srgbClr val="454A51"/>
                </a:solidFill>
                <a:latin typeface="MiSans"/>
                <a:ea typeface="MiSans"/>
              </a:rPr>
              <a:t>motor Claude Code: subagents + 18 comandos /devschool-* + PhaseRunner</a:t>
            </a:r>
            <a:endParaRPr lang="en-US" sz="1600"/>
          </a:p>
        </p:txBody>
      </p:sp>
      <p:sp>
        <p:nvSpPr>
          <p:cNvPr id="26" name="o3"/>
          <p:cNvSpPr/>
          <p:nvPr/>
        </p:nvSpPr>
        <p:spPr>
          <a:xfrm>
            <a:off x="8432800" y="3606800"/>
            <a:ext cx="3048000" cy="86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506B"/>
            </a:solidFill>
          </a:ln>
        </p:spPr>
      </p:sp>
      <p:sp>
        <p:nvSpPr>
          <p:cNvPr id="27" name="o3-t"/>
          <p:cNvSpPr txBox="1"/>
          <p:nvPr/>
        </p:nvSpPr>
        <p:spPr>
          <a:xfrm>
            <a:off x="8559800" y="3683000"/>
            <a:ext cx="2794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20000"/>
              </a:lnSpc>
            </a:pPr>
            <a:r>
              <a:rPr lang="en-US" sz="1100" b="1">
                <a:solidFill>
                  <a:srgbClr val="24405A"/>
                </a:solidFill>
                <a:latin typeface="MiSans"/>
                <a:ea typeface="MiSans"/>
              </a:rPr>
              <a:t>openclaw</a:t>
            </a:r>
            <a:endParaRPr lang="en-US" sz="1600"/>
          </a:p>
          <a:p>
            <a:pPr algn="l">
              <a:lnSpc>
                <a:spcPct val="120000"/>
              </a:lnSpc>
            </a:pPr>
            <a:r>
              <a:rPr lang="en-US" sz="800">
                <a:solidFill>
                  <a:srgbClr val="454A51"/>
                </a:solidFill>
                <a:latin typeface="MiSans"/>
                <a:ea typeface="MiSans"/>
              </a:rPr>
              <a:t>runner de checklist file-based das 5 fases (simulate, "tracer bullet")</a:t>
            </a:r>
            <a:endParaRPr lang="en-US" sz="1600"/>
          </a:p>
        </p:txBody>
      </p:sp>
      <p:sp>
        <p:nvSpPr>
          <p:cNvPr id="28" name="o4"/>
          <p:cNvSpPr/>
          <p:nvPr/>
        </p:nvSpPr>
        <p:spPr>
          <a:xfrm>
            <a:off x="8432800" y="4546600"/>
            <a:ext cx="3048000" cy="86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506B"/>
            </a:solidFill>
          </a:ln>
        </p:spPr>
      </p:sp>
      <p:sp>
        <p:nvSpPr>
          <p:cNvPr id="29" name="o4-t"/>
          <p:cNvSpPr txBox="1"/>
          <p:nvPr/>
        </p:nvSpPr>
        <p:spPr>
          <a:xfrm>
            <a:off x="8559800" y="4622800"/>
            <a:ext cx="2794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20000"/>
              </a:lnSpc>
            </a:pPr>
            <a:r>
              <a:rPr lang="en-US" sz="1100" b="1">
                <a:solidFill>
                  <a:srgbClr val="24405A"/>
                </a:solidFill>
                <a:latin typeface="MiSans"/>
                <a:ea typeface="MiSans"/>
              </a:rPr>
              <a:t>engines/shared</a:t>
            </a:r>
            <a:endParaRPr lang="en-US" sz="1600"/>
          </a:p>
          <a:p>
            <a:pPr algn="l">
              <a:lnSpc>
                <a:spcPct val="120000"/>
              </a:lnSpc>
            </a:pPr>
            <a:r>
              <a:rPr lang="en-US" sz="800">
                <a:solidFill>
                  <a:srgbClr val="454A51"/>
                </a:solidFill>
                <a:latin typeface="MiSans"/>
                <a:ea typeface="MiSans"/>
              </a:rPr>
              <a:t>@aidevschool/evidence — envelope de evidência cross-engine</a:t>
            </a:r>
            <a:endParaRPr lang="en-US" sz="1600"/>
          </a:p>
        </p:txBody>
      </p:sp>
      <p:sp>
        <p:nvSpPr>
          <p:cNvPr id="30" name="ar1"/>
          <p:cNvSpPr/>
          <p:nvPr>
            <p:extLst>
              <p:ext uri="{F5677B7D-0D2A-4D9B-9A5C-6D8D7D0E5A5D}">
                <pptd:line encoding="base64url">eyJjdXJ2ZSI6InJvdW5kIiwicG9pbnRzIjoiMCw1IDU2LDUiLCJ2aWV3Qm94IjpbNTYsMTBdfQ</pptd:line>
              </p:ext>
            </p:extLst>
          </p:nvPr>
        </p:nvSpPr>
        <p:spPr>
          <a:xfrm>
            <a:off x="3759200" y="2159000"/>
            <a:ext cx="711200" cy="127000"/>
          </a:xfrm>
          <a:custGeom>
            <a:avLst/>
            <a:gdLst/>
            <a:ahLst/>
            <a:cxnLst/>
            <a:rect l="l" t="t" r="r" b="b"/>
            <a:pathLst>
              <a:path w="56" h="10">
                <a:moveTo>
                  <a:pt x="0" y="5"/>
                </a:moveTo>
                <a:lnTo>
                  <a:pt x="56" y="5"/>
                </a:lnTo>
              </a:path>
            </a:pathLst>
          </a:custGeom>
          <a:noFill/>
          <a:ln w="19050" cap="rnd">
            <a:solidFill>
              <a:srgbClr val="8B9199"/>
            </a:solidFill>
            <a:round/>
            <a:tailEnd type="stealth"/>
          </a:ln>
        </p:spPr>
      </p:sp>
      <p:sp>
        <p:nvSpPr>
          <p:cNvPr id="31" name="ar1-l"/>
          <p:cNvSpPr txBox="1"/>
          <p:nvPr/>
        </p:nvSpPr>
        <p:spPr>
          <a:xfrm>
            <a:off x="3784600" y="1854200"/>
            <a:ext cx="6604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20000"/>
              </a:lnSpc>
            </a:pPr>
            <a:r>
              <a:rPr lang="en-US" sz="700">
                <a:solidFill>
                  <a:srgbClr val="8B9199"/>
                </a:solidFill>
                <a:latin typeface="MiSans"/>
                <a:ea typeface="MiSans"/>
              </a:rPr>
              <a:t>evidência bruta</a:t>
            </a:r>
            <a:endParaRPr lang="en-US" sz="700"/>
          </a:p>
        </p:txBody>
      </p:sp>
      <p:sp>
        <p:nvSpPr>
          <p:cNvPr id="32" name="ar2"/>
          <p:cNvSpPr/>
          <p:nvPr>
            <p:extLst>
              <p:ext uri="{F5677B7D-0D2A-4D9B-9A5C-6D8D7D0E5A5D}">
                <pptd:line encoding="base64url">eyJjdXJ2ZSI6InJvdW5kIiwicG9pbnRzIjoiNTYsNSAwLDUiLCJ2aWV3Qm94IjpbNTYsMTBdfQ</pptd:line>
              </p:ext>
            </p:extLst>
          </p:nvPr>
        </p:nvSpPr>
        <p:spPr>
          <a:xfrm>
            <a:off x="3759200" y="2946400"/>
            <a:ext cx="711200" cy="127000"/>
          </a:xfrm>
          <a:custGeom>
            <a:avLst/>
            <a:gdLst/>
            <a:ahLst/>
            <a:cxnLst/>
            <a:rect l="l" t="t" r="r" b="b"/>
            <a:pathLst>
              <a:path w="56" h="10">
                <a:moveTo>
                  <a:pt x="56" y="5"/>
                </a:moveTo>
                <a:lnTo>
                  <a:pt x="0" y="5"/>
                </a:lnTo>
              </a:path>
            </a:pathLst>
          </a:custGeom>
          <a:noFill/>
          <a:ln w="19050" cap="rnd">
            <a:solidFill>
              <a:srgbClr val="BC5327"/>
            </a:solidFill>
            <a:round/>
            <a:tailEnd type="stealth"/>
          </a:ln>
        </p:spPr>
      </p:sp>
      <p:sp>
        <p:nvSpPr>
          <p:cNvPr id="33" name="ar2-l"/>
          <p:cNvSpPr txBox="1"/>
          <p:nvPr/>
        </p:nvSpPr>
        <p:spPr>
          <a:xfrm>
            <a:off x="3771900" y="2717800"/>
            <a:ext cx="685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700">
                <a:solidFill>
                  <a:srgbClr val="96401E"/>
                </a:solidFill>
                <a:latin typeface="MiSans"/>
                <a:ea typeface="MiSans"/>
              </a:rPr>
              <a:t>projeções</a:t>
            </a:r>
            <a:endParaRPr lang="en-US" sz="700"/>
          </a:p>
        </p:txBody>
      </p:sp>
      <p:sp>
        <p:nvSpPr>
          <p:cNvPr id="34" name="ar3"/>
          <p:cNvSpPr/>
          <p:nvPr>
            <p:extLst>
              <p:ext uri="{F5677B7D-0D2A-4D9B-9A5C-6D8D7D0E5A5D}">
                <pptd:line encoding="base64url">eyJjdXJ2ZSI6InJvdW5kIiwicG9pbnRzIjoiNTYsNSAwLDUiLCJ2aWV3Qm94IjpbNTYsMTBdfQ</pptd:line>
              </p:ext>
            </p:extLst>
          </p:nvPr>
        </p:nvSpPr>
        <p:spPr>
          <a:xfrm>
            <a:off x="7721600" y="2159000"/>
            <a:ext cx="711200" cy="127000"/>
          </a:xfrm>
          <a:custGeom>
            <a:avLst/>
            <a:gdLst/>
            <a:ahLst/>
            <a:cxnLst/>
            <a:rect l="l" t="t" r="r" b="b"/>
            <a:pathLst>
              <a:path w="56" h="10">
                <a:moveTo>
                  <a:pt x="56" y="5"/>
                </a:moveTo>
                <a:lnTo>
                  <a:pt x="0" y="5"/>
                </a:lnTo>
              </a:path>
            </a:pathLst>
          </a:custGeom>
          <a:noFill/>
          <a:ln w="19050" cap="rnd">
            <a:solidFill>
              <a:srgbClr val="8B9199"/>
            </a:solidFill>
            <a:round/>
            <a:tailEnd type="stealth"/>
          </a:ln>
        </p:spPr>
      </p:sp>
      <p:sp>
        <p:nvSpPr>
          <p:cNvPr id="35" name="ar3-l"/>
          <p:cNvSpPr txBox="1"/>
          <p:nvPr/>
        </p:nvSpPr>
        <p:spPr>
          <a:xfrm>
            <a:off x="7734300" y="1930400"/>
            <a:ext cx="685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700">
                <a:solidFill>
                  <a:srgbClr val="8B9199"/>
                </a:solidFill>
                <a:latin typeface="MiSans"/>
                <a:ea typeface="MiSans"/>
              </a:rPr>
              <a:t>lê o canônico</a:t>
            </a:r>
            <a:endParaRPr lang="en-US" sz="700"/>
          </a:p>
        </p:txBody>
      </p:sp>
      <p:sp>
        <p:nvSpPr>
          <p:cNvPr id="36" name="ar4"/>
          <p:cNvSpPr/>
          <p:nvPr>
            <p:extLst>
              <p:ext uri="{F5677B7D-0D2A-4D9B-9A5C-6D8D7D0E5A5D}">
                <pptd:line encoding="base64url">eyJjdXJ2ZSI6InJvdW5kIiwicG9pbnRzIjoiMCw1IDU2LDUiLCJ2aWV3Qm94IjpbNTYsMTBdfQ</pptd:line>
              </p:ext>
            </p:extLst>
          </p:nvPr>
        </p:nvSpPr>
        <p:spPr>
          <a:xfrm>
            <a:off x="7721600" y="2946400"/>
            <a:ext cx="711200" cy="127000"/>
          </a:xfrm>
          <a:custGeom>
            <a:avLst/>
            <a:gdLst/>
            <a:ahLst/>
            <a:cxnLst/>
            <a:rect l="l" t="t" r="r" b="b"/>
            <a:pathLst>
              <a:path w="56" h="10">
                <a:moveTo>
                  <a:pt x="0" y="5"/>
                </a:moveTo>
                <a:lnTo>
                  <a:pt x="56" y="5"/>
                </a:lnTo>
              </a:path>
            </a:pathLst>
          </a:custGeom>
          <a:noFill/>
          <a:ln w="19050" cap="rnd">
            <a:solidFill>
              <a:srgbClr val="BC5327"/>
            </a:solidFill>
            <a:round/>
            <a:tailEnd type="stealth"/>
          </a:ln>
        </p:spPr>
      </p:sp>
      <p:sp>
        <p:nvSpPr>
          <p:cNvPr id="37" name="ar4-l"/>
          <p:cNvSpPr txBox="1"/>
          <p:nvPr/>
        </p:nvSpPr>
        <p:spPr>
          <a:xfrm>
            <a:off x="7747000" y="2641600"/>
            <a:ext cx="6604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20000"/>
              </a:lnSpc>
            </a:pPr>
            <a:r>
              <a:rPr lang="en-US" sz="700">
                <a:solidFill>
                  <a:srgbClr val="96401E"/>
                </a:solidFill>
                <a:latin typeface="MiSans"/>
                <a:ea typeface="MiSans"/>
              </a:rPr>
              <a:t>commit via gate</a:t>
            </a:r>
            <a:endParaRPr lang="en-US" sz="700"/>
          </a:p>
        </p:txBody>
      </p:sp>
      <p:sp>
        <p:nvSpPr>
          <p:cNvPr id="38" name="bottom-note"/>
          <p:cNvSpPr txBox="1"/>
          <p:nvPr/>
        </p:nvSpPr>
        <p:spPr>
          <a:xfrm>
            <a:off x="711200" y="5613400"/>
            <a:ext cx="107696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5000"/>
              </a:lnSpc>
            </a:pPr>
            <a:r>
              <a:rPr lang="en-US" sz="1100" b="1">
                <a:solidFill>
                  <a:srgbClr val="454A51"/>
                </a:solidFill>
                <a:latin typeface="MiSans"/>
                <a:ea typeface="MiSans"/>
              </a:rPr>
              <a:t>Uma fonte, muitas projeções.</a:t>
            </a:r>
            <a:r>
              <a:rPr lang="en-US" sz="1100">
                <a:solidFill>
                  <a:srgbClr val="454A51"/>
                </a:solidFill>
                <a:latin typeface="MiSans"/>
                <a:ea typeface="MiSans"/>
              </a:rPr>
              <a:t> Apps e jogos nunca escrevem o estado do aprendiz: consomem views geradas por </a:t>
            </a:r>
            <a:r>
              <a:rPr lang="en-US" sz="1100">
                <a:solidFill>
                  <a:srgbClr val="96401E"/>
                </a:solidFill>
                <a:latin typeface="MiSans"/>
                <a:ea typeface="MiSans"/>
              </a:rPr>
              <a:t>python3 -m learner.substrate</a:t>
            </a:r>
            <a:r>
              <a:rPr lang="en-US" sz="1100">
                <a:solidFill>
                  <a:srgbClr val="454A51"/>
                </a:solidFill>
                <a:latin typeface="MiSans"/>
                <a:ea typeface="MiSans"/>
              </a:rPr>
              <a:t>. Jogos e produtores emitem evidência bruta; apenas o </a:t>
            </a:r>
            <a:r>
              <a:rPr lang="en-US" sz="1100" b="1">
                <a:solidFill>
                  <a:srgbClr val="454A51"/>
                </a:solidFill>
                <a:latin typeface="MiSans"/>
                <a:ea typeface="MiSans"/>
              </a:rPr>
              <a:t>gate verificador</a:t>
            </a:r>
            <a:r>
              <a:rPr lang="en-US" sz="1100">
                <a:solidFill>
                  <a:srgbClr val="454A51"/>
                </a:solidFill>
                <a:latin typeface="MiSans"/>
                <a:ea typeface="MiSans"/>
              </a:rPr>
              <a:t> (learner.gate) comete transições ao YAML canônico — atomicamente, com digest do verificador.</a:t>
            </a:r>
            <a:endParaRPr lang="en-US" sz="1100"/>
          </a:p>
        </p:txBody>
      </p:sp>
      <p:sp>
        <p:nvSpPr>
          <p:cNvPr id="39" name="footer-lin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E3E6EA"/>
          </a:solidFill>
          <a:ln>
            <a:noFill/>
          </a:ln>
        </p:spPr>
      </p:sp>
      <p:sp>
        <p:nvSpPr>
          <p:cNvPr id="40" name="footer-left"/>
          <p:cNvSpPr txBox="1"/>
          <p:nvPr/>
        </p:nvSpPr>
        <p:spPr>
          <a:xfrm>
            <a:off x="711200" y="6553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35000"/>
              </a:lnSpc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AI DEVSCHOOL — COMO FUNCIONA</a:t>
            </a:r>
            <a:endParaRPr lang="en-US" sz="900"/>
          </a:p>
        </p:txBody>
      </p:sp>
      <p:sp>
        <p:nvSpPr>
          <p:cNvPr id="41" name="footer-page"/>
          <p:cNvSpPr txBox="1"/>
          <p:nvPr/>
        </p:nvSpPr>
        <p:spPr>
          <a:xfrm>
            <a:off x="10414000" y="6553200"/>
            <a:ext cx="106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35000"/>
              </a:lnSpc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05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 b="1" spc="250" kern="0">
                <a:solidFill>
                  <a:srgbClr val="BC5327"/>
                </a:solidFill>
                <a:latin typeface="MiSans"/>
                <a:ea typeface="MiSans"/>
              </a:rPr>
              <a:t>05 · ARQUITETURA EM CAMADAS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11200" y="7112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15000"/>
              </a:lnSpc>
            </a:pPr>
            <a:r>
              <a:rPr lang="en-US" sz="2600" b="1">
                <a:solidFill>
                  <a:srgbClr val="1B1E23"/>
                </a:solidFill>
                <a:latin typeface="MiSans"/>
                <a:ea typeface="MiSans"/>
              </a:rPr>
              <a:t>Três camadas sobre o filesystem — nada acima da verdade</a:t>
            </a:r>
            <a:endParaRPr lang="en-US" sz="2600"/>
          </a:p>
        </p:txBody>
      </p:sp>
      <p:sp>
        <p:nvSpPr>
          <p:cNvPr id="4" name="title-rule"/>
          <p:cNvSpPr/>
          <p:nvPr/>
        </p:nvSpPr>
        <p:spPr>
          <a:xfrm>
            <a:off x="711200" y="1295400"/>
            <a:ext cx="711200" cy="38100"/>
          </a:xfrm>
          <a:prstGeom prst="rect">
            <a:avLst/>
          </a:prstGeom>
          <a:solidFill>
            <a:srgbClr val="BC5327"/>
          </a:solidFill>
          <a:ln>
            <a:noFill/>
          </a:ln>
        </p:spPr>
      </p:sp>
      <p:sp>
        <p:nvSpPr>
          <p:cNvPr id="5" name="l3"/>
          <p:cNvSpPr/>
          <p:nvPr/>
        </p:nvSpPr>
        <p:spPr>
          <a:xfrm>
            <a:off x="711200" y="1600200"/>
            <a:ext cx="5842000" cy="1143000"/>
          </a:xfrm>
          <a:prstGeom prst="rect">
            <a:avLst/>
          </a:prstGeom>
          <a:solidFill>
            <a:srgbClr val="EDF1F5"/>
          </a:solidFill>
          <a:ln w="12700">
            <a:solidFill>
              <a:srgbClr val="33506B"/>
            </a:solidFill>
          </a:ln>
        </p:spPr>
      </p:sp>
      <p:sp>
        <p:nvSpPr>
          <p:cNvPr id="6" name="l3-t"/>
          <p:cNvSpPr txBox="1"/>
          <p:nvPr/>
        </p:nvSpPr>
        <p:spPr>
          <a:xfrm>
            <a:off x="889000" y="1689100"/>
            <a:ext cx="54864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20000"/>
              </a:lnSpc>
            </a:pPr>
            <a:r>
              <a:rPr lang="en-US" sz="1050" b="1">
                <a:solidFill>
                  <a:srgbClr val="33506B"/>
                </a:solidFill>
                <a:latin typeface="MiSans"/>
                <a:ea typeface="MiSans"/>
              </a:rPr>
              <a:t>CAMADA 3 · SUPERFÍCIE DE PRODUTO</a:t>
            </a:r>
            <a:r>
              <a:rPr lang="en-US" sz="1050">
                <a:solidFill>
                  <a:srgbClr val="33506B"/>
                </a:solidFill>
                <a:latin typeface="MiSans"/>
                <a:ea typeface="MiSans"/>
              </a:rPr>
              <a:t> (apps executáveis)</a:t>
            </a:r>
            <a:endParaRPr lang="en-US" sz="1600"/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lang="en-US" sz="950">
                <a:solidFill>
                  <a:srgbClr val="454A51"/>
                </a:solidFill>
                <a:latin typeface="MiSans"/>
                <a:ea typeface="MiSans"/>
              </a:rPr>
              <a:t>codexDojo · codexdojo-os-prototype · pixelDojo · voxelDojo</a:t>
            </a:r>
            <a:endParaRPr lang="en-US" sz="1600"/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en-US" sz="850">
                <a:solidFill>
                  <a:srgbClr val="8B9199"/>
                </a:solidFill>
                <a:latin typeface="MiSans"/>
                <a:ea typeface="MiSans"/>
              </a:rPr>
              <a:t>janelas e controles sobre a verdade — read-only; jogos só emitem evidência</a:t>
            </a:r>
            <a:endParaRPr lang="en-US" sz="1600"/>
          </a:p>
        </p:txBody>
      </p:sp>
      <p:sp>
        <p:nvSpPr>
          <p:cNvPr id="7" name="l2"/>
          <p:cNvSpPr/>
          <p:nvPr/>
        </p:nvSpPr>
        <p:spPr>
          <a:xfrm>
            <a:off x="711200" y="2844800"/>
            <a:ext cx="5842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506B"/>
            </a:solidFill>
          </a:ln>
        </p:spPr>
      </p:sp>
      <p:sp>
        <p:nvSpPr>
          <p:cNvPr id="8" name="l2-t"/>
          <p:cNvSpPr txBox="1"/>
          <p:nvPr/>
        </p:nvSpPr>
        <p:spPr>
          <a:xfrm>
            <a:off x="889000" y="2933700"/>
            <a:ext cx="54864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20000"/>
              </a:lnSpc>
            </a:pPr>
            <a:r>
              <a:rPr lang="en-US" sz="1050" b="1">
                <a:solidFill>
                  <a:srgbClr val="33506B"/>
                </a:solidFill>
                <a:latin typeface="MiSans"/>
                <a:ea typeface="MiSans"/>
              </a:rPr>
              <a:t>CAMADA 2 · ORQUESTRAÇÃO &amp; TUTORIA</a:t>
            </a:r>
            <a:r>
              <a:rPr lang="en-US" sz="1050">
                <a:solidFill>
                  <a:srgbClr val="33506B"/>
                </a:solidFill>
                <a:latin typeface="MiSans"/>
                <a:ea typeface="MiSans"/>
              </a:rPr>
              <a:t> (núcleos de agentes)</a:t>
            </a:r>
            <a:endParaRPr lang="en-US" sz="1600"/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lang="en-US" sz="950">
                <a:solidFill>
                  <a:srgbClr val="454A51"/>
                </a:solidFill>
                <a:latin typeface="MiSans"/>
                <a:ea typeface="MiSans"/>
              </a:rPr>
              <a:t>miniMaxEvolutionEngine (Claude Code) · minimaxDojo (referência Python) · openclaw</a:t>
            </a:r>
            <a:endParaRPr lang="en-US" sz="1600"/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en-US" sz="850">
                <a:solidFill>
                  <a:srgbClr val="8B9199"/>
                </a:solidFill>
                <a:latin typeface="MiSans"/>
                <a:ea typeface="MiSans"/>
              </a:rPr>
              <a:t>propõem trabalho, despacham workers, rodam o verificador entre fases</a:t>
            </a:r>
            <a:endParaRPr lang="en-US" sz="1600"/>
          </a:p>
        </p:txBody>
      </p:sp>
      <p:sp>
        <p:nvSpPr>
          <p:cNvPr id="9" name="l1"/>
          <p:cNvSpPr/>
          <p:nvPr/>
        </p:nvSpPr>
        <p:spPr>
          <a:xfrm>
            <a:off x="711200" y="4089400"/>
            <a:ext cx="5842000" cy="1066800"/>
          </a:xfrm>
          <a:prstGeom prst="rect">
            <a:avLst/>
          </a:prstGeom>
          <a:solidFill>
            <a:srgbClr val="F8EAE1"/>
          </a:solidFill>
          <a:ln w="19050">
            <a:solidFill>
              <a:srgbClr val="BC5327"/>
            </a:solidFill>
          </a:ln>
        </p:spPr>
      </p:sp>
      <p:sp>
        <p:nvSpPr>
          <p:cNvPr id="10" name="l1-t"/>
          <p:cNvSpPr txBox="1"/>
          <p:nvPr/>
        </p:nvSpPr>
        <p:spPr>
          <a:xfrm>
            <a:off x="889000" y="4178300"/>
            <a:ext cx="54864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20000"/>
              </a:lnSpc>
            </a:pPr>
            <a:r>
              <a:rPr lang="en-US" sz="1050" b="1">
                <a:solidFill>
                  <a:srgbClr val="96401E"/>
                </a:solidFill>
                <a:latin typeface="MiSans"/>
                <a:ea typeface="MiSans"/>
              </a:rPr>
              <a:t>CAMADA 1 · SUBSTRATO COMPARTILHADO</a:t>
            </a:r>
            <a:r>
              <a:rPr lang="en-US" sz="1050">
                <a:solidFill>
                  <a:srgbClr val="96401E"/>
                </a:solidFill>
                <a:latin typeface="MiSans"/>
                <a:ea typeface="MiSans"/>
              </a:rPr>
              <a:t> (fonte da verdade)</a:t>
            </a:r>
            <a:endParaRPr lang="en-US" sz="1600"/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lang="en-US" sz="950">
                <a:solidFill>
                  <a:srgbClr val="454A51"/>
                </a:solidFill>
                <a:latin typeface="MiSans"/>
                <a:ea typeface="MiSans"/>
              </a:rPr>
              <a:t>learner/ (estado, gate, substrate) · curriculum/ (desafios + evidência)</a:t>
            </a:r>
            <a:endParaRPr lang="en-US" sz="1600"/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en-US" sz="850">
                <a:solidFill>
                  <a:srgbClr val="96401E"/>
                </a:solidFill>
                <a:latin typeface="MiSans"/>
                <a:ea typeface="MiSans"/>
              </a:rPr>
              <a:t>única camada com autoridade de estado — validate() duro antes de escrever</a:t>
            </a:r>
            <a:endParaRPr lang="en-US" sz="1600"/>
          </a:p>
        </p:txBody>
      </p:sp>
      <p:sp>
        <p:nvSpPr>
          <p:cNvPr id="11" name="l0"/>
          <p:cNvSpPr/>
          <p:nvPr/>
        </p:nvSpPr>
        <p:spPr>
          <a:xfrm>
            <a:off x="711200" y="5257800"/>
            <a:ext cx="5842000" cy="711200"/>
          </a:xfrm>
          <a:prstGeom prst="rect">
            <a:avLst/>
          </a:prstGeom>
          <a:solidFill>
            <a:srgbClr val="1B1E23"/>
          </a:solidFill>
          <a:ln>
            <a:noFill/>
          </a:ln>
        </p:spPr>
      </p:sp>
      <p:sp>
        <p:nvSpPr>
          <p:cNvPr id="12" name="l0-t"/>
          <p:cNvSpPr txBox="1"/>
          <p:nvPr/>
        </p:nvSpPr>
        <p:spPr>
          <a:xfrm>
            <a:off x="889000" y="5346700"/>
            <a:ext cx="54864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050" b="1">
                <a:solidFill>
                  <a:srgbClr val="F2B794"/>
                </a:solidFill>
                <a:latin typeface="MiSans"/>
                <a:ea typeface="MiSans"/>
              </a:rPr>
              <a:t>BASE · FILESYSTEM + GIT</a:t>
            </a:r>
            <a:endParaRPr lang="en-US" sz="1600"/>
          </a:p>
          <a:p>
            <a:pPr algn="l">
              <a:lnSpc>
                <a:spcPct val="120000"/>
              </a:lnSpc>
            </a:pPr>
            <a:r>
              <a:rPr lang="en-US" sz="850">
                <a:solidFill>
                  <a:srgbClr val="D8DDE3"/>
                </a:solidFill>
                <a:latin typeface="MiSans"/>
                <a:ea typeface="MiSans"/>
              </a:rPr>
              <a:t>Markdown · YAML · NDJSON append-only — auditável, versionado, sem banco de dados</a:t>
            </a:r>
            <a:endParaRPr lang="en-US" sz="1600"/>
          </a:p>
        </p:txBody>
      </p:sp>
      <p:sp>
        <p:nvSpPr>
          <p:cNvPr id="13" name="r-head"/>
          <p:cNvSpPr txBox="1"/>
          <p:nvPr/>
        </p:nvSpPr>
        <p:spPr>
          <a:xfrm>
            <a:off x="7112000" y="1600200"/>
            <a:ext cx="4368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050" b="1" spc="120" kern="0">
                <a:solidFill>
                  <a:srgbClr val="1B1E23"/>
                </a:solidFill>
                <a:latin typeface="MiSans"/>
                <a:ea typeface="MiSans"/>
              </a:rPr>
              <a:t>POR QUE DOIS NÚCLEOS DE AGENTES?</a:t>
            </a:r>
            <a:endParaRPr lang="en-US" sz="1050"/>
          </a:p>
        </p:txBody>
      </p:sp>
      <p:sp>
        <p:nvSpPr>
          <p:cNvPr id="14" name="r-body"/>
          <p:cNvSpPr txBox="1"/>
          <p:nvPr/>
        </p:nvSpPr>
        <p:spPr>
          <a:xfrm>
            <a:off x="7112000" y="1879600"/>
            <a:ext cx="43688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5000"/>
              </a:lnSpc>
            </a:pPr>
            <a:r>
              <a:rPr lang="en-US" sz="1100">
                <a:solidFill>
                  <a:srgbClr val="454A51"/>
                </a:solidFill>
                <a:latin typeface="MiSans"/>
                <a:ea typeface="MiSans"/>
              </a:rPr>
              <a:t>minimaxDojo e miniMaxEvolutionEngine implementam </a:t>
            </a:r>
            <a:r>
              <a:rPr lang="en-US" sz="1100" b="1">
                <a:solidFill>
                  <a:srgbClr val="454A51"/>
                </a:solidFill>
                <a:latin typeface="MiSans"/>
                <a:ea typeface="MiSans"/>
              </a:rPr>
              <a:t>o mesmo protocolo</a:t>
            </a:r>
            <a:r>
              <a:rPr lang="en-US" sz="1100">
                <a:solidFill>
                  <a:srgbClr val="454A51"/>
                </a:solidFill>
                <a:latin typeface="MiSans"/>
                <a:ea typeface="MiSans"/>
              </a:rPr>
              <a:t> — mesma máquina de estados, mesmo verificador adversarial, mesmo gate empírico, mesmos 14 papéis — em </a:t>
            </a:r>
            <a:r>
              <a:rPr lang="en-US" sz="1100" b="1">
                <a:solidFill>
                  <a:srgbClr val="454A51"/>
                </a:solidFill>
                <a:latin typeface="MiSans"/>
                <a:ea typeface="MiSans"/>
              </a:rPr>
              <a:t>plataformas diferentes</a:t>
            </a:r>
            <a:r>
              <a:rPr lang="en-US" sz="1100">
                <a:solidFill>
                  <a:srgbClr val="454A51"/>
                </a:solidFill>
                <a:latin typeface="MiSans"/>
                <a:ea typeface="MiSans"/>
              </a:rPr>
              <a:t>.</a:t>
            </a:r>
            <a:endParaRPr lang="en-US" sz="1100"/>
          </a:p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lang="en-US" sz="1100">
                <a:solidFill>
                  <a:srgbClr val="454A51"/>
                </a:solidFill>
                <a:latin typeface="MiSans"/>
                <a:ea typeface="MiSans"/>
              </a:rPr>
              <a:t>Cada tutor do motor Claude Code é um </a:t>
            </a:r>
            <a:r>
              <a:rPr lang="en-US" sz="1100" i="1">
                <a:solidFill>
                  <a:srgbClr val="454A51"/>
                </a:solidFill>
                <a:latin typeface="MiSans"/>
                <a:ea typeface="MiSans"/>
              </a:rPr>
              <a:t>wrapper</a:t>
            </a:r>
            <a:r>
              <a:rPr lang="en-US" sz="1100">
                <a:solidFill>
                  <a:srgbClr val="454A51"/>
                </a:solidFill>
                <a:latin typeface="MiSans"/>
                <a:ea typeface="MiSans"/>
              </a:rPr>
              <a:t> que aponta para a persona canônica em minimaxDojo: </a:t>
            </a:r>
            <a:r>
              <a:rPr lang="en-US" sz="1100" b="1">
                <a:solidFill>
                  <a:srgbClr val="454A51"/>
                </a:solidFill>
                <a:latin typeface="MiSans"/>
                <a:ea typeface="MiSans"/>
              </a:rPr>
              <a:t>"em divergência, o canônico vence"</a:t>
            </a:r>
            <a:r>
              <a:rPr lang="en-US" sz="1100">
                <a:solidFill>
                  <a:srgbClr val="454A51"/>
                </a:solidFill>
                <a:latin typeface="MiSans"/>
                <a:ea typeface="MiSans"/>
              </a:rPr>
              <a:t>.</a:t>
            </a:r>
            <a:endParaRPr lang="en-US" sz="1100"/>
          </a:p>
        </p:txBody>
      </p:sp>
      <p:sp>
        <p:nvSpPr>
          <p:cNvPr id="15" name="r-rule"/>
          <p:cNvSpPr/>
          <p:nvPr>
            <p:extLst>
              <p:ext uri="{F5677B7D-0D2A-4D9B-9A5C-6D8D7D0E5A5D}">
                <pptd:line encoding="base64url">eyJjdXJ2ZSI6InJvdW5kIiwicG9pbnRzIjoiMCwxIDM0NCwxIiwidmlld0JveCI6WzM0NCwyXX0</pptd:line>
              </p:ext>
            </p:extLst>
          </p:nvPr>
        </p:nvSpPr>
        <p:spPr>
          <a:xfrm>
            <a:off x="7112000" y="3657600"/>
            <a:ext cx="4368800" cy="25400"/>
          </a:xfrm>
          <a:custGeom>
            <a:avLst/>
            <a:gdLst/>
            <a:ahLst/>
            <a:cxnLst/>
            <a:rect l="l" t="t" r="r" b="b"/>
            <a:pathLst>
              <a:path w="344" h="2">
                <a:moveTo>
                  <a:pt x="0" y="1"/>
                </a:moveTo>
                <a:lnTo>
                  <a:pt x="344" y="1"/>
                </a:lnTo>
              </a:path>
            </a:pathLst>
          </a:custGeom>
          <a:noFill/>
          <a:ln w="12700" cap="rnd">
            <a:solidFill>
              <a:srgbClr val="E3E6EA"/>
            </a:solidFill>
            <a:round/>
          </a:ln>
        </p:spPr>
      </p:sp>
      <p:sp>
        <p:nvSpPr>
          <p:cNvPr id="16" name="r-head2"/>
          <p:cNvSpPr txBox="1"/>
          <p:nvPr/>
        </p:nvSpPr>
        <p:spPr>
          <a:xfrm>
            <a:off x="7112000" y="3810000"/>
            <a:ext cx="4368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050" b="1" spc="120" kern="0">
                <a:solidFill>
                  <a:srgbClr val="1B1E23"/>
                </a:solidFill>
                <a:latin typeface="MiSans"/>
                <a:ea typeface="MiSans"/>
              </a:rPr>
              <a:t>RESTRIÇÕES ESTRUTURAIS</a:t>
            </a:r>
            <a:endParaRPr lang="en-US" sz="1050"/>
          </a:p>
        </p:txBody>
      </p:sp>
      <p:sp>
        <p:nvSpPr>
          <p:cNvPr id="17" name="r-body2"/>
          <p:cNvSpPr txBox="1"/>
          <p:nvPr/>
        </p:nvSpPr>
        <p:spPr>
          <a:xfrm>
            <a:off x="7112000" y="4089400"/>
            <a:ext cx="4368800" cy="203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5000"/>
              </a:lnSpc>
            </a:pPr>
            <a:r>
              <a:rPr lang="en-US" sz="1100">
                <a:solidFill>
                  <a:srgbClr val="454A51"/>
                </a:solidFill>
                <a:latin typeface="MiSans"/>
                <a:ea typeface="MiSans"/>
              </a:rPr>
              <a:t>· Nenhum engine pode </a:t>
            </a:r>
            <a:r>
              <a:rPr lang="en-US" sz="1100" b="1">
                <a:solidFill>
                  <a:srgbClr val="454A51"/>
                </a:solidFill>
                <a:latin typeface="MiSans"/>
                <a:ea typeface="MiSans"/>
              </a:rPr>
              <a:t>forkar o estado global do aprendiz</a:t>
            </a:r>
            <a:r>
              <a:rPr lang="en-US" sz="1100">
                <a:solidFill>
                  <a:srgbClr val="454A51"/>
                </a:solidFill>
                <a:latin typeface="MiSans"/>
                <a:ea typeface="MiSans"/>
              </a:rPr>
              <a:t> — ambos os núcleos são explicitamente proibidos.</a:t>
            </a:r>
            <a:endParaRPr lang="en-US" sz="1100"/>
          </a:p>
          <a:p>
            <a:pPr algn="l">
              <a:lnSpc>
                <a:spcPct val="145000"/>
              </a:lnSpc>
              <a:spcBef>
                <a:spcPts val="700"/>
              </a:spcBef>
            </a:pPr>
            <a:r>
              <a:rPr lang="en-US" sz="1100">
                <a:solidFill>
                  <a:srgbClr val="454A51"/>
                </a:solidFill>
                <a:latin typeface="MiSans"/>
                <a:ea typeface="MiSans"/>
              </a:rPr>
              <a:t>· Não existe "segundo learner store" local: o OS prova por teste que o snapshot é imutável sob interação.</a:t>
            </a:r>
            <a:endParaRPr lang="en-US" sz="1100"/>
          </a:p>
          <a:p>
            <a:pPr algn="l">
              <a:lnSpc>
                <a:spcPct val="145000"/>
              </a:lnSpc>
              <a:spcBef>
                <a:spcPts val="700"/>
              </a:spcBef>
            </a:pPr>
            <a:r>
              <a:rPr lang="en-US" sz="1100">
                <a:solidFill>
                  <a:srgbClr val="454A51"/>
                </a:solidFill>
                <a:latin typeface="MiSans"/>
                <a:ea typeface="MiSans"/>
              </a:rPr>
              <a:t>· Mudanças em prompts, gates, memória ou roadmap atualizam </a:t>
            </a:r>
            <a:r>
              <a:rPr lang="en-US" sz="1100" b="1">
                <a:solidFill>
                  <a:srgbClr val="454A51"/>
                </a:solidFill>
                <a:latin typeface="MiSans"/>
                <a:ea typeface="MiSans"/>
              </a:rPr>
              <a:t>ecosystem/MANIFEST.md no mesmo commit</a:t>
            </a:r>
            <a:r>
              <a:rPr lang="en-US" sz="1100">
                <a:solidFill>
                  <a:srgbClr val="454A51"/>
                </a:solidFill>
                <a:latin typeface="MiSans"/>
                <a:ea typeface="MiSans"/>
              </a:rPr>
              <a:t>.</a:t>
            </a:r>
            <a:endParaRPr lang="en-US" sz="1100"/>
          </a:p>
          <a:p>
            <a:pPr algn="l">
              <a:lnSpc>
                <a:spcPct val="145000"/>
              </a:lnSpc>
              <a:spcBef>
                <a:spcPts val="700"/>
              </a:spcBef>
            </a:pPr>
            <a:r>
              <a:rPr lang="en-US" sz="1100">
                <a:solidFill>
                  <a:srgbClr val="454A51"/>
                </a:solidFill>
                <a:latin typeface="MiSans"/>
                <a:ea typeface="MiSans"/>
              </a:rPr>
              <a:t>· Anti-drift por teste: thresholds e roster de agentes são travados por testes de contrato cross-engine.</a:t>
            </a:r>
            <a:endParaRPr lang="en-US" sz="1100"/>
          </a:p>
        </p:txBody>
      </p:sp>
      <p:sp>
        <p:nvSpPr>
          <p:cNvPr id="18" name="footer-lin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E3E6EA"/>
          </a:solidFill>
          <a:ln>
            <a:noFill/>
          </a:ln>
        </p:spPr>
      </p:sp>
      <p:sp>
        <p:nvSpPr>
          <p:cNvPr id="19" name="footer-left"/>
          <p:cNvSpPr txBox="1"/>
          <p:nvPr/>
        </p:nvSpPr>
        <p:spPr>
          <a:xfrm>
            <a:off x="711200" y="6553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35000"/>
              </a:lnSpc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AI DEVSCHOOL — COMO FUNCIONA</a:t>
            </a:r>
            <a:endParaRPr lang="en-US" sz="900"/>
          </a:p>
        </p:txBody>
      </p:sp>
      <p:sp>
        <p:nvSpPr>
          <p:cNvPr id="20" name="footer-page"/>
          <p:cNvSpPr txBox="1"/>
          <p:nvPr/>
        </p:nvSpPr>
        <p:spPr>
          <a:xfrm>
            <a:off x="10414000" y="6553200"/>
            <a:ext cx="106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35000"/>
              </a:lnSpc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06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 b="1" spc="250" kern="0">
                <a:solidFill>
                  <a:srgbClr val="BC5327"/>
                </a:solidFill>
                <a:latin typeface="MiSans"/>
                <a:ea typeface="MiSans"/>
              </a:rPr>
              <a:t>06 · OS DOIS LOOPS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11200" y="7112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15000"/>
              </a:lnSpc>
            </a:pPr>
            <a:r>
              <a:rPr lang="en-US" sz="2600" b="1">
                <a:solidFill>
                  <a:srgbClr val="1B1E23"/>
                </a:solidFill>
                <a:latin typeface="MiSans"/>
                <a:ea typeface="MiSans"/>
              </a:rPr>
              <a:t>Dois loops entrelaçados: engenharia e aprendizado</a:t>
            </a:r>
            <a:endParaRPr lang="en-US" sz="2600"/>
          </a:p>
        </p:txBody>
      </p:sp>
      <p:sp>
        <p:nvSpPr>
          <p:cNvPr id="4" name="title-rule"/>
          <p:cNvSpPr/>
          <p:nvPr/>
        </p:nvSpPr>
        <p:spPr>
          <a:xfrm>
            <a:off x="711200" y="1295400"/>
            <a:ext cx="711200" cy="38100"/>
          </a:xfrm>
          <a:prstGeom prst="rect">
            <a:avLst/>
          </a:prstGeom>
          <a:solidFill>
            <a:srgbClr val="BC5327"/>
          </a:solidFill>
          <a:ln>
            <a:noFill/>
          </a:ln>
        </p:spPr>
      </p:sp>
      <p:sp>
        <p:nvSpPr>
          <p:cNvPr id="5" name="loop1-head"/>
          <p:cNvSpPr txBox="1"/>
          <p:nvPr/>
        </p:nvSpPr>
        <p:spPr>
          <a:xfrm>
            <a:off x="711200" y="15240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050" b="1" spc="120" kern="0">
                <a:solidFill>
                  <a:srgbClr val="33506B"/>
                </a:solidFill>
                <a:latin typeface="MiSans"/>
                <a:ea typeface="MiSans"/>
              </a:rPr>
              <a:t>LOOP 1 · CICLO DE SOFTWARE — learner/pipeline_status.yaml (YAML é autoridade; MD é narrativa)</a:t>
            </a:r>
            <a:endParaRPr lang="en-US" sz="1050"/>
          </a:p>
        </p:txBody>
      </p:sp>
      <p:sp>
        <p:nvSpPr>
          <p:cNvPr id="6" name="p1"/>
          <p:cNvSpPr/>
          <p:nvPr/>
        </p:nvSpPr>
        <p:spPr>
          <a:xfrm>
            <a:off x="711200" y="1803400"/>
            <a:ext cx="1803400" cy="838200"/>
          </a:xfrm>
          <a:prstGeom prst="rect">
            <a:avLst/>
          </a:prstGeom>
          <a:solidFill>
            <a:srgbClr val="EDF1F5"/>
          </a:solidFill>
          <a:ln w="12700">
            <a:solidFill>
              <a:srgbClr val="33506B"/>
            </a:solidFill>
          </a:ln>
        </p:spPr>
      </p:sp>
      <p:sp>
        <p:nvSpPr>
          <p:cNvPr id="7" name="p1-t"/>
          <p:cNvSpPr txBox="1"/>
          <p:nvPr/>
        </p:nvSpPr>
        <p:spPr>
          <a:xfrm>
            <a:off x="787400" y="1879600"/>
            <a:ext cx="16510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20000"/>
              </a:lnSpc>
            </a:pPr>
            <a:r>
              <a:rPr lang="en-US" sz="1000" b="1">
                <a:solidFill>
                  <a:srgbClr val="24405A"/>
                </a:solidFill>
                <a:latin typeface="MiSans"/>
                <a:ea typeface="MiSans"/>
              </a:rPr>
              <a:t>1 · Spec</a:t>
            </a:r>
            <a:endParaRPr lang="en-US" sz="1600"/>
          </a:p>
          <a:p>
            <a:pPr algn="ctr">
              <a:lnSpc>
                <a:spcPct val="120000"/>
              </a:lnSpc>
            </a:pPr>
            <a:r>
              <a:rPr lang="en-US" sz="750">
                <a:solidFill>
                  <a:srgbClr val="8B9199"/>
                </a:solidFill>
                <a:latin typeface="MiSans"/>
                <a:ea typeface="MiSans"/>
              </a:rPr>
              <a:t>curator → spec.md (13 seções)</a:t>
            </a:r>
            <a:endParaRPr lang="en-US" sz="1600"/>
          </a:p>
        </p:txBody>
      </p:sp>
      <p:sp>
        <p:nvSpPr>
          <p:cNvPr id="8" name="g1"/>
          <p:cNvSpPr/>
          <p:nvPr/>
        </p:nvSpPr>
        <p:spPr>
          <a:xfrm>
            <a:off x="2590800" y="2082800"/>
            <a:ext cx="279400" cy="279400"/>
          </a:xfrm>
          <a:prstGeom prst="diamond">
            <a:avLst/>
          </a:prstGeom>
          <a:solidFill>
            <a:srgbClr val="BC5327"/>
          </a:solidFill>
          <a:ln>
            <a:noFill/>
          </a:ln>
        </p:spPr>
      </p:sp>
      <p:sp>
        <p:nvSpPr>
          <p:cNvPr id="9" name="p2"/>
          <p:cNvSpPr/>
          <p:nvPr/>
        </p:nvSpPr>
        <p:spPr>
          <a:xfrm>
            <a:off x="2946400" y="1803400"/>
            <a:ext cx="1803400" cy="838200"/>
          </a:xfrm>
          <a:prstGeom prst="rect">
            <a:avLst/>
          </a:prstGeom>
          <a:solidFill>
            <a:srgbClr val="EDF1F5"/>
          </a:solidFill>
          <a:ln w="12700">
            <a:solidFill>
              <a:srgbClr val="33506B"/>
            </a:solidFill>
          </a:ln>
        </p:spPr>
      </p:sp>
      <p:sp>
        <p:nvSpPr>
          <p:cNvPr id="10" name="p2-t"/>
          <p:cNvSpPr txBox="1"/>
          <p:nvPr/>
        </p:nvSpPr>
        <p:spPr>
          <a:xfrm>
            <a:off x="3022600" y="1879600"/>
            <a:ext cx="16510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20000"/>
              </a:lnSpc>
            </a:pPr>
            <a:r>
              <a:rPr lang="en-US" sz="1000" b="1">
                <a:solidFill>
                  <a:srgbClr val="24405A"/>
                </a:solidFill>
                <a:latin typeface="MiSans"/>
                <a:ea typeface="MiSans"/>
              </a:rPr>
              <a:t>2 · Impl. poliglota</a:t>
            </a:r>
            <a:endParaRPr lang="en-US" sz="1600"/>
          </a:p>
          <a:p>
            <a:pPr algn="ctr">
              <a:lnSpc>
                <a:spcPct val="120000"/>
              </a:lnSpc>
            </a:pPr>
            <a:r>
              <a:rPr lang="en-US" sz="750">
                <a:solidFill>
                  <a:srgbClr val="8B9199"/>
                </a:solidFill>
                <a:latin typeface="MiSans"/>
                <a:ea typeface="MiSans"/>
              </a:rPr>
              <a:t>dev-go + dev-rust + dev-node (paralelo)</a:t>
            </a:r>
            <a:endParaRPr lang="en-US" sz="1600"/>
          </a:p>
        </p:txBody>
      </p:sp>
      <p:sp>
        <p:nvSpPr>
          <p:cNvPr id="11" name="g2"/>
          <p:cNvSpPr/>
          <p:nvPr/>
        </p:nvSpPr>
        <p:spPr>
          <a:xfrm>
            <a:off x="4826000" y="2082800"/>
            <a:ext cx="279400" cy="279400"/>
          </a:xfrm>
          <a:prstGeom prst="diamond">
            <a:avLst/>
          </a:prstGeom>
          <a:solidFill>
            <a:srgbClr val="BC5327"/>
          </a:solidFill>
          <a:ln>
            <a:noFill/>
          </a:ln>
        </p:spPr>
      </p:sp>
      <p:sp>
        <p:nvSpPr>
          <p:cNvPr id="12" name="p3"/>
          <p:cNvSpPr/>
          <p:nvPr/>
        </p:nvSpPr>
        <p:spPr>
          <a:xfrm>
            <a:off x="5181600" y="1803400"/>
            <a:ext cx="1803400" cy="838200"/>
          </a:xfrm>
          <a:prstGeom prst="rect">
            <a:avLst/>
          </a:prstGeom>
          <a:solidFill>
            <a:srgbClr val="EDF1F5"/>
          </a:solidFill>
          <a:ln w="12700">
            <a:solidFill>
              <a:srgbClr val="33506B"/>
            </a:solidFill>
          </a:ln>
        </p:spPr>
      </p:sp>
      <p:sp>
        <p:nvSpPr>
          <p:cNvPr id="13" name="p3-t"/>
          <p:cNvSpPr txBox="1"/>
          <p:nvPr/>
        </p:nvSpPr>
        <p:spPr>
          <a:xfrm>
            <a:off x="5257800" y="1879600"/>
            <a:ext cx="16510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20000"/>
              </a:lnSpc>
            </a:pPr>
            <a:r>
              <a:rPr lang="en-US" sz="1000" b="1">
                <a:solidFill>
                  <a:srgbClr val="24405A"/>
                </a:solidFill>
                <a:latin typeface="MiSans"/>
                <a:ea typeface="MiSans"/>
              </a:rPr>
              <a:t>3 · Review</a:t>
            </a:r>
            <a:endParaRPr lang="en-US" sz="1600"/>
          </a:p>
          <a:p>
            <a:pPr algn="ctr">
              <a:lnSpc>
                <a:spcPct val="120000"/>
              </a:lnSpc>
            </a:pPr>
            <a:r>
              <a:rPr lang="en-US" sz="750">
                <a:solidFill>
                  <a:srgbClr val="8B9199"/>
                </a:solidFill>
                <a:latin typeface="MiSans"/>
                <a:ea typeface="MiSans"/>
              </a:rPr>
              <a:t>reviewer → review + quiz + notas</a:t>
            </a:r>
            <a:endParaRPr lang="en-US" sz="1600"/>
          </a:p>
        </p:txBody>
      </p:sp>
      <p:sp>
        <p:nvSpPr>
          <p:cNvPr id="14" name="g3"/>
          <p:cNvSpPr/>
          <p:nvPr/>
        </p:nvSpPr>
        <p:spPr>
          <a:xfrm>
            <a:off x="7061200" y="2082800"/>
            <a:ext cx="279400" cy="279400"/>
          </a:xfrm>
          <a:prstGeom prst="diamond">
            <a:avLst/>
          </a:prstGeom>
          <a:solidFill>
            <a:srgbClr val="BC5327"/>
          </a:solidFill>
          <a:ln>
            <a:noFill/>
          </a:ln>
        </p:spPr>
      </p:sp>
      <p:sp>
        <p:nvSpPr>
          <p:cNvPr id="15" name="p4"/>
          <p:cNvSpPr/>
          <p:nvPr/>
        </p:nvSpPr>
        <p:spPr>
          <a:xfrm>
            <a:off x="7416800" y="1803400"/>
            <a:ext cx="1803400" cy="838200"/>
          </a:xfrm>
          <a:prstGeom prst="rect">
            <a:avLst/>
          </a:prstGeom>
          <a:solidFill>
            <a:srgbClr val="EDF1F5"/>
          </a:solidFill>
          <a:ln w="12700">
            <a:solidFill>
              <a:srgbClr val="33506B"/>
            </a:solidFill>
          </a:ln>
        </p:spPr>
      </p:sp>
      <p:sp>
        <p:nvSpPr>
          <p:cNvPr id="16" name="p4-t"/>
          <p:cNvSpPr txBox="1"/>
          <p:nvPr/>
        </p:nvSpPr>
        <p:spPr>
          <a:xfrm>
            <a:off x="7493000" y="1879600"/>
            <a:ext cx="16510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20000"/>
              </a:lnSpc>
            </a:pPr>
            <a:r>
              <a:rPr lang="en-US" sz="1000" b="1">
                <a:solidFill>
                  <a:srgbClr val="24405A"/>
                </a:solidFill>
                <a:latin typeface="MiSans"/>
                <a:ea typeface="MiSans"/>
              </a:rPr>
              <a:t>4 · Benchmark</a:t>
            </a:r>
            <a:endParaRPr lang="en-US" sz="1600"/>
          </a:p>
          <a:p>
            <a:pPr algn="ctr">
              <a:lnSpc>
                <a:spcPct val="120000"/>
              </a:lnSpc>
            </a:pPr>
            <a:r>
              <a:rPr lang="en-US" sz="750">
                <a:solidFill>
                  <a:srgbClr val="8B9199"/>
                </a:solidFill>
                <a:latin typeface="MiSans"/>
                <a:ea typeface="MiSans"/>
              </a:rPr>
              <a:t>benchmarker → N≥3, mediana+CV</a:t>
            </a:r>
            <a:endParaRPr lang="en-US" sz="1600"/>
          </a:p>
        </p:txBody>
      </p:sp>
      <p:sp>
        <p:nvSpPr>
          <p:cNvPr id="17" name="g4"/>
          <p:cNvSpPr/>
          <p:nvPr/>
        </p:nvSpPr>
        <p:spPr>
          <a:xfrm>
            <a:off x="9296400" y="2082800"/>
            <a:ext cx="279400" cy="279400"/>
          </a:xfrm>
          <a:prstGeom prst="diamond">
            <a:avLst/>
          </a:prstGeom>
          <a:solidFill>
            <a:srgbClr val="BC5327"/>
          </a:solidFill>
          <a:ln>
            <a:noFill/>
          </a:ln>
        </p:spPr>
      </p:sp>
      <p:sp>
        <p:nvSpPr>
          <p:cNvPr id="18" name="p5"/>
          <p:cNvSpPr/>
          <p:nvPr/>
        </p:nvSpPr>
        <p:spPr>
          <a:xfrm>
            <a:off x="9652000" y="1803400"/>
            <a:ext cx="1828800" cy="838200"/>
          </a:xfrm>
          <a:prstGeom prst="rect">
            <a:avLst/>
          </a:prstGeom>
          <a:solidFill>
            <a:srgbClr val="EDF1F5"/>
          </a:solidFill>
          <a:ln w="12700">
            <a:solidFill>
              <a:srgbClr val="33506B"/>
            </a:solidFill>
          </a:ln>
        </p:spPr>
      </p:sp>
      <p:sp>
        <p:nvSpPr>
          <p:cNvPr id="19" name="p5-t"/>
          <p:cNvSpPr txBox="1"/>
          <p:nvPr/>
        </p:nvSpPr>
        <p:spPr>
          <a:xfrm>
            <a:off x="9728200" y="1879600"/>
            <a:ext cx="16764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20000"/>
              </a:lnSpc>
            </a:pPr>
            <a:r>
              <a:rPr lang="en-US" sz="1000" b="1">
                <a:solidFill>
                  <a:srgbClr val="24405A"/>
                </a:solidFill>
                <a:latin typeface="MiSans"/>
                <a:ea typeface="MiSans"/>
              </a:rPr>
              <a:t>5 · Evolução</a:t>
            </a:r>
            <a:endParaRPr lang="en-US" sz="1600"/>
          </a:p>
          <a:p>
            <a:pPr algn="ctr">
              <a:lnSpc>
                <a:spcPct val="120000"/>
              </a:lnSpc>
            </a:pPr>
            <a:r>
              <a:rPr lang="en-US" sz="750">
                <a:solidFill>
                  <a:srgbClr val="8B9199"/>
                </a:solidFill>
                <a:latin typeface="MiSans"/>
                <a:ea typeface="MiSans"/>
              </a:rPr>
              <a:t>optimizer → evolution_report.md</a:t>
            </a:r>
            <a:endParaRPr lang="en-US" sz="1600"/>
          </a:p>
        </p:txBody>
      </p:sp>
      <p:sp>
        <p:nvSpPr>
          <p:cNvPr id="20" name="gate-note"/>
          <p:cNvSpPr txBox="1"/>
          <p:nvPr/>
        </p:nvSpPr>
        <p:spPr>
          <a:xfrm>
            <a:off x="711200" y="2743200"/>
            <a:ext cx="10769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900">
                <a:solidFill>
                  <a:srgbClr val="96401E"/>
                </a:solidFill>
                <a:latin typeface="MiSans"/>
                <a:ea typeface="MiSans"/>
              </a:rPr>
              <a:t>◆ = gate do verifier entre CADA fase (contexto zero, sem ferramentas de escrita) · FAIL → produtor acordado com feedback arquivo:linha · status só avança em PASS</a:t>
            </a:r>
            <a:endParaRPr lang="en-US" sz="900"/>
          </a:p>
        </p:txBody>
      </p:sp>
      <p:sp>
        <p:nvSpPr>
          <p:cNvPr id="21" name="conn-line"/>
          <p:cNvSpPr/>
          <p:nvPr>
            <p:extLst>
              <p:ext uri="{F5677B7D-0D2A-4D9B-9A5C-6D8D7D0E5A5D}">
                <pptd:line encoding="base64url">eyJjdXJ2ZSI6InJvdW5kIiwicG9pbnRzIjoiMTAsMCAxMCw3MCIsInZpZXdCb3giOlsyMCw3MF19</pptd:line>
              </p:ext>
            </p:extLst>
          </p:nvPr>
        </p:nvSpPr>
        <p:spPr>
          <a:xfrm>
            <a:off x="1524000" y="2997200"/>
            <a:ext cx="254000" cy="889000"/>
          </a:xfrm>
          <a:custGeom>
            <a:avLst/>
            <a:gdLst/>
            <a:ahLst/>
            <a:cxnLst/>
            <a:rect l="l" t="t" r="r" b="b"/>
            <a:pathLst>
              <a:path w="20" h="70">
                <a:moveTo>
                  <a:pt x="10" y="0"/>
                </a:moveTo>
                <a:lnTo>
                  <a:pt x="10" y="70"/>
                </a:lnTo>
              </a:path>
            </a:pathLst>
          </a:custGeom>
          <a:noFill/>
          <a:ln w="19050" cap="rnd">
            <a:solidFill>
              <a:srgbClr val="BC5327"/>
            </a:solidFill>
            <a:prstDash val="dash"/>
            <a:round/>
            <a:tailEnd type="stealth"/>
          </a:ln>
        </p:spPr>
      </p:sp>
      <p:sp>
        <p:nvSpPr>
          <p:cNvPr id="22" name="conn-label"/>
          <p:cNvSpPr txBox="1"/>
          <p:nvPr/>
        </p:nvSpPr>
        <p:spPr>
          <a:xfrm>
            <a:off x="1879600" y="3124200"/>
            <a:ext cx="5080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35000"/>
              </a:lnSpc>
            </a:pPr>
            <a:r>
              <a:rPr lang="en-US" sz="950" b="1">
                <a:solidFill>
                  <a:srgbClr val="454A51"/>
                </a:solidFill>
                <a:latin typeface="MiSans"/>
                <a:ea typeface="MiSans"/>
              </a:rPr>
              <a:t>Os loops encontram-se no diagnóstico:</a:t>
            </a:r>
            <a:r>
              <a:rPr lang="en-US" sz="950">
                <a:solidFill>
                  <a:srgbClr val="454A51"/>
                </a:solidFill>
                <a:latin typeface="MiSans"/>
                <a:ea typeface="MiSans"/>
              </a:rPr>
              <a:t> o </a:t>
            </a:r>
            <a:r>
              <a:rPr lang="en-US" sz="950">
                <a:solidFill>
                  <a:srgbClr val="96401E"/>
                </a:solidFill>
                <a:latin typeface="MiSans"/>
                <a:ea typeface="MiSans"/>
              </a:rPr>
              <a:t>docs/diagnostic.md</a:t>
            </a:r>
            <a:r>
              <a:rPr lang="en-US" sz="950">
                <a:solidFill>
                  <a:srgbClr val="454A51"/>
                </a:solidFill>
                <a:latin typeface="MiSans"/>
                <a:ea typeface="MiSans"/>
              </a:rPr>
              <a:t> de cada projeto é o desafio do learning gate. A tentativa vai para </a:t>
            </a:r>
            <a:r>
              <a:rPr lang="en-US" sz="950">
                <a:solidFill>
                  <a:srgbClr val="96401E"/>
                </a:solidFill>
                <a:latin typeface="MiSans"/>
                <a:ea typeface="MiSans"/>
              </a:rPr>
              <a:t>learner/attempts/</a:t>
            </a:r>
            <a:r>
              <a:rPr lang="en-US" sz="950">
                <a:solidFill>
                  <a:srgbClr val="454A51"/>
                </a:solidFill>
                <a:latin typeface="MiSans"/>
                <a:ea typeface="MiSans"/>
              </a:rPr>
              <a:t>, a Sonda avalia, e só então </a:t>
            </a:r>
            <a:r>
              <a:rPr lang="en-US" sz="950">
                <a:solidFill>
                  <a:srgbClr val="96401E"/>
                </a:solidFill>
                <a:latin typeface="MiSans"/>
                <a:ea typeface="MiSans"/>
              </a:rPr>
              <a:t>implementation_blocked</a:t>
            </a:r>
            <a:r>
              <a:rPr lang="en-US" sz="950">
                <a:solidFill>
                  <a:srgbClr val="454A51"/>
                </a:solidFill>
                <a:latin typeface="MiSans"/>
                <a:ea typeface="MiSans"/>
              </a:rPr>
              <a:t> vira false.</a:t>
            </a:r>
            <a:endParaRPr lang="en-US" sz="950"/>
          </a:p>
        </p:txBody>
      </p:sp>
      <p:sp>
        <p:nvSpPr>
          <p:cNvPr id="23" name="status-note"/>
          <p:cNvSpPr txBox="1"/>
          <p:nvPr/>
        </p:nvSpPr>
        <p:spPr>
          <a:xfrm>
            <a:off x="7366000" y="3124200"/>
            <a:ext cx="41148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35000"/>
              </a:lnSpc>
            </a:pPr>
            <a:r>
              <a:rPr lang="en-US" sz="900" b="1">
                <a:solidFill>
                  <a:srgbClr val="8B9199"/>
                </a:solidFill>
                <a:latin typeface="MiSans"/>
                <a:ea typeface="MiSans"/>
              </a:rPr>
              <a:t>Estado real hoje:</a:t>
            </a: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 pipeline em </a:t>
            </a:r>
            <a:r>
              <a:rPr lang="en-US" sz="900">
                <a:solidFill>
                  <a:srgbClr val="96401E"/>
                </a:solidFill>
                <a:latin typeface="MiSans"/>
                <a:ea typeface="MiSans"/>
              </a:rPr>
              <a:t>cycle-complete</a:t>
            </a: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 (02_key_value_store), aguardando next-curator; unidade ativa U2-key-value-store em </a:t>
            </a:r>
            <a:r>
              <a:rPr lang="en-US" sz="900">
                <a:solidFill>
                  <a:srgbClr val="96401E"/>
                </a:solidFill>
                <a:latin typeface="MiSans"/>
                <a:ea typeface="MiSans"/>
              </a:rPr>
              <a:t>avaliando</a:t>
            </a: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.</a:t>
            </a:r>
            <a:endParaRPr lang="en-US" sz="900"/>
          </a:p>
        </p:txBody>
      </p:sp>
      <p:sp>
        <p:nvSpPr>
          <p:cNvPr id="24" name="loop2-head"/>
          <p:cNvSpPr txBox="1"/>
          <p:nvPr/>
        </p:nvSpPr>
        <p:spPr>
          <a:xfrm>
            <a:off x="711200" y="39370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050" b="1" spc="120" kern="0">
                <a:solidFill>
                  <a:srgbClr val="33506B"/>
                </a:solidFill>
                <a:latin typeface="MiSans"/>
                <a:ea typeface="MiSans"/>
              </a:rPr>
              <a:t>LOOP 2 · LEARNING GATE POR UNIDADE — learner/learning_state.yaml</a:t>
            </a:r>
            <a:endParaRPr lang="en-US" sz="1050"/>
          </a:p>
        </p:txBody>
      </p:sp>
      <p:sp>
        <p:nvSpPr>
          <p:cNvPr id="25" name="q1"/>
          <p:cNvSpPr/>
          <p:nvPr/>
        </p:nvSpPr>
        <p:spPr>
          <a:xfrm>
            <a:off x="711200" y="4216400"/>
            <a:ext cx="2260600" cy="660400"/>
          </a:xfrm>
          <a:prstGeom prst="rect">
            <a:avLst/>
          </a:prstGeom>
          <a:solidFill>
            <a:srgbClr val="EDF1F5"/>
          </a:solidFill>
          <a:ln w="12700">
            <a:solidFill>
              <a:srgbClr val="33506B"/>
            </a:solidFill>
          </a:ln>
        </p:spPr>
      </p:sp>
      <p:sp>
        <p:nvSpPr>
          <p:cNvPr id="26" name="q1-t"/>
          <p:cNvSpPr txBox="1"/>
          <p:nvPr/>
        </p:nvSpPr>
        <p:spPr>
          <a:xfrm>
            <a:off x="787400" y="4279900"/>
            <a:ext cx="21082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20000"/>
              </a:lnSpc>
            </a:pPr>
            <a:r>
              <a:rPr lang="en-US" sz="1050" b="1">
                <a:solidFill>
                  <a:srgbClr val="24405A"/>
                </a:solidFill>
                <a:latin typeface="MiSans"/>
                <a:ea typeface="MiSans"/>
              </a:rPr>
              <a:t>apresentando</a:t>
            </a:r>
            <a:endParaRPr lang="en-US" sz="1600"/>
          </a:p>
          <a:p>
            <a:pPr algn="ctr">
              <a:lnSpc>
                <a:spcPct val="120000"/>
              </a:lnSpc>
            </a:pPr>
            <a:r>
              <a:rPr lang="en-US" sz="800">
                <a:solidFill>
                  <a:srgbClr val="8B9199"/>
                </a:solidFill>
                <a:latin typeface="MiSans"/>
                <a:ea typeface="MiSans"/>
              </a:rPr>
              <a:t>Sonda: diagnóstico 10–15 min</a:t>
            </a:r>
            <a:endParaRPr lang="en-US" sz="1600"/>
          </a:p>
        </p:txBody>
      </p:sp>
      <p:sp>
        <p:nvSpPr>
          <p:cNvPr id="27" name="qa1"/>
          <p:cNvSpPr/>
          <p:nvPr>
            <p:extLst>
              <p:ext uri="{F5677B7D-0D2A-4D9B-9A5C-6D8D7D0E5A5D}">
                <pptd:line encoding="base64url">eyJjdXJ2ZSI6InJvdW5kIiwicG9pbnRzIjoiMCw2IDMwLDYiLCJ2aWV3Qm94IjpbMzAsMTJdfQ</pptd:line>
              </p:ext>
            </p:extLst>
          </p:nvPr>
        </p:nvSpPr>
        <p:spPr>
          <a:xfrm>
            <a:off x="2971800" y="4470400"/>
            <a:ext cx="381000" cy="152400"/>
          </a:xfrm>
          <a:custGeom>
            <a:avLst/>
            <a:gdLst/>
            <a:ahLst/>
            <a:cxnLst/>
            <a:rect l="l" t="t" r="r" b="b"/>
            <a:pathLst>
              <a:path w="30" h="12">
                <a:moveTo>
                  <a:pt x="0" y="6"/>
                </a:moveTo>
                <a:lnTo>
                  <a:pt x="30" y="6"/>
                </a:lnTo>
              </a:path>
            </a:pathLst>
          </a:custGeom>
          <a:noFill/>
          <a:ln w="25400" cap="rnd">
            <a:solidFill>
              <a:srgbClr val="8B9199"/>
            </a:solidFill>
            <a:round/>
            <a:tailEnd type="stealth"/>
          </a:ln>
        </p:spPr>
      </p:sp>
      <p:sp>
        <p:nvSpPr>
          <p:cNvPr id="28" name="q2"/>
          <p:cNvSpPr/>
          <p:nvPr/>
        </p:nvSpPr>
        <p:spPr>
          <a:xfrm>
            <a:off x="3352800" y="4216400"/>
            <a:ext cx="2260600" cy="660400"/>
          </a:xfrm>
          <a:prstGeom prst="rect">
            <a:avLst/>
          </a:prstGeom>
          <a:solidFill>
            <a:srgbClr val="EDF1F5"/>
          </a:solidFill>
          <a:ln w="12700">
            <a:solidFill>
              <a:srgbClr val="33506B"/>
            </a:solidFill>
          </a:ln>
        </p:spPr>
      </p:sp>
      <p:sp>
        <p:nvSpPr>
          <p:cNvPr id="29" name="q2-t"/>
          <p:cNvSpPr txBox="1"/>
          <p:nvPr/>
        </p:nvSpPr>
        <p:spPr>
          <a:xfrm>
            <a:off x="3429000" y="4279900"/>
            <a:ext cx="21082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20000"/>
              </a:lnSpc>
            </a:pPr>
            <a:r>
              <a:rPr lang="en-US" sz="1050" b="1">
                <a:solidFill>
                  <a:srgbClr val="24405A"/>
                </a:solidFill>
                <a:latin typeface="MiSans"/>
                <a:ea typeface="MiSans"/>
              </a:rPr>
              <a:t>praticando</a:t>
            </a:r>
            <a:endParaRPr lang="en-US" sz="1600"/>
          </a:p>
          <a:p>
            <a:pPr algn="ctr">
              <a:lnSpc>
                <a:spcPct val="120000"/>
              </a:lnSpc>
            </a:pPr>
            <a:r>
              <a:rPr lang="en-US" sz="800">
                <a:solidFill>
                  <a:srgbClr val="8B9199"/>
                </a:solidFill>
                <a:latin typeface="MiSans"/>
                <a:ea typeface="MiSans"/>
              </a:rPr>
              <a:t>tentativa do aprendiz (attempts/)</a:t>
            </a:r>
            <a:endParaRPr lang="en-US" sz="1600"/>
          </a:p>
        </p:txBody>
      </p:sp>
      <p:sp>
        <p:nvSpPr>
          <p:cNvPr id="30" name="qa2"/>
          <p:cNvSpPr/>
          <p:nvPr>
            <p:extLst>
              <p:ext uri="{F5677B7D-0D2A-4D9B-9A5C-6D8D7D0E5A5D}">
                <pptd:line encoding="base64url">eyJjdXJ2ZSI6InJvdW5kIiwicG9pbnRzIjoiMCw2IDMwLDYiLCJ2aWV3Qm94IjpbMzAsMTJdfQ</pptd:line>
              </p:ext>
            </p:extLst>
          </p:nvPr>
        </p:nvSpPr>
        <p:spPr>
          <a:xfrm>
            <a:off x="5613400" y="4470400"/>
            <a:ext cx="381000" cy="152400"/>
          </a:xfrm>
          <a:custGeom>
            <a:avLst/>
            <a:gdLst/>
            <a:ahLst/>
            <a:cxnLst/>
            <a:rect l="l" t="t" r="r" b="b"/>
            <a:pathLst>
              <a:path w="30" h="12">
                <a:moveTo>
                  <a:pt x="0" y="6"/>
                </a:moveTo>
                <a:lnTo>
                  <a:pt x="30" y="6"/>
                </a:lnTo>
              </a:path>
            </a:pathLst>
          </a:custGeom>
          <a:noFill/>
          <a:ln w="25400" cap="rnd">
            <a:solidFill>
              <a:srgbClr val="8B9199"/>
            </a:solidFill>
            <a:round/>
            <a:tailEnd type="stealth"/>
          </a:ln>
        </p:spPr>
      </p:sp>
      <p:sp>
        <p:nvSpPr>
          <p:cNvPr id="31" name="q3"/>
          <p:cNvSpPr/>
          <p:nvPr/>
        </p:nvSpPr>
        <p:spPr>
          <a:xfrm>
            <a:off x="5994400" y="4216400"/>
            <a:ext cx="2260600" cy="660400"/>
          </a:xfrm>
          <a:prstGeom prst="rect">
            <a:avLst/>
          </a:prstGeom>
          <a:solidFill>
            <a:srgbClr val="F8EAE1"/>
          </a:solidFill>
          <a:ln w="19050">
            <a:solidFill>
              <a:srgbClr val="BC5327"/>
            </a:solidFill>
          </a:ln>
        </p:spPr>
      </p:sp>
      <p:sp>
        <p:nvSpPr>
          <p:cNvPr id="32" name="q3-t"/>
          <p:cNvSpPr txBox="1"/>
          <p:nvPr/>
        </p:nvSpPr>
        <p:spPr>
          <a:xfrm>
            <a:off x="6070600" y="4279900"/>
            <a:ext cx="21082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20000"/>
              </a:lnSpc>
            </a:pPr>
            <a:r>
              <a:rPr lang="en-US" sz="1050" b="1">
                <a:solidFill>
                  <a:srgbClr val="96401E"/>
                </a:solidFill>
                <a:latin typeface="MiSans"/>
                <a:ea typeface="MiSans"/>
              </a:rPr>
              <a:t>avaliando</a:t>
            </a:r>
            <a:endParaRPr lang="en-US" sz="1600"/>
          </a:p>
          <a:p>
            <a:pPr algn="ctr">
              <a:lnSpc>
                <a:spcPct val="120000"/>
              </a:lnSpc>
            </a:pPr>
            <a:r>
              <a:rPr lang="en-US" sz="800">
                <a:solidFill>
                  <a:srgbClr val="96401E"/>
                </a:solidFill>
                <a:latin typeface="MiSans"/>
                <a:ea typeface="MiSans"/>
              </a:rPr>
              <a:t>evidência executável + verificador</a:t>
            </a:r>
            <a:endParaRPr lang="en-US" sz="1600"/>
          </a:p>
        </p:txBody>
      </p:sp>
      <p:sp>
        <p:nvSpPr>
          <p:cNvPr id="33" name="qa3"/>
          <p:cNvSpPr/>
          <p:nvPr>
            <p:extLst>
              <p:ext uri="{F5677B7D-0D2A-4D9B-9A5C-6D8D7D0E5A5D}">
                <pptd:line encoding="base64url">eyJjdXJ2ZSI6InJvdW5kIiwicG9pbnRzIjoiMCw2IDMwLDYiLCJ2aWV3Qm94IjpbMzAsMTJdfQ</pptd:line>
              </p:ext>
            </p:extLst>
          </p:nvPr>
        </p:nvSpPr>
        <p:spPr>
          <a:xfrm>
            <a:off x="8255000" y="4470400"/>
            <a:ext cx="381000" cy="152400"/>
          </a:xfrm>
          <a:custGeom>
            <a:avLst/>
            <a:gdLst/>
            <a:ahLst/>
            <a:cxnLst/>
            <a:rect l="l" t="t" r="r" b="b"/>
            <a:pathLst>
              <a:path w="30" h="12">
                <a:moveTo>
                  <a:pt x="0" y="6"/>
                </a:moveTo>
                <a:lnTo>
                  <a:pt x="30" y="6"/>
                </a:lnTo>
              </a:path>
            </a:pathLst>
          </a:custGeom>
          <a:noFill/>
          <a:ln w="25400" cap="rnd">
            <a:solidFill>
              <a:srgbClr val="2F7D4F"/>
            </a:solidFill>
            <a:round/>
            <a:tailEnd type="stealth"/>
          </a:ln>
        </p:spPr>
      </p:sp>
      <p:sp>
        <p:nvSpPr>
          <p:cNvPr id="34" name="q4"/>
          <p:cNvSpPr/>
          <p:nvPr/>
        </p:nvSpPr>
        <p:spPr>
          <a:xfrm>
            <a:off x="8636000" y="4216400"/>
            <a:ext cx="2260600" cy="660400"/>
          </a:xfrm>
          <a:prstGeom prst="rect">
            <a:avLst/>
          </a:prstGeom>
          <a:solidFill>
            <a:srgbClr val="E9F3EC"/>
          </a:solidFill>
          <a:ln w="19050">
            <a:solidFill>
              <a:srgbClr val="2F7D4F"/>
            </a:solidFill>
          </a:ln>
        </p:spPr>
      </p:sp>
      <p:sp>
        <p:nvSpPr>
          <p:cNvPr id="35" name="q4-t"/>
          <p:cNvSpPr txBox="1"/>
          <p:nvPr/>
        </p:nvSpPr>
        <p:spPr>
          <a:xfrm>
            <a:off x="8712200" y="4279900"/>
            <a:ext cx="21082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20000"/>
              </a:lnSpc>
            </a:pPr>
            <a:r>
              <a:rPr lang="en-US" sz="1050" b="1">
                <a:solidFill>
                  <a:srgbClr val="2F7D4F"/>
                </a:solidFill>
                <a:latin typeface="MiSans"/>
                <a:ea typeface="MiSans"/>
              </a:rPr>
              <a:t>dominado</a:t>
            </a:r>
            <a:endParaRPr lang="en-US" sz="1600"/>
          </a:p>
          <a:p>
            <a:pPr algn="ctr">
              <a:lnSpc>
                <a:spcPct val="120000"/>
              </a:lnSpc>
            </a:pPr>
            <a:r>
              <a:rPr lang="en-US" sz="800">
                <a:solidFill>
                  <a:srgbClr val="8B9199"/>
                </a:solidFill>
                <a:latin typeface="MiSans"/>
                <a:ea typeface="MiSans"/>
              </a:rPr>
              <a:t>retry_limit: 3 → depois Sêneca</a:t>
            </a:r>
            <a:endParaRPr lang="en-US" sz="1600"/>
          </a:p>
        </p:txBody>
      </p:sp>
      <p:sp>
        <p:nvSpPr>
          <p:cNvPr id="36" name="loop2-note"/>
          <p:cNvSpPr txBox="1"/>
          <p:nvPr/>
        </p:nvSpPr>
        <p:spPr>
          <a:xfrm>
            <a:off x="711200" y="5003800"/>
            <a:ext cx="10769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FAIL com retries → variação e retorno a apresentando · o gate é o único produtor de rating (fail→again, pass_retried→hard, pass_first_try→good, pass_exceeds→easy) → FSRS agenda a revisão</a:t>
            </a:r>
            <a:endParaRPr lang="en-US" sz="900"/>
          </a:p>
        </p:txBody>
      </p:sp>
      <p:sp>
        <p:nvSpPr>
          <p:cNvPr id="37" name="divider"/>
          <p:cNvSpPr/>
          <p:nvPr>
            <p:extLst>
              <p:ext uri="{F5677B7D-0D2A-4D9B-9A5C-6D8D7D0E5A5D}">
                <pptd:line encoding="base64url">eyJjdXJ2ZSI6InJvdW5kIiwicG9pbnRzIjoiMCwxIDg0OCwxIiwidmlld0JveCI6Wzg0OCwyXX0</pptd:line>
              </p:ext>
            </p:extLst>
          </p:nvPr>
        </p:nvSpPr>
        <p:spPr>
          <a:xfrm>
            <a:off x="711200" y="5410200"/>
            <a:ext cx="10769600" cy="25400"/>
          </a:xfrm>
          <a:custGeom>
            <a:avLst/>
            <a:gdLst/>
            <a:ahLst/>
            <a:cxnLst/>
            <a:rect l="l" t="t" r="r" b="b"/>
            <a:pathLst>
              <a:path w="848" h="2">
                <a:moveTo>
                  <a:pt x="0" y="1"/>
                </a:moveTo>
                <a:lnTo>
                  <a:pt x="848" y="1"/>
                </a:lnTo>
              </a:path>
            </a:pathLst>
          </a:custGeom>
          <a:noFill/>
          <a:ln w="12700" cap="rnd">
            <a:solidFill>
              <a:srgbClr val="E3E6EA"/>
            </a:solidFill>
            <a:round/>
          </a:ln>
        </p:spPr>
      </p:sp>
      <p:sp>
        <p:nvSpPr>
          <p:cNvPr id="38" name="summary"/>
          <p:cNvSpPr txBox="1"/>
          <p:nvPr/>
        </p:nvSpPr>
        <p:spPr>
          <a:xfrm>
            <a:off x="711200" y="5562600"/>
            <a:ext cx="107696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5000"/>
              </a:lnSpc>
            </a:pPr>
            <a:r>
              <a:rPr lang="en-US" sz="1150">
                <a:solidFill>
                  <a:srgbClr val="454A51"/>
                </a:solidFill>
                <a:latin typeface="MiSans"/>
                <a:ea typeface="MiSans"/>
              </a:rPr>
              <a:t>O loop de software </a:t>
            </a:r>
            <a:r>
              <a:rPr lang="en-US" sz="1150" b="1">
                <a:solidFill>
                  <a:srgbClr val="454A51"/>
                </a:solidFill>
                <a:latin typeface="MiSans"/>
                <a:ea typeface="MiSans"/>
              </a:rPr>
              <a:t>produz os artefatos do currículo</a:t>
            </a:r>
            <a:r>
              <a:rPr lang="en-US" sz="1150">
                <a:solidFill>
                  <a:srgbClr val="454A51"/>
                </a:solidFill>
                <a:latin typeface="MiSans"/>
                <a:ea typeface="MiSans"/>
              </a:rPr>
              <a:t> sob gates de verificador por fase; o loop de aprendizado </a:t>
            </a:r>
            <a:r>
              <a:rPr lang="en-US" sz="1150" b="1">
                <a:solidFill>
                  <a:srgbClr val="454A51"/>
                </a:solidFill>
                <a:latin typeface="MiSans"/>
                <a:ea typeface="MiSans"/>
              </a:rPr>
              <a:t>certifica o aprendiz</a:t>
            </a:r>
            <a:r>
              <a:rPr lang="en-US" sz="1150">
                <a:solidFill>
                  <a:srgbClr val="454A51"/>
                </a:solidFill>
                <a:latin typeface="MiSans"/>
                <a:ea typeface="MiSans"/>
              </a:rPr>
              <a:t> por unidade. Duas máquinas de estado distintas, dois arquivos canônicos — e vocabulário proibido de misturar: </a:t>
            </a:r>
            <a:r>
              <a:rPr lang="en-US" sz="1150" i="1">
                <a:solidFill>
                  <a:srgbClr val="454A51"/>
                </a:solidFill>
                <a:latin typeface="MiSans"/>
                <a:ea typeface="MiSans"/>
              </a:rPr>
              <a:t>phase</a:t>
            </a:r>
            <a:r>
              <a:rPr lang="en-US" sz="1150">
                <a:solidFill>
                  <a:srgbClr val="454A51"/>
                </a:solidFill>
                <a:latin typeface="MiSans"/>
                <a:ea typeface="MiSans"/>
              </a:rPr>
              <a:t> é do pipeline, </a:t>
            </a:r>
            <a:r>
              <a:rPr lang="en-US" sz="1150" i="1">
                <a:solidFill>
                  <a:srgbClr val="454A51"/>
                </a:solidFill>
                <a:latin typeface="MiSans"/>
                <a:ea typeface="MiSans"/>
              </a:rPr>
              <a:t>learning state</a:t>
            </a:r>
            <a:r>
              <a:rPr lang="en-US" sz="1150">
                <a:solidFill>
                  <a:srgbClr val="454A51"/>
                </a:solidFill>
                <a:latin typeface="MiSans"/>
                <a:ea typeface="MiSans"/>
              </a:rPr>
              <a:t> é da jornada.</a:t>
            </a:r>
            <a:endParaRPr lang="en-US" sz="1150"/>
          </a:p>
        </p:txBody>
      </p:sp>
      <p:sp>
        <p:nvSpPr>
          <p:cNvPr id="39" name="footer-lin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E3E6EA"/>
          </a:solidFill>
          <a:ln>
            <a:noFill/>
          </a:ln>
        </p:spPr>
      </p:sp>
      <p:sp>
        <p:nvSpPr>
          <p:cNvPr id="40" name="footer-left"/>
          <p:cNvSpPr txBox="1"/>
          <p:nvPr/>
        </p:nvSpPr>
        <p:spPr>
          <a:xfrm>
            <a:off x="711200" y="6553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35000"/>
              </a:lnSpc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AI DEVSCHOOL — COMO FUNCIONA</a:t>
            </a:r>
            <a:endParaRPr lang="en-US" sz="900"/>
          </a:p>
        </p:txBody>
      </p:sp>
      <p:sp>
        <p:nvSpPr>
          <p:cNvPr id="41" name="footer-page"/>
          <p:cNvSpPr txBox="1"/>
          <p:nvPr/>
        </p:nvSpPr>
        <p:spPr>
          <a:xfrm>
            <a:off x="10414000" y="6553200"/>
            <a:ext cx="106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35000"/>
              </a:lnSpc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07</a:t>
            </a:r>
            <a:endParaRPr lang="en-US" sz="9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 b="1" spc="250" kern="0">
                <a:solidFill>
                  <a:srgbClr val="BC5327"/>
                </a:solidFill>
                <a:latin typeface="MiSans"/>
                <a:ea typeface="MiSans"/>
              </a:rPr>
              <a:t>07 · SUBSTRATO LEARNER/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11200" y="7112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15000"/>
              </a:lnSpc>
            </a:pPr>
            <a:r>
              <a:rPr lang="en-US" sz="2600" b="1">
                <a:solidFill>
                  <a:srgbClr val="1B1E23"/>
                </a:solidFill>
                <a:latin typeface="MiSans"/>
                <a:ea typeface="MiSans"/>
              </a:rPr>
              <a:t>Canônico → validação → sync → projeções derivadas</a:t>
            </a:r>
            <a:endParaRPr lang="en-US" sz="2600"/>
          </a:p>
        </p:txBody>
      </p:sp>
      <p:sp>
        <p:nvSpPr>
          <p:cNvPr id="4" name="title-rule"/>
          <p:cNvSpPr/>
          <p:nvPr/>
        </p:nvSpPr>
        <p:spPr>
          <a:xfrm>
            <a:off x="711200" y="1295400"/>
            <a:ext cx="711200" cy="38100"/>
          </a:xfrm>
          <a:prstGeom prst="rect">
            <a:avLst/>
          </a:prstGeom>
          <a:solidFill>
            <a:srgbClr val="BC5327"/>
          </a:solidFill>
          <a:ln>
            <a:noFill/>
          </a:ln>
        </p:spPr>
      </p:sp>
      <p:sp>
        <p:nvSpPr>
          <p:cNvPr id="5" name="src1"/>
          <p:cNvSpPr/>
          <p:nvPr/>
        </p:nvSpPr>
        <p:spPr>
          <a:xfrm>
            <a:off x="711200" y="1676400"/>
            <a:ext cx="3048000" cy="939800"/>
          </a:xfrm>
          <a:prstGeom prst="rect">
            <a:avLst/>
          </a:prstGeom>
          <a:solidFill>
            <a:srgbClr val="F8EAE1"/>
          </a:solidFill>
          <a:ln w="19050">
            <a:solidFill>
              <a:srgbClr val="BC5327"/>
            </a:solidFill>
          </a:ln>
        </p:spPr>
      </p:sp>
      <p:sp>
        <p:nvSpPr>
          <p:cNvPr id="6" name="src1-t"/>
          <p:cNvSpPr txBox="1"/>
          <p:nvPr/>
        </p:nvSpPr>
        <p:spPr>
          <a:xfrm>
            <a:off x="838200" y="1765300"/>
            <a:ext cx="2794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20000"/>
              </a:lnSpc>
            </a:pPr>
            <a:r>
              <a:rPr lang="en-US" sz="1050" b="1">
                <a:solidFill>
                  <a:srgbClr val="96401E"/>
                </a:solidFill>
                <a:latin typeface="MiSans"/>
                <a:ea typeface="MiSans"/>
              </a:rPr>
              <a:t>learner/learning_state.yaml</a:t>
            </a:r>
            <a:endParaRPr lang="en-US" sz="1600"/>
          </a:p>
          <a:p>
            <a:pPr algn="l">
              <a:lnSpc>
                <a:spcPct val="120000"/>
              </a:lnSpc>
            </a:pPr>
            <a:r>
              <a:rPr lang="en-US" sz="850">
                <a:solidFill>
                  <a:srgbClr val="454A51"/>
                </a:solidFill>
                <a:latin typeface="MiSans"/>
                <a:ea typeface="MiSans"/>
              </a:rPr>
              <a:t>fonte canônica do aprendiz: máquina de estados, gate, AIDI, units_log, streak</a:t>
            </a:r>
            <a:endParaRPr lang="en-US" sz="1600"/>
          </a:p>
        </p:txBody>
      </p:sp>
      <p:sp>
        <p:nvSpPr>
          <p:cNvPr id="7" name="src2"/>
          <p:cNvSpPr/>
          <p:nvPr/>
        </p:nvSpPr>
        <p:spPr>
          <a:xfrm>
            <a:off x="711200" y="2768600"/>
            <a:ext cx="3048000" cy="711200"/>
          </a:xfrm>
          <a:prstGeom prst="rect">
            <a:avLst/>
          </a:prstGeom>
          <a:solidFill>
            <a:srgbClr val="F8EAE1"/>
          </a:solidFill>
          <a:ln w="19050">
            <a:solidFill>
              <a:srgbClr val="BC5327"/>
            </a:solidFill>
          </a:ln>
        </p:spPr>
      </p:sp>
      <p:sp>
        <p:nvSpPr>
          <p:cNvPr id="8" name="src2-t"/>
          <p:cNvSpPr txBox="1"/>
          <p:nvPr/>
        </p:nvSpPr>
        <p:spPr>
          <a:xfrm>
            <a:off x="838200" y="2844800"/>
            <a:ext cx="2794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050" b="1">
                <a:solidFill>
                  <a:srgbClr val="96401E"/>
                </a:solidFill>
                <a:latin typeface="MiSans"/>
                <a:ea typeface="MiSans"/>
              </a:rPr>
              <a:t>curriculum/catalog.md</a:t>
            </a:r>
            <a:endParaRPr lang="en-US" sz="1600"/>
          </a:p>
          <a:p>
            <a:pPr algn="l">
              <a:lnSpc>
                <a:spcPct val="120000"/>
              </a:lnSpc>
            </a:pPr>
            <a:r>
              <a:rPr lang="en-US" sz="850">
                <a:solidFill>
                  <a:srgbClr val="454A51"/>
                </a:solidFill>
                <a:latin typeface="MiSans"/>
                <a:ea typeface="MiSans"/>
              </a:rPr>
              <a:t>fonte canônica dos 18 projetos</a:t>
            </a:r>
            <a:endParaRPr lang="en-US" sz="1600"/>
          </a:p>
        </p:txBody>
      </p:sp>
      <p:sp>
        <p:nvSpPr>
          <p:cNvPr id="9" name="src3"/>
          <p:cNvSpPr/>
          <p:nvPr/>
        </p:nvSpPr>
        <p:spPr>
          <a:xfrm>
            <a:off x="711200" y="3632200"/>
            <a:ext cx="3048000" cy="711200"/>
          </a:xfrm>
          <a:prstGeom prst="rect">
            <a:avLst/>
          </a:prstGeom>
          <a:solidFill>
            <a:srgbClr val="F8EAE1"/>
          </a:solidFill>
          <a:ln w="19050">
            <a:solidFill>
              <a:srgbClr val="BC5327"/>
            </a:solidFill>
          </a:ln>
        </p:spPr>
      </p:sp>
      <p:sp>
        <p:nvSpPr>
          <p:cNvPr id="10" name="src3-t"/>
          <p:cNvSpPr txBox="1"/>
          <p:nvPr/>
        </p:nvSpPr>
        <p:spPr>
          <a:xfrm>
            <a:off x="838200" y="3708400"/>
            <a:ext cx="2794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1050" b="1">
                <a:solidFill>
                  <a:srgbClr val="96401E"/>
                </a:solidFill>
                <a:latin typeface="MiSans"/>
                <a:ea typeface="MiSans"/>
              </a:rPr>
              <a:t>perfil · pitfalls · journal · predictions</a:t>
            </a:r>
            <a:endParaRPr lang="en-US" sz="1600"/>
          </a:p>
          <a:p>
            <a:pPr algn="l">
              <a:lnSpc>
                <a:spcPct val="120000"/>
              </a:lnSpc>
            </a:pPr>
            <a:r>
              <a:rPr lang="en-US" sz="850">
                <a:solidFill>
                  <a:srgbClr val="454A51"/>
                </a:solidFill>
                <a:latin typeface="MiSans"/>
                <a:ea typeface="MiSans"/>
              </a:rPr>
              <a:t>memória append-only do aprendiz</a:t>
            </a:r>
            <a:endParaRPr lang="en-US" sz="1600"/>
          </a:p>
        </p:txBody>
      </p:sp>
      <p:sp>
        <p:nvSpPr>
          <p:cNvPr id="11" name="fa1"/>
          <p:cNvSpPr/>
          <p:nvPr>
            <p:extLst>
              <p:ext uri="{F5677B7D-0D2A-4D9B-9A5C-6D8D7D0E5A5D}">
                <pptd:line encoding="base64url">eyJjdXJ2ZSI6InJvdW5kIiwicG9pbnRzIjoiMCw3IDM0LDciLCJ2aWV3Qm94IjpbMzQsMTRdfQ</pptd:line>
              </p:ext>
            </p:extLst>
          </p:nvPr>
        </p:nvSpPr>
        <p:spPr>
          <a:xfrm>
            <a:off x="3759200" y="2844800"/>
            <a:ext cx="431800" cy="177800"/>
          </a:xfrm>
          <a:custGeom>
            <a:avLst/>
            <a:gdLst/>
            <a:ahLst/>
            <a:cxnLst/>
            <a:rect l="l" t="t" r="r" b="b"/>
            <a:pathLst>
              <a:path w="34" h="14">
                <a:moveTo>
                  <a:pt x="0" y="7"/>
                </a:moveTo>
                <a:lnTo>
                  <a:pt x="34" y="7"/>
                </a:lnTo>
              </a:path>
            </a:pathLst>
          </a:custGeom>
          <a:noFill/>
          <a:ln w="25400" cap="rnd">
            <a:solidFill>
              <a:srgbClr val="8B9199"/>
            </a:solidFill>
            <a:round/>
            <a:tailEnd type="stealth"/>
          </a:ln>
        </p:spPr>
      </p:sp>
      <p:sp>
        <p:nvSpPr>
          <p:cNvPr id="12" name="val-box"/>
          <p:cNvSpPr/>
          <p:nvPr/>
        </p:nvSpPr>
        <p:spPr>
          <a:xfrm>
            <a:off x="4191000" y="2286000"/>
            <a:ext cx="1905000" cy="1320800"/>
          </a:xfrm>
          <a:prstGeom prst="rect">
            <a:avLst/>
          </a:prstGeom>
          <a:solidFill>
            <a:srgbClr val="1B1E23"/>
          </a:solidFill>
          <a:ln>
            <a:noFill/>
          </a:ln>
        </p:spPr>
      </p:sp>
      <p:sp>
        <p:nvSpPr>
          <p:cNvPr id="13" name="val-t"/>
          <p:cNvSpPr txBox="1"/>
          <p:nvPr/>
        </p:nvSpPr>
        <p:spPr>
          <a:xfrm>
            <a:off x="4318000" y="2387600"/>
            <a:ext cx="16510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20000"/>
              </a:lnSpc>
            </a:pPr>
            <a:r>
              <a:rPr lang="en-US" sz="1100" b="1">
                <a:solidFill>
                  <a:srgbClr val="F2B794"/>
                </a:solidFill>
                <a:latin typeface="MiSans"/>
                <a:ea typeface="MiSans"/>
              </a:rPr>
              <a:t>validate()</a:t>
            </a:r>
            <a:endParaRPr lang="en-US" sz="1600"/>
          </a:p>
          <a:p>
            <a:pPr algn="ctr">
              <a:lnSpc>
                <a:spcPct val="120000"/>
              </a:lnSpc>
              <a:spcBef>
                <a:spcPts val="500"/>
              </a:spcBef>
            </a:pPr>
            <a:r>
              <a:rPr lang="en-US" sz="850">
                <a:solidFill>
                  <a:srgbClr val="D8DDE3"/>
                </a:solidFill>
                <a:latin typeface="MiSans"/>
                <a:ea typeface="MiSans"/>
              </a:rPr>
              <a:t>invariantes duras; estado inválido aborta — nunca repara silenciosamente</a:t>
            </a:r>
            <a:endParaRPr lang="en-US" sz="1600"/>
          </a:p>
        </p:txBody>
      </p:sp>
      <p:sp>
        <p:nvSpPr>
          <p:cNvPr id="14" name="fa2"/>
          <p:cNvSpPr/>
          <p:nvPr>
            <p:extLst>
              <p:ext uri="{F5677B7D-0D2A-4D9B-9A5C-6D8D7D0E5A5D}">
                <pptd:line encoding="base64url">eyJjdXJ2ZSI6InJvdW5kIiwicG9pbnRzIjoiMCw3IDM0LDciLCJ2aWV3Qm94IjpbMzQsMTRdfQ</pptd:line>
              </p:ext>
            </p:extLst>
          </p:nvPr>
        </p:nvSpPr>
        <p:spPr>
          <a:xfrm>
            <a:off x="6096000" y="2844800"/>
            <a:ext cx="431800" cy="177800"/>
          </a:xfrm>
          <a:custGeom>
            <a:avLst/>
            <a:gdLst/>
            <a:ahLst/>
            <a:cxnLst/>
            <a:rect l="l" t="t" r="r" b="b"/>
            <a:pathLst>
              <a:path w="34" h="14">
                <a:moveTo>
                  <a:pt x="0" y="7"/>
                </a:moveTo>
                <a:lnTo>
                  <a:pt x="34" y="7"/>
                </a:lnTo>
              </a:path>
            </a:pathLst>
          </a:custGeom>
          <a:noFill/>
          <a:ln w="25400" cap="rnd">
            <a:solidFill>
              <a:srgbClr val="BC5327"/>
            </a:solidFill>
            <a:round/>
            <a:tailEnd type="stealth"/>
          </a:ln>
        </p:spPr>
      </p:sp>
      <p:sp>
        <p:nvSpPr>
          <p:cNvPr id="15" name="sync-box"/>
          <p:cNvSpPr/>
          <p:nvPr/>
        </p:nvSpPr>
        <p:spPr>
          <a:xfrm>
            <a:off x="6527800" y="2286000"/>
            <a:ext cx="1905000" cy="1320800"/>
          </a:xfrm>
          <a:prstGeom prst="rect">
            <a:avLst/>
          </a:prstGeom>
          <a:solidFill>
            <a:srgbClr val="BC5327"/>
          </a:solidFill>
          <a:ln>
            <a:noFill/>
          </a:ln>
        </p:spPr>
      </p:sp>
      <p:sp>
        <p:nvSpPr>
          <p:cNvPr id="16" name="sync-t"/>
          <p:cNvSpPr txBox="1"/>
          <p:nvPr/>
        </p:nvSpPr>
        <p:spPr>
          <a:xfrm>
            <a:off x="6629400" y="2387600"/>
            <a:ext cx="17018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20000"/>
              </a:lnSpc>
            </a:pPr>
            <a:r>
              <a:rPr lang="en-US" sz="1000" b="1">
                <a:solidFill>
                  <a:srgbClr val="FFFFFF"/>
                </a:solidFill>
                <a:latin typeface="MiSans"/>
                <a:ea typeface="MiSans"/>
              </a:rPr>
              <a:t>sync() / commit</a:t>
            </a:r>
            <a:endParaRPr lang="en-US" sz="1600"/>
          </a:p>
          <a:p>
            <a:pPr algn="ctr">
              <a:lnSpc>
                <a:spcPct val="120000"/>
              </a:lnSpc>
              <a:spcBef>
                <a:spcPts val="500"/>
              </a:spcBef>
            </a:pPr>
            <a:r>
              <a:rPr lang="en-US" sz="800">
                <a:solidFill>
                  <a:srgbClr val="FBE3D6"/>
                </a:solidFill>
                <a:latin typeface="MiSans"/>
                <a:ea typeface="MiSans"/>
              </a:rPr>
              <a:t>escrita atômica; regenera as 11+ views numa única fronteira</a:t>
            </a:r>
            <a:endParaRPr lang="en-US" sz="1600"/>
          </a:p>
        </p:txBody>
      </p:sp>
      <p:sp>
        <p:nvSpPr>
          <p:cNvPr id="17" name="cmd-note"/>
          <p:cNvSpPr txBox="1"/>
          <p:nvPr/>
        </p:nvSpPr>
        <p:spPr>
          <a:xfrm>
            <a:off x="711200" y="4622800"/>
            <a:ext cx="7721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000" b="1">
                <a:solidFill>
                  <a:srgbClr val="1B1E23"/>
                </a:solidFill>
                <a:latin typeface="MiSans"/>
                <a:ea typeface="MiSans"/>
              </a:rPr>
              <a:t>python3 -m learner.substrate</a:t>
            </a:r>
            <a:r>
              <a:rPr lang="en-US" sz="1000">
                <a:solidFill>
                  <a:srgbClr val="1B1E23"/>
                </a:solidFill>
                <a:latin typeface="MiSans"/>
                <a:ea typeface="MiSans"/>
              </a:rPr>
              <a:t> </a:t>
            </a:r>
            <a:r>
              <a:rPr lang="en-US" sz="1000">
                <a:solidFill>
                  <a:srgbClr val="8B9199"/>
                </a:solidFill>
                <a:latin typeface="MiSans"/>
                <a:ea typeface="MiSans"/>
              </a:rPr>
              <a:t>( regenera ) · </a:t>
            </a:r>
            <a:r>
              <a:rPr lang="en-US" sz="1000" b="1">
                <a:solidFill>
                  <a:srgbClr val="1B1E23"/>
                </a:solidFill>
                <a:latin typeface="MiSans"/>
                <a:ea typeface="MiSans"/>
              </a:rPr>
              <a:t>--check</a:t>
            </a:r>
            <a:r>
              <a:rPr lang="en-US" sz="1000">
                <a:solidFill>
                  <a:srgbClr val="1B1E23"/>
                </a:solidFill>
                <a:latin typeface="MiSans"/>
                <a:ea typeface="MiSans"/>
              </a:rPr>
              <a:t> </a:t>
            </a:r>
            <a:r>
              <a:rPr lang="en-US" sz="1000">
                <a:solidFill>
                  <a:srgbClr val="8B9199"/>
                </a:solidFill>
                <a:latin typeface="MiSans"/>
                <a:ea typeface="MiSans"/>
              </a:rPr>
              <a:t>( reporta drift sem escrever — útil em CI )</a:t>
            </a:r>
            <a:endParaRPr lang="en-US" sz="1000"/>
          </a:p>
        </p:txBody>
      </p:sp>
      <p:sp>
        <p:nvSpPr>
          <p:cNvPr id="18" name="views-panel"/>
          <p:cNvSpPr/>
          <p:nvPr/>
        </p:nvSpPr>
        <p:spPr>
          <a:xfrm>
            <a:off x="8737600" y="1600200"/>
            <a:ext cx="2743200" cy="3810000"/>
          </a:xfrm>
          <a:prstGeom prst="rect">
            <a:avLst/>
          </a:prstGeom>
          <a:solidFill>
            <a:srgbClr val="F7F5F0"/>
          </a:solidFill>
          <a:ln w="12700">
            <a:solidFill>
              <a:srgbClr val="E3E6EA"/>
            </a:solidFill>
          </a:ln>
        </p:spPr>
      </p:sp>
      <p:sp>
        <p:nvSpPr>
          <p:cNvPr id="19" name="views-head"/>
          <p:cNvSpPr txBox="1"/>
          <p:nvPr/>
        </p:nvSpPr>
        <p:spPr>
          <a:xfrm>
            <a:off x="8890000" y="1701800"/>
            <a:ext cx="2438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950" b="1" spc="100" kern="0">
                <a:solidFill>
                  <a:srgbClr val="1B1E23"/>
                </a:solidFill>
                <a:latin typeface="MiSans"/>
                <a:ea typeface="MiSans"/>
              </a:rPr>
              <a:t>11+ VIEWS GERADAS</a:t>
            </a:r>
            <a:endParaRPr lang="en-US" sz="950"/>
          </a:p>
        </p:txBody>
      </p:sp>
      <p:sp>
        <p:nvSpPr>
          <p:cNvPr id="20" name="views-list"/>
          <p:cNvSpPr txBox="1"/>
          <p:nvPr/>
        </p:nvSpPr>
        <p:spPr>
          <a:xfrm>
            <a:off x="8890000" y="1955800"/>
            <a:ext cx="2463800" cy="335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2000"/>
              </a:lnSpc>
            </a:pPr>
            <a:r>
              <a:rPr lang="en-US" sz="850" b="1">
                <a:solidFill>
                  <a:srgbClr val="454A51"/>
                </a:solidFill>
                <a:latin typeface="MiSans"/>
                <a:ea typeface="MiSans"/>
              </a:rPr>
              <a:t>.mavis/learning_state.yaml</a:t>
            </a:r>
            <a:r>
              <a:rPr lang="en-US" sz="850">
                <a:solidFill>
                  <a:srgbClr val="454A51"/>
                </a:solidFill>
                <a:latin typeface="MiSans"/>
                <a:ea typeface="MiSans"/>
              </a:rPr>
              <a:t> → planner Mavis (estados em PT)</a:t>
            </a:r>
            <a:endParaRPr lang="en-US" sz="850"/>
          </a:p>
          <a:p>
            <a:pPr algn="l">
              <a:lnSpc>
                <a:spcPct val="142000"/>
              </a:lnSpc>
              <a:spcBef>
                <a:spcPts val="400"/>
              </a:spcBef>
            </a:pPr>
            <a:r>
              <a:rPr lang="en-US" sz="850" b="1">
                <a:solidFill>
                  <a:srgbClr val="454A51"/>
                </a:solidFill>
                <a:latin typeface="MiSans"/>
                <a:ea typeface="MiSans"/>
              </a:rPr>
              <a:t>whiteboard/profile.yaml · learner_profile.md · trail.md</a:t>
            </a:r>
            <a:r>
              <a:rPr lang="en-US" sz="850">
                <a:solidFill>
                  <a:srgbClr val="454A51"/>
                </a:solidFill>
                <a:latin typeface="MiSans"/>
                <a:ea typeface="MiSans"/>
              </a:rPr>
              <a:t> → minimaxDojo</a:t>
            </a:r>
            <a:endParaRPr lang="en-US" sz="850"/>
          </a:p>
          <a:p>
            <a:pPr algn="l">
              <a:lnSpc>
                <a:spcPct val="142000"/>
              </a:lnSpc>
              <a:spcBef>
                <a:spcPts val="400"/>
              </a:spcBef>
            </a:pPr>
            <a:r>
              <a:rPr lang="en-US" sz="850" b="1">
                <a:solidFill>
                  <a:srgbClr val="454A51"/>
                </a:solidFill>
                <a:latin typeface="MiSans"/>
                <a:ea typeface="MiSans"/>
              </a:rPr>
              <a:t>learner.ts · projects.ts · agents.ts · cycle.ts</a:t>
            </a:r>
            <a:r>
              <a:rPr lang="en-US" sz="850">
                <a:solidFill>
                  <a:srgbClr val="454A51"/>
                </a:solidFill>
                <a:latin typeface="MiSans"/>
                <a:ea typeface="MiSans"/>
              </a:rPr>
              <a:t> → dashboard codexDojo</a:t>
            </a:r>
            <a:endParaRPr lang="en-US" sz="850"/>
          </a:p>
          <a:p>
            <a:pPr algn="l">
              <a:lnSpc>
                <a:spcPct val="142000"/>
              </a:lnSpc>
              <a:spcBef>
                <a:spcPts val="400"/>
              </a:spcBef>
            </a:pPr>
            <a:r>
              <a:rPr lang="en-US" sz="850" b="1">
                <a:solidFill>
                  <a:srgbClr val="454A51"/>
                </a:solidFill>
                <a:latin typeface="MiSans"/>
                <a:ea typeface="MiSans"/>
              </a:rPr>
              <a:t>learner.ts</a:t>
            </a:r>
            <a:r>
              <a:rPr lang="en-US" sz="850">
                <a:solidFill>
                  <a:srgbClr val="454A51"/>
                </a:solidFill>
                <a:latin typeface="MiSans"/>
                <a:ea typeface="MiSans"/>
              </a:rPr>
              <a:t> → codexdojo-os (projeção própria, mesmo snapshot)</a:t>
            </a:r>
            <a:endParaRPr lang="en-US" sz="850"/>
          </a:p>
          <a:p>
            <a:pPr algn="l">
              <a:lnSpc>
                <a:spcPct val="142000"/>
              </a:lnSpc>
              <a:spcBef>
                <a:spcPts val="400"/>
              </a:spcBef>
            </a:pPr>
            <a:r>
              <a:rPr lang="en-US" sz="850" b="1">
                <a:solidFill>
                  <a:srgbClr val="454A51"/>
                </a:solidFill>
                <a:latin typeface="MiSans"/>
                <a:ea typeface="MiSans"/>
              </a:rPr>
              <a:t>reviewSlice.ts</a:t>
            </a:r>
            <a:r>
              <a:rPr lang="en-US" sz="850">
                <a:solidFill>
                  <a:srgbClr val="454A51"/>
                </a:solidFill>
                <a:latin typeface="MiSans"/>
                <a:ea typeface="MiSans"/>
              </a:rPr>
              <a:t> → pixel-quest</a:t>
            </a:r>
            <a:endParaRPr lang="en-US" sz="850"/>
          </a:p>
          <a:p>
            <a:pPr algn="l">
              <a:lnSpc>
                <a:spcPct val="142000"/>
              </a:lnSpc>
              <a:spcBef>
                <a:spcPts val="400"/>
              </a:spcBef>
            </a:pPr>
            <a:r>
              <a:rPr lang="en-US" sz="850" b="1">
                <a:solidFill>
                  <a:srgbClr val="454A51"/>
                </a:solidFill>
                <a:latin typeface="MiSans"/>
                <a:ea typeface="MiSans"/>
              </a:rPr>
              <a:t>reviewSlice.ts × 16</a:t>
            </a:r>
            <a:r>
              <a:rPr lang="en-US" sz="850">
                <a:solidFill>
                  <a:srgbClr val="454A51"/>
                </a:solidFill>
                <a:latin typeface="MiSans"/>
                <a:ea typeface="MiSans"/>
              </a:rPr>
              <a:t> → voxelDojo (fan-out game-*)</a:t>
            </a:r>
            <a:endParaRPr lang="en-US" sz="850"/>
          </a:p>
          <a:p>
            <a:pPr algn="l">
              <a:lnSpc>
                <a:spcPct val="142000"/>
              </a:lnSpc>
              <a:spcBef>
                <a:spcPts val="400"/>
              </a:spcBef>
            </a:pPr>
            <a:r>
              <a:rPr lang="en-US" sz="850" b="1">
                <a:solidFill>
                  <a:srgbClr val="454A51"/>
                </a:solidFill>
                <a:latin typeface="MiSans"/>
                <a:ea typeface="MiSans"/>
              </a:rPr>
              <a:t>BACKLOG_STATUS.md</a:t>
            </a:r>
            <a:r>
              <a:rPr lang="en-US" sz="850">
                <a:solidFill>
                  <a:srgbClr val="454A51"/>
                </a:solidFill>
                <a:latin typeface="MiSans"/>
                <a:ea typeface="MiSans"/>
              </a:rPr>
              <a:t> → curriculum/</a:t>
            </a:r>
            <a:endParaRPr lang="en-US" sz="850"/>
          </a:p>
          <a:p>
            <a:pPr algn="l">
              <a:lnSpc>
                <a:spcPct val="142000"/>
              </a:lnSpc>
              <a:spcBef>
                <a:spcPts val="800"/>
              </a:spcBef>
            </a:pPr>
            <a:r>
              <a:rPr lang="en-US" sz="850">
                <a:solidFill>
                  <a:srgbClr val="8B9199"/>
                </a:solidFill>
                <a:latin typeface="MiSans"/>
                <a:ea typeface="MiSans"/>
              </a:rPr>
              <a:t>Todo arquivo gerado traz o cabeçalho "AUTO-GENERATED … DO NOT EDIT BY HAND".</a:t>
            </a:r>
            <a:endParaRPr lang="en-US" sz="850"/>
          </a:p>
        </p:txBody>
      </p:sp>
      <p:sp>
        <p:nvSpPr>
          <p:cNvPr id="21" name="rules-head"/>
          <p:cNvSpPr txBox="1"/>
          <p:nvPr/>
        </p:nvSpPr>
        <p:spPr>
          <a:xfrm>
            <a:off x="711200" y="5130800"/>
            <a:ext cx="7721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050" b="1" spc="120" kern="0">
                <a:solidFill>
                  <a:srgbClr val="1B1E23"/>
                </a:solidFill>
                <a:latin typeface="MiSans"/>
                <a:ea typeface="MiSans"/>
              </a:rPr>
              <a:t>REGRAS DE ORDENAÇÃO (substrate/interface.md)</a:t>
            </a:r>
            <a:endParaRPr lang="en-US" sz="1050"/>
          </a:p>
        </p:txBody>
      </p:sp>
      <p:sp>
        <p:nvSpPr>
          <p:cNvPr id="22" name="rules"/>
          <p:cNvSpPr txBox="1"/>
          <p:nvPr/>
        </p:nvSpPr>
        <p:spPr>
          <a:xfrm>
            <a:off x="711200" y="5410200"/>
            <a:ext cx="77216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5000"/>
              </a:lnSpc>
            </a:pPr>
            <a:r>
              <a:rPr lang="en-US" sz="1050">
                <a:solidFill>
                  <a:srgbClr val="454A51"/>
                </a:solidFill>
                <a:latin typeface="MiSans"/>
                <a:ea typeface="MiSans"/>
              </a:rPr>
              <a:t>1 · Sempre edite a </a:t>
            </a:r>
            <a:r>
              <a:rPr lang="en-US" sz="1050" b="1">
                <a:solidFill>
                  <a:srgbClr val="454A51"/>
                </a:solidFill>
                <a:latin typeface="MiSans"/>
                <a:ea typeface="MiSans"/>
              </a:rPr>
              <a:t>fonte canônica</a:t>
            </a:r>
            <a:r>
              <a:rPr lang="en-US" sz="1050">
                <a:solidFill>
                  <a:srgbClr val="454A51"/>
                </a:solidFill>
                <a:latin typeface="MiSans"/>
                <a:ea typeface="MiSans"/>
              </a:rPr>
              <a:t> primeiro; depois chame </a:t>
            </a:r>
            <a:r>
              <a:rPr lang="en-US" sz="1050" b="1">
                <a:solidFill>
                  <a:srgbClr val="454A51"/>
                </a:solidFill>
                <a:latin typeface="MiSans"/>
                <a:ea typeface="MiSans"/>
              </a:rPr>
              <a:t>sync()</a:t>
            </a:r>
            <a:r>
              <a:rPr lang="en-US" sz="1050">
                <a:solidFill>
                  <a:srgbClr val="454A51"/>
                </a:solidFill>
                <a:latin typeface="MiSans"/>
                <a:ea typeface="MiSans"/>
              </a:rPr>
              <a:t>.</a:t>
            </a:r>
            <a:endParaRPr lang="en-US" sz="1050"/>
          </a:p>
          <a:p>
            <a:pPr algn="l">
              <a:lnSpc>
                <a:spcPct val="145000"/>
              </a:lnSpc>
              <a:spcBef>
                <a:spcPts val="500"/>
              </a:spcBef>
            </a:pPr>
            <a:r>
              <a:rPr lang="en-US" sz="1050">
                <a:solidFill>
                  <a:srgbClr val="454A51"/>
                </a:solidFill>
                <a:latin typeface="MiSans"/>
                <a:ea typeface="MiSans"/>
              </a:rPr>
              <a:t>2 · </a:t>
            </a:r>
            <a:r>
              <a:rPr lang="en-US" sz="1050" b="1">
                <a:solidFill>
                  <a:srgbClr val="454A51"/>
                </a:solidFill>
                <a:latin typeface="MiSans"/>
                <a:ea typeface="MiSans"/>
              </a:rPr>
              <a:t>Nunca</a:t>
            </a:r>
            <a:r>
              <a:rPr lang="en-US" sz="1050">
                <a:solidFill>
                  <a:srgbClr val="454A51"/>
                </a:solidFill>
                <a:latin typeface="MiSans"/>
                <a:ea typeface="MiSans"/>
              </a:rPr>
              <a:t> escreva numa view derivada nem faça back-port de mudanças para o canônico.</a:t>
            </a:r>
            <a:endParaRPr lang="en-US" sz="1050"/>
          </a:p>
          <a:p>
            <a:pPr algn="l">
              <a:lnSpc>
                <a:spcPct val="145000"/>
              </a:lnSpc>
              <a:spcBef>
                <a:spcPts val="500"/>
              </a:spcBef>
            </a:pPr>
            <a:r>
              <a:rPr lang="en-US" sz="1050">
                <a:solidFill>
                  <a:srgbClr val="454A51"/>
                </a:solidFill>
                <a:latin typeface="MiSans"/>
                <a:ea typeface="MiSans"/>
              </a:rPr>
              <a:t>3 · O dumper YAML evita anchors/aliases: o arquivo canônico permanece "plain and greppable".</a:t>
            </a:r>
            <a:endParaRPr lang="en-US" sz="1050"/>
          </a:p>
        </p:txBody>
      </p:sp>
      <p:sp>
        <p:nvSpPr>
          <p:cNvPr id="23" name="footer-lin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E3E6EA"/>
          </a:solidFill>
          <a:ln>
            <a:noFill/>
          </a:ln>
        </p:spPr>
      </p:sp>
      <p:sp>
        <p:nvSpPr>
          <p:cNvPr id="24" name="footer-left"/>
          <p:cNvSpPr txBox="1"/>
          <p:nvPr/>
        </p:nvSpPr>
        <p:spPr>
          <a:xfrm>
            <a:off x="711200" y="6553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35000"/>
              </a:lnSpc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AI DEVSCHOOL — COMO FUNCIONA</a:t>
            </a:r>
            <a:endParaRPr lang="en-US" sz="900"/>
          </a:p>
        </p:txBody>
      </p:sp>
      <p:sp>
        <p:nvSpPr>
          <p:cNvPr id="25" name="footer-page"/>
          <p:cNvSpPr txBox="1"/>
          <p:nvPr/>
        </p:nvSpPr>
        <p:spPr>
          <a:xfrm>
            <a:off x="10414000" y="6553200"/>
            <a:ext cx="106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35000"/>
              </a:lnSpc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08</a:t>
            </a:r>
            <a:endParaRPr lang="en-US" sz="9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 b="1" spc="250" kern="0">
                <a:solidFill>
                  <a:srgbClr val="BC5327"/>
                </a:solidFill>
                <a:latin typeface="MiSans"/>
                <a:ea typeface="MiSans"/>
              </a:rPr>
              <a:t>08 · O ESTADO CANÔNICO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11200" y="7112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15000"/>
              </a:lnSpc>
            </a:pPr>
            <a:r>
              <a:rPr lang="en-US" sz="2600" b="1">
                <a:solidFill>
                  <a:srgbClr val="1B1E23"/>
                </a:solidFill>
                <a:latin typeface="MiSans"/>
                <a:ea typeface="MiSans"/>
              </a:rPr>
              <a:t>learning_state.yaml: 117 linhas que governam tudo</a:t>
            </a:r>
            <a:endParaRPr lang="en-US" sz="2600"/>
          </a:p>
        </p:txBody>
      </p:sp>
      <p:sp>
        <p:nvSpPr>
          <p:cNvPr id="4" name="title-rule"/>
          <p:cNvSpPr/>
          <p:nvPr/>
        </p:nvSpPr>
        <p:spPr>
          <a:xfrm>
            <a:off x="711200" y="1295400"/>
            <a:ext cx="711200" cy="38100"/>
          </a:xfrm>
          <a:prstGeom prst="rect">
            <a:avLst/>
          </a:prstGeom>
          <a:solidFill>
            <a:srgbClr val="BC5327"/>
          </a:solidFill>
          <a:ln>
            <a:noFill/>
          </a:ln>
        </p:spPr>
      </p:sp>
      <p:sp>
        <p:nvSpPr>
          <p:cNvPr id="5" name="code-panel"/>
          <p:cNvSpPr/>
          <p:nvPr/>
        </p:nvSpPr>
        <p:spPr>
          <a:xfrm>
            <a:off x="711200" y="1600200"/>
            <a:ext cx="5334000" cy="3886200"/>
          </a:xfrm>
          <a:prstGeom prst="rect">
            <a:avLst/>
          </a:prstGeom>
          <a:solidFill>
            <a:srgbClr val="1B1E23"/>
          </a:solidFill>
          <a:ln>
            <a:noFill/>
          </a:ln>
        </p:spPr>
      </p:sp>
      <p:sp>
        <p:nvSpPr>
          <p:cNvPr id="6" name="code-head"/>
          <p:cNvSpPr txBox="1"/>
          <p:nvPr/>
        </p:nvSpPr>
        <p:spPr>
          <a:xfrm>
            <a:off x="914400" y="1727200"/>
            <a:ext cx="482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850" spc="150" kern="0">
                <a:solidFill>
                  <a:srgbClr val="8B9199"/>
                </a:solidFill>
                <a:latin typeface="MiSans"/>
                <a:ea typeface="MiSans"/>
              </a:rPr>
              <a:t>learner/learning_state.yaml (extrato real, 2026-07)</a:t>
            </a:r>
            <a:endParaRPr lang="en-US" sz="850"/>
          </a:p>
        </p:txBody>
      </p:sp>
      <p:sp>
        <p:nvSpPr>
          <p:cNvPr id="7" name="code"/>
          <p:cNvSpPr txBox="1"/>
          <p:nvPr/>
        </p:nvSpPr>
        <p:spPr>
          <a:xfrm>
            <a:off x="914400" y="1981200"/>
            <a:ext cx="4978400" cy="337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50000"/>
              </a:lnSpc>
            </a:pPr>
            <a:r>
              <a:rPr lang="en-US" sz="950">
                <a:solidFill>
                  <a:srgbClr val="F2B794"/>
                </a:solidFill>
                <a:latin typeface="MiSans"/>
                <a:ea typeface="MiSans"/>
              </a:rPr>
              <a:t>learner:</a:t>
            </a:r>
            <a:r>
              <a:rPr lang="en-US" sz="950">
                <a:solidFill>
                  <a:srgbClr val="D8DDE3"/>
                </a:solidFill>
                <a:latin typeface="MiSans"/>
                <a:ea typeface="MiSans"/>
              </a:rPr>
              <a:t> id: daniel-barreto · level: intermediate</a:t>
            </a:r>
            <a:endParaRPr lang="en-US" sz="950"/>
          </a:p>
          <a:p>
            <a:pPr algn="l">
              <a:lnSpc>
                <a:spcPct val="150000"/>
              </a:lnSpc>
            </a:pPr>
            <a:r>
              <a:rPr lang="en-US" sz="950">
                <a:solidFill>
                  <a:srgbClr val="D8DDE3"/>
                </a:solidFill>
                <a:latin typeface="MiSans"/>
                <a:ea typeface="MiSans"/>
              </a:rPr>
              <a:t>  languages: [TypeScript, Go, Rust] · 5h/semana</a:t>
            </a:r>
            <a:endParaRPr lang="en-US" sz="950"/>
          </a:p>
          <a:p>
            <a:pPr algn="l">
              <a:lnSpc>
                <a:spcPct val="150000"/>
              </a:lnSpc>
            </a:pPr>
            <a:r>
              <a:rPr lang="en-US" sz="950">
                <a:solidFill>
                  <a:srgbClr val="F2B794"/>
                </a:solidFill>
                <a:latin typeface="MiSans"/>
                <a:ea typeface="MiSans"/>
              </a:rPr>
              <a:t>aidi:</a:t>
            </a:r>
            <a:r>
              <a:rPr lang="en-US" sz="950">
                <a:solidFill>
                  <a:srgbClr val="D8DDE3"/>
                </a:solidFill>
                <a:latin typeface="MiSans"/>
                <a:ea typeface="MiSans"/>
              </a:rPr>
              <a:t> current: 0.34 · amber: 0.60 · red: 0.75</a:t>
            </a:r>
            <a:endParaRPr lang="en-US" sz="950"/>
          </a:p>
          <a:p>
            <a:pPr algn="l">
              <a:lnSpc>
                <a:spcPct val="150000"/>
              </a:lnSpc>
            </a:pPr>
            <a:r>
              <a:rPr lang="en-US" sz="950">
                <a:solidFill>
                  <a:srgbClr val="F2B794"/>
                </a:solidFill>
                <a:latin typeface="MiSans"/>
                <a:ea typeface="MiSans"/>
              </a:rPr>
              <a:t>active_unit:</a:t>
            </a:r>
            <a:endParaRPr lang="en-US" sz="950"/>
          </a:p>
          <a:p>
            <a:pPr algn="l">
              <a:lnSpc>
                <a:spcPct val="150000"/>
              </a:lnSpc>
            </a:pPr>
            <a:r>
              <a:rPr lang="en-US" sz="950">
                <a:solidFill>
                  <a:srgbClr val="D8DDE3"/>
                </a:solidFill>
                <a:latin typeface="MiSans"/>
                <a:ea typeface="MiSans"/>
              </a:rPr>
              <a:t>  id: U2-key-value-store · state: </a:t>
            </a:r>
            <a:r>
              <a:rPr lang="en-US" sz="950">
                <a:solidFill>
                  <a:srgbClr val="F2B794"/>
                </a:solidFill>
                <a:latin typeface="MiSans"/>
                <a:ea typeface="MiSans"/>
              </a:rPr>
              <a:t>evaluating</a:t>
            </a:r>
            <a:endParaRPr lang="en-US" sz="950"/>
          </a:p>
          <a:p>
            <a:pPr algn="l">
              <a:lnSpc>
                <a:spcPct val="150000"/>
              </a:lnSpc>
            </a:pPr>
            <a:r>
              <a:rPr lang="en-US" sz="950">
                <a:solidFill>
                  <a:srgbClr val="D8DDE3"/>
                </a:solidFill>
                <a:latin typeface="MiSans"/>
                <a:ea typeface="MiSans"/>
              </a:rPr>
              <a:t>  retry_count: 0  </a:t>
            </a:r>
            <a:r>
              <a:rPr lang="en-US" sz="950">
                <a:solidFill>
                  <a:srgbClr val="8B9199"/>
                </a:solidFill>
                <a:latin typeface="MiSans"/>
                <a:ea typeface="MiSans"/>
              </a:rPr>
              <a:t># retry_limit: 3</a:t>
            </a:r>
            <a:endParaRPr lang="en-US" sz="950"/>
          </a:p>
          <a:p>
            <a:pPr algn="l">
              <a:lnSpc>
                <a:spcPct val="150000"/>
              </a:lnSpc>
            </a:pPr>
            <a:r>
              <a:rPr lang="en-US" sz="950">
                <a:solidFill>
                  <a:srgbClr val="D8DDE3"/>
                </a:solidFill>
                <a:latin typeface="MiSans"/>
                <a:ea typeface="MiSans"/>
              </a:rPr>
              <a:t>  attempt_file: learner/attempts/U2-...-attempt-1.md</a:t>
            </a:r>
            <a:endParaRPr lang="en-US" sz="950"/>
          </a:p>
          <a:p>
            <a:pPr algn="l">
              <a:lnSpc>
                <a:spcPct val="150000"/>
              </a:lnSpc>
            </a:pPr>
            <a:r>
              <a:rPr lang="en-US" sz="950">
                <a:solidFill>
                  <a:srgbClr val="D8DDE3"/>
                </a:solidFill>
                <a:latin typeface="MiSans"/>
                <a:ea typeface="MiSans"/>
              </a:rPr>
              <a:t>  evidence_file: engines/voxelDojo/game-02-warehouse/.logs/…</a:t>
            </a:r>
            <a:endParaRPr lang="en-US" sz="950"/>
          </a:p>
          <a:p>
            <a:pPr algn="l">
              <a:lnSpc>
                <a:spcPct val="150000"/>
              </a:lnSpc>
            </a:pPr>
            <a:r>
              <a:rPr lang="en-US" sz="950">
                <a:solidFill>
                  <a:srgbClr val="D8DDE3"/>
                </a:solidFill>
                <a:latin typeface="MiSans"/>
                <a:ea typeface="MiSans"/>
              </a:rPr>
              <a:t>  empirical_gate: {min_coverage: 0.80, mutation_min: 0.65}</a:t>
            </a:r>
            <a:endParaRPr lang="en-US" sz="950"/>
          </a:p>
          <a:p>
            <a:pPr algn="l">
              <a:lnSpc>
                <a:spcPct val="150000"/>
              </a:lnSpc>
            </a:pPr>
            <a:r>
              <a:rPr lang="en-US" sz="950">
                <a:solidFill>
                  <a:srgbClr val="F2B794"/>
                </a:solidFill>
                <a:latin typeface="MiSans"/>
                <a:ea typeface="MiSans"/>
              </a:rPr>
              <a:t>gate:</a:t>
            </a:r>
            <a:r>
              <a:rPr lang="en-US" sz="950">
                <a:solidFill>
                  <a:srgbClr val="D8DDE3"/>
                </a:solidFill>
                <a:latin typeface="MiSans"/>
                <a:ea typeface="MiSans"/>
              </a:rPr>
              <a:t> implementation_blocked: false</a:t>
            </a:r>
            <a:endParaRPr lang="en-US" sz="950"/>
          </a:p>
          <a:p>
            <a:pPr algn="l">
              <a:lnSpc>
                <a:spcPct val="150000"/>
              </a:lnSpc>
            </a:pPr>
            <a:r>
              <a:rPr lang="en-US" sz="950">
                <a:solidFill>
                  <a:srgbClr val="F2B794"/>
                </a:solidFill>
                <a:latin typeface="MiSans"/>
                <a:ea typeface="MiSans"/>
              </a:rPr>
              <a:t>agent_ownership:</a:t>
            </a:r>
            <a:r>
              <a:rPr lang="en-US" sz="950">
                <a:solidFill>
                  <a:srgbClr val="D8DDE3"/>
                </a:solidFill>
                <a:latin typeface="MiSans"/>
                <a:ea typeface="MiSans"/>
              </a:rPr>
              <a:t> verifier: Prometor · governance: Seneca …</a:t>
            </a:r>
            <a:endParaRPr lang="en-US" sz="950"/>
          </a:p>
          <a:p>
            <a:pPr algn="l">
              <a:lnSpc>
                <a:spcPct val="150000"/>
              </a:lnSpc>
            </a:pPr>
            <a:r>
              <a:rPr lang="en-US" sz="950">
                <a:solidFill>
                  <a:srgbClr val="F2B794"/>
                </a:solidFill>
                <a:latin typeface="MiSans"/>
                <a:ea typeface="MiSans"/>
              </a:rPr>
              <a:t>units_log:</a:t>
            </a:r>
            <a:r>
              <a:rPr lang="en-US" sz="950">
                <a:solidFill>
                  <a:srgbClr val="D8DDE3"/>
                </a:solidFill>
                <a:latin typeface="MiSans"/>
                <a:ea typeface="MiSans"/>
              </a:rPr>
              <a:t> U0 mastered (pass_first_try) · U2 presented</a:t>
            </a:r>
            <a:endParaRPr lang="en-US" sz="950"/>
          </a:p>
          <a:p>
            <a:pPr algn="l">
              <a:lnSpc>
                <a:spcPct val="150000"/>
              </a:lnSpc>
            </a:pPr>
            <a:r>
              <a:rPr lang="en-US" sz="950">
                <a:solidFill>
                  <a:srgbClr val="F2B794"/>
                </a:solidFill>
                <a:latin typeface="MiSans"/>
                <a:ea typeface="MiSans"/>
              </a:rPr>
              <a:t>streak:</a:t>
            </a:r>
            <a:r>
              <a:rPr lang="en-US" sz="950">
                <a:solidFill>
                  <a:srgbClr val="D8DDE3"/>
                </a:solidFill>
                <a:latin typeface="MiSans"/>
                <a:ea typeface="MiSans"/>
              </a:rPr>
              <a:t> current: 1 · freezes: {equipped: 2, max: 2}</a:t>
            </a:r>
            <a:endParaRPr lang="en-US" sz="950"/>
          </a:p>
        </p:txBody>
      </p:sp>
      <p:sp>
        <p:nvSpPr>
          <p:cNvPr id="8" name="inv-head"/>
          <p:cNvSpPr txBox="1"/>
          <p:nvPr/>
        </p:nvSpPr>
        <p:spPr>
          <a:xfrm>
            <a:off x="6553200" y="1600200"/>
            <a:ext cx="4927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050" b="1" spc="120" kern="0">
                <a:solidFill>
                  <a:srgbClr val="1B1E23"/>
                </a:solidFill>
                <a:latin typeface="MiSans"/>
                <a:ea typeface="MiSans"/>
              </a:rPr>
              <a:t>INVARIANTES IMPOSTAS POR validate()</a:t>
            </a:r>
            <a:endParaRPr lang="en-US" sz="1050"/>
          </a:p>
        </p:txBody>
      </p:sp>
      <p:sp>
        <p:nvSpPr>
          <p:cNvPr id="9" name="inv-list"/>
          <p:cNvSpPr txBox="1"/>
          <p:nvPr/>
        </p:nvSpPr>
        <p:spPr>
          <a:xfrm>
            <a:off x="6553200" y="1905000"/>
            <a:ext cx="4927600" cy="304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5000"/>
              </a:lnSpc>
            </a:pPr>
            <a:r>
              <a:rPr lang="en-US" sz="1050">
                <a:solidFill>
                  <a:srgbClr val="454A51"/>
                </a:solidFill>
                <a:latin typeface="MiSans"/>
                <a:ea typeface="MiSans"/>
              </a:rPr>
              <a:t>· </a:t>
            </a:r>
            <a:r>
              <a:rPr lang="en-US" sz="1050" b="1">
                <a:solidFill>
                  <a:srgbClr val="454A51"/>
                </a:solidFill>
                <a:latin typeface="MiSans"/>
                <a:ea typeface="MiSans"/>
              </a:rPr>
              <a:t>retry_count ≤ retry_limit</a:t>
            </a:r>
            <a:r>
              <a:rPr lang="en-US" sz="1050">
                <a:solidFill>
                  <a:srgbClr val="454A51"/>
                </a:solidFill>
                <a:latin typeface="MiSans"/>
                <a:ea typeface="MiSans"/>
              </a:rPr>
              <a:t> (3) — sem exceções;</a:t>
            </a:r>
            <a:endParaRPr lang="en-US" sz="1050"/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lang="en-US" sz="1050">
                <a:solidFill>
                  <a:srgbClr val="454A51"/>
                </a:solidFill>
                <a:latin typeface="MiSans"/>
                <a:ea typeface="MiSans"/>
              </a:rPr>
              <a:t>· </a:t>
            </a:r>
            <a:r>
              <a:rPr lang="en-US" sz="1050" b="1">
                <a:solidFill>
                  <a:srgbClr val="454A51"/>
                </a:solidFill>
                <a:latin typeface="MiSans"/>
                <a:ea typeface="MiSans"/>
              </a:rPr>
              <a:t>mastered exige review de gate</a:t>
            </a:r>
            <a:r>
              <a:rPr lang="en-US" sz="1050">
                <a:solidFill>
                  <a:srgbClr val="454A51"/>
                </a:solidFill>
                <a:latin typeface="MiSans"/>
                <a:ea typeface="MiSans"/>
              </a:rPr>
              <a:t> — "mastery requires executable evidence, never docs alone";</a:t>
            </a:r>
            <a:endParaRPr lang="en-US" sz="1050"/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lang="en-US" sz="1050">
                <a:solidFill>
                  <a:srgbClr val="454A51"/>
                </a:solidFill>
                <a:latin typeface="MiSans"/>
                <a:ea typeface="MiSans"/>
              </a:rPr>
              <a:t>· </a:t>
            </a:r>
            <a:r>
              <a:rPr lang="en-US" sz="1050" b="1">
                <a:solidFill>
                  <a:srgbClr val="454A51"/>
                </a:solidFill>
                <a:latin typeface="MiSans"/>
                <a:ea typeface="MiSans"/>
              </a:rPr>
              <a:t>rating consistente com gate_outcome</a:t>
            </a:r>
            <a:r>
              <a:rPr lang="en-US" sz="1050">
                <a:solidFill>
                  <a:srgbClr val="454A51"/>
                </a:solidFill>
                <a:latin typeface="MiSans"/>
                <a:ea typeface="MiSans"/>
              </a:rPr>
              <a:t> — o gate é o único produtor de rating (autoavaliação proibida);</a:t>
            </a:r>
            <a:endParaRPr lang="en-US" sz="1050"/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lang="en-US" sz="1050">
                <a:solidFill>
                  <a:srgbClr val="454A51"/>
                </a:solidFill>
                <a:latin typeface="MiSans"/>
                <a:ea typeface="MiSans"/>
              </a:rPr>
              <a:t>· unidade mastered precisa de </a:t>
            </a:r>
            <a:r>
              <a:rPr lang="en-US" sz="1050" b="1">
                <a:solidFill>
                  <a:srgbClr val="454A51"/>
                </a:solidFill>
                <a:latin typeface="MiSans"/>
                <a:ea typeface="MiSans"/>
              </a:rPr>
              <a:t>attempt_file existente e não-vazio</a:t>
            </a:r>
            <a:r>
              <a:rPr lang="en-US" sz="1050">
                <a:solidFill>
                  <a:srgbClr val="454A51"/>
                </a:solidFill>
                <a:latin typeface="MiSans"/>
                <a:ea typeface="MiSans"/>
              </a:rPr>
              <a:t>;</a:t>
            </a:r>
            <a:endParaRPr lang="en-US" sz="1050"/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lang="en-US" sz="1050">
                <a:solidFill>
                  <a:srgbClr val="454A51"/>
                </a:solidFill>
                <a:latin typeface="MiSans"/>
                <a:ea typeface="MiSans"/>
              </a:rPr>
              <a:t>· </a:t>
            </a:r>
            <a:r>
              <a:rPr lang="en-US" sz="1050" b="1">
                <a:solidFill>
                  <a:srgbClr val="454A51"/>
                </a:solidFill>
                <a:latin typeface="MiSans"/>
                <a:ea typeface="MiSans"/>
              </a:rPr>
              <a:t>requires_attempt_before_solution: true</a:t>
            </a:r>
            <a:r>
              <a:rPr lang="en-US" sz="1050">
                <a:solidFill>
                  <a:srgbClr val="454A51"/>
                </a:solidFill>
                <a:latin typeface="MiSans"/>
                <a:ea typeface="MiSans"/>
              </a:rPr>
              <a:t> — sempre;</a:t>
            </a:r>
            <a:endParaRPr lang="en-US" sz="1050"/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lang="en-US" sz="1050">
                <a:solidFill>
                  <a:srgbClr val="454A51"/>
                </a:solidFill>
                <a:latin typeface="MiSans"/>
                <a:ea typeface="MiSans"/>
              </a:rPr>
              <a:t>· streak: 0 ≤ equipped ≤ max ≤ 2 (cap 2 é "load-bearing": 3 freezes não performam melhor);</a:t>
            </a:r>
            <a:endParaRPr lang="en-US" sz="1050"/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lang="en-US" sz="1050">
                <a:solidFill>
                  <a:srgbClr val="454A51"/>
                </a:solidFill>
                <a:latin typeface="MiSans"/>
                <a:ea typeface="MiSans"/>
              </a:rPr>
              <a:t>· AIDI: 0 ≤ amber &lt; red ≤ 1, histórico com datas estritamente ascendentes.</a:t>
            </a:r>
            <a:endParaRPr lang="en-US" sz="1050"/>
          </a:p>
        </p:txBody>
      </p:sp>
      <p:sp>
        <p:nvSpPr>
          <p:cNvPr id="10" name="incident-panel"/>
          <p:cNvSpPr/>
          <p:nvPr/>
        </p:nvSpPr>
        <p:spPr>
          <a:xfrm>
            <a:off x="6553200" y="5054600"/>
            <a:ext cx="4927600" cy="838200"/>
          </a:xfrm>
          <a:prstGeom prst="rect">
            <a:avLst/>
          </a:prstGeom>
          <a:solidFill>
            <a:srgbClr val="F9ECEA"/>
          </a:solidFill>
          <a:ln w="12700">
            <a:solidFill>
              <a:srgbClr val="B4443C"/>
            </a:solidFill>
          </a:ln>
        </p:spPr>
      </p:sp>
      <p:sp>
        <p:nvSpPr>
          <p:cNvPr id="11" name="incident"/>
          <p:cNvSpPr txBox="1"/>
          <p:nvPr/>
        </p:nvSpPr>
        <p:spPr>
          <a:xfrm>
            <a:off x="6705600" y="5130800"/>
            <a:ext cx="46228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0000"/>
              </a:lnSpc>
            </a:pPr>
            <a:r>
              <a:rPr lang="en-US" sz="950" b="1">
                <a:solidFill>
                  <a:srgbClr val="B4443C"/>
                </a:solidFill>
                <a:latin typeface="MiSans"/>
                <a:ea typeface="MiSans"/>
              </a:rPr>
              <a:t>Por que a regra do attempt_file existe:</a:t>
            </a:r>
            <a:r>
              <a:rPr lang="en-US" sz="950">
                <a:solidFill>
                  <a:srgbClr val="454A51"/>
                </a:solidFill>
                <a:latin typeface="MiSans"/>
                <a:ea typeface="MiSans"/>
              </a:rPr>
              <a:t> uma unidade "mastered" apontando para tentativa ausente foi exatamente o modo de falha das </a:t>
            </a:r>
            <a:r>
              <a:rPr lang="en-US" sz="950" b="1">
                <a:solidFill>
                  <a:srgbClr val="454A51"/>
                </a:solidFill>
                <a:latin typeface="MiSans"/>
                <a:ea typeface="MiSans"/>
              </a:rPr>
              <a:t>18 masterizações falsas de 2026-07-01</a:t>
            </a:r>
            <a:r>
              <a:rPr lang="en-US" sz="950">
                <a:solidFill>
                  <a:srgbClr val="454A51"/>
                </a:solidFill>
                <a:latin typeface="MiSans"/>
                <a:ea typeface="MiSans"/>
              </a:rPr>
              <a:t> — revertidas por auditoria.</a:t>
            </a:r>
            <a:endParaRPr lang="en-US" sz="950"/>
          </a:p>
        </p:txBody>
      </p:sp>
      <p:sp>
        <p:nvSpPr>
          <p:cNvPr id="12" name="bottom-note"/>
          <p:cNvSpPr txBox="1"/>
          <p:nvPr/>
        </p:nvSpPr>
        <p:spPr>
          <a:xfrm>
            <a:off x="711200" y="5689600"/>
            <a:ext cx="5334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0000"/>
              </a:lnSpc>
            </a:pPr>
            <a:r>
              <a:rPr lang="en-US" sz="1050">
                <a:solidFill>
                  <a:srgbClr val="8B9199"/>
                </a:solidFill>
                <a:latin typeface="MiSans"/>
                <a:ea typeface="MiSans"/>
              </a:rPr>
              <a:t>Escrita é atômica e re-validada: </a:t>
            </a:r>
            <a:r>
              <a:rPr lang="en-US" sz="1050">
                <a:solidFill>
                  <a:srgbClr val="96401E"/>
                </a:solidFill>
                <a:latin typeface="MiSans"/>
                <a:ea typeface="MiSans"/>
              </a:rPr>
              <a:t>commit_gate_transition()</a:t>
            </a:r>
            <a:r>
              <a:rPr lang="en-US" sz="1050">
                <a:solidFill>
                  <a:srgbClr val="8B9199"/>
                </a:solidFill>
                <a:latin typeface="MiSans"/>
                <a:ea typeface="MiSans"/>
              </a:rPr>
              <a:t> aplica a transição, re-executa todas as invariantes e só então persiste + regenera as views.</a:t>
            </a:r>
            <a:endParaRPr lang="en-US" sz="1050"/>
          </a:p>
        </p:txBody>
      </p:sp>
      <p:sp>
        <p:nvSpPr>
          <p:cNvPr id="13" name="footer-lin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E3E6EA"/>
          </a:solidFill>
          <a:ln>
            <a:noFill/>
          </a:ln>
        </p:spPr>
      </p:sp>
      <p:sp>
        <p:nvSpPr>
          <p:cNvPr id="14" name="footer-left"/>
          <p:cNvSpPr txBox="1"/>
          <p:nvPr/>
        </p:nvSpPr>
        <p:spPr>
          <a:xfrm>
            <a:off x="711200" y="6553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35000"/>
              </a:lnSpc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AI DEVSCHOOL — COMO FUNCIONA</a:t>
            </a:r>
            <a:endParaRPr lang="en-US" sz="900"/>
          </a:p>
        </p:txBody>
      </p:sp>
      <p:sp>
        <p:nvSpPr>
          <p:cNvPr id="15" name="footer-page"/>
          <p:cNvSpPr txBox="1"/>
          <p:nvPr/>
        </p:nvSpPr>
        <p:spPr>
          <a:xfrm>
            <a:off x="10414000" y="6553200"/>
            <a:ext cx="106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35000"/>
              </a:lnSpc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09</a:t>
            </a:r>
            <a:endParaRPr lang="en-US" sz="9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 b="1" spc="250" kern="0">
                <a:solidFill>
                  <a:srgbClr val="BC5327"/>
                </a:solidFill>
                <a:latin typeface="MiSans"/>
                <a:ea typeface="MiSans"/>
              </a:rPr>
              <a:t>09 · O VERIFICADOR INDEPENDENTE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11200" y="7112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15000"/>
              </a:lnSpc>
            </a:pPr>
            <a:r>
              <a:rPr lang="en-US" sz="2600" b="1">
                <a:solidFill>
                  <a:srgbClr val="1B1E23"/>
                </a:solidFill>
                <a:latin typeface="MiSans"/>
                <a:ea typeface="MiSans"/>
              </a:rPr>
              <a:t>learner/gate: a fronteira de confiança (Prometor executável)</a:t>
            </a:r>
            <a:endParaRPr lang="en-US" sz="2600"/>
          </a:p>
        </p:txBody>
      </p:sp>
      <p:sp>
        <p:nvSpPr>
          <p:cNvPr id="4" name="title-rule"/>
          <p:cNvSpPr/>
          <p:nvPr/>
        </p:nvSpPr>
        <p:spPr>
          <a:xfrm>
            <a:off x="711200" y="1295400"/>
            <a:ext cx="711200" cy="38100"/>
          </a:xfrm>
          <a:prstGeom prst="rect">
            <a:avLst/>
          </a:prstGeom>
          <a:solidFill>
            <a:srgbClr val="BC5327"/>
          </a:solidFill>
          <a:ln>
            <a:noFill/>
          </a:ln>
        </p:spPr>
      </p:sp>
      <p:sp>
        <p:nvSpPr>
          <p:cNvPr id="5" name="s1n"/>
          <p:cNvSpPr/>
          <p:nvPr/>
        </p:nvSpPr>
        <p:spPr>
          <a:xfrm>
            <a:off x="711200" y="1625600"/>
            <a:ext cx="304800" cy="304800"/>
          </a:xfrm>
          <a:prstGeom prst="rect">
            <a:avLst/>
          </a:prstGeom>
          <a:solidFill>
            <a:srgbClr val="BC5327"/>
          </a:solidFill>
          <a:ln>
            <a:noFill/>
          </a:ln>
        </p:spPr>
      </p:sp>
      <p:sp>
        <p:nvSpPr>
          <p:cNvPr id="6" name="s1num"/>
          <p:cNvSpPr txBox="1"/>
          <p:nvPr/>
        </p:nvSpPr>
        <p:spPr>
          <a:xfrm>
            <a:off x="711200" y="1625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100" b="1">
                <a:solidFill>
                  <a:srgbClr val="FFFFFF"/>
                </a:solidFill>
                <a:latin typeface="MiSans"/>
                <a:ea typeface="MiSans"/>
              </a:rPr>
              <a:t>1</a:t>
            </a:r>
            <a:endParaRPr lang="en-US" sz="1100"/>
          </a:p>
        </p:txBody>
      </p:sp>
      <p:sp>
        <p:nvSpPr>
          <p:cNvPr id="7" name="s1"/>
          <p:cNvSpPr txBox="1"/>
          <p:nvPr/>
        </p:nvSpPr>
        <p:spPr>
          <a:xfrm>
            <a:off x="1168400" y="1600200"/>
            <a:ext cx="5080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5000"/>
              </a:lnSpc>
            </a:pPr>
            <a:r>
              <a:rPr lang="en-US" sz="1050" b="1">
                <a:solidFill>
                  <a:srgbClr val="454A51"/>
                </a:solidFill>
                <a:latin typeface="MiSans"/>
                <a:ea typeface="MiSans"/>
              </a:rPr>
              <a:t>Carregar estado + evidência</a:t>
            </a:r>
            <a:endParaRPr lang="en-US" sz="1050"/>
          </a:p>
          <a:p>
            <a:pPr algn="l">
              <a:lnSpc>
                <a:spcPct val="145000"/>
              </a:lnSpc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valida o canônico; seleciona o último registro do active_unit. Sem registro = "nothing to grade" — não é FAIL.</a:t>
            </a:r>
            <a:endParaRPr lang="en-US" sz="1050"/>
          </a:p>
        </p:txBody>
      </p:sp>
      <p:sp>
        <p:nvSpPr>
          <p:cNvPr id="8" name="sl1"/>
          <p:cNvSpPr/>
          <p:nvPr>
            <p:extLst>
              <p:ext uri="{F5677B7D-0D2A-4D9B-9A5C-6D8D7D0E5A5D}">
                <pptd:line encoding="base64url">eyJjdXJ2ZSI6InJvdW5kIiwicG9pbnRzIjoiNCwwIDQsMjAiLCJ2aWV3Qm94IjpbOCwyMF19</pptd:line>
              </p:ext>
            </p:extLst>
          </p:nvPr>
        </p:nvSpPr>
        <p:spPr>
          <a:xfrm>
            <a:off x="812800" y="2006600"/>
            <a:ext cx="101600" cy="254000"/>
          </a:xfrm>
          <a:custGeom>
            <a:avLst/>
            <a:gdLst/>
            <a:ahLst/>
            <a:cxnLst/>
            <a:rect l="l" t="t" r="r" b="b"/>
            <a:pathLst>
              <a:path w="8" h="20">
                <a:moveTo>
                  <a:pt x="4" y="0"/>
                </a:moveTo>
                <a:lnTo>
                  <a:pt x="4" y="20"/>
                </a:lnTo>
              </a:path>
            </a:pathLst>
          </a:custGeom>
          <a:noFill/>
          <a:ln w="19050" cap="rnd">
            <a:solidFill>
              <a:srgbClr val="E3E6EA"/>
            </a:solidFill>
            <a:round/>
          </a:ln>
        </p:spPr>
      </p:sp>
      <p:sp>
        <p:nvSpPr>
          <p:cNvPr id="9" name="s2n"/>
          <p:cNvSpPr/>
          <p:nvPr/>
        </p:nvSpPr>
        <p:spPr>
          <a:xfrm>
            <a:off x="711200" y="2311400"/>
            <a:ext cx="304800" cy="304800"/>
          </a:xfrm>
          <a:prstGeom prst="rect">
            <a:avLst/>
          </a:prstGeom>
          <a:solidFill>
            <a:srgbClr val="BC5327"/>
          </a:solidFill>
          <a:ln>
            <a:noFill/>
          </a:ln>
        </p:spPr>
      </p:sp>
      <p:sp>
        <p:nvSpPr>
          <p:cNvPr id="10" name="s2num"/>
          <p:cNvSpPr txBox="1"/>
          <p:nvPr/>
        </p:nvSpPr>
        <p:spPr>
          <a:xfrm>
            <a:off x="711200" y="23114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100" b="1">
                <a:solidFill>
                  <a:srgbClr val="FFFFFF"/>
                </a:solidFill>
                <a:latin typeface="MiSans"/>
                <a:ea typeface="MiSans"/>
              </a:rPr>
              <a:t>2</a:t>
            </a:r>
            <a:endParaRPr lang="en-US" sz="1100"/>
          </a:p>
        </p:txBody>
      </p:sp>
      <p:sp>
        <p:nvSpPr>
          <p:cNvPr id="11" name="s2"/>
          <p:cNvSpPr txBox="1"/>
          <p:nvPr/>
        </p:nvSpPr>
        <p:spPr>
          <a:xfrm>
            <a:off x="1168400" y="2286000"/>
            <a:ext cx="5080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5000"/>
              </a:lnSpc>
            </a:pPr>
            <a:r>
              <a:rPr lang="en-US" sz="1050" b="1">
                <a:solidFill>
                  <a:srgbClr val="454A51"/>
                </a:solidFill>
                <a:latin typeface="MiSans"/>
                <a:ea typeface="MiSans"/>
              </a:rPr>
              <a:t>Semântica da evidência</a:t>
            </a:r>
            <a:endParaRPr lang="en-US" sz="1050"/>
          </a:p>
          <a:p>
            <a:pPr algn="l">
              <a:lnSpc>
                <a:spcPct val="145000"/>
              </a:lnSpc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campos obrigatórios; identidade bate com a unidade ativa; </a:t>
            </a:r>
            <a:r>
              <a:rPr lang="en-US" sz="900" b="1">
                <a:solidFill>
                  <a:srgbClr val="8B9199"/>
                </a:solidFill>
                <a:latin typeface="MiSans"/>
                <a:ea typeface="MiSans"/>
              </a:rPr>
              <a:t>rejeita bloco verifier embutido</a:t>
            </a: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.</a:t>
            </a:r>
            <a:endParaRPr lang="en-US" sz="1050"/>
          </a:p>
        </p:txBody>
      </p:sp>
      <p:sp>
        <p:nvSpPr>
          <p:cNvPr id="12" name="sl2"/>
          <p:cNvSpPr/>
          <p:nvPr>
            <p:extLst>
              <p:ext uri="{F5677B7D-0D2A-4D9B-9A5C-6D8D7D0E5A5D}">
                <pptd:line encoding="base64url">eyJjdXJ2ZSI6InJvdW5kIiwicG9pbnRzIjoiNCwwIDQsMjAiLCJ2aWV3Qm94IjpbOCwyMF19</pptd:line>
              </p:ext>
            </p:extLst>
          </p:nvPr>
        </p:nvSpPr>
        <p:spPr>
          <a:xfrm>
            <a:off x="812800" y="2692400"/>
            <a:ext cx="101600" cy="254000"/>
          </a:xfrm>
          <a:custGeom>
            <a:avLst/>
            <a:gdLst/>
            <a:ahLst/>
            <a:cxnLst/>
            <a:rect l="l" t="t" r="r" b="b"/>
            <a:pathLst>
              <a:path w="8" h="20">
                <a:moveTo>
                  <a:pt x="4" y="0"/>
                </a:moveTo>
                <a:lnTo>
                  <a:pt x="4" y="20"/>
                </a:lnTo>
              </a:path>
            </a:pathLst>
          </a:custGeom>
          <a:noFill/>
          <a:ln w="19050" cap="rnd">
            <a:solidFill>
              <a:srgbClr val="E3E6EA"/>
            </a:solidFill>
            <a:round/>
          </a:ln>
        </p:spPr>
      </p:sp>
      <p:sp>
        <p:nvSpPr>
          <p:cNvPr id="13" name="s3n"/>
          <p:cNvSpPr/>
          <p:nvPr/>
        </p:nvSpPr>
        <p:spPr>
          <a:xfrm>
            <a:off x="711200" y="2997200"/>
            <a:ext cx="304800" cy="304800"/>
          </a:xfrm>
          <a:prstGeom prst="rect">
            <a:avLst/>
          </a:prstGeom>
          <a:solidFill>
            <a:srgbClr val="BC5327"/>
          </a:solidFill>
          <a:ln>
            <a:noFill/>
          </a:ln>
        </p:spPr>
      </p:sp>
      <p:sp>
        <p:nvSpPr>
          <p:cNvPr id="14" name="s3num"/>
          <p:cNvSpPr txBox="1"/>
          <p:nvPr/>
        </p:nvSpPr>
        <p:spPr>
          <a:xfrm>
            <a:off x="711200" y="29972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100" b="1">
                <a:solidFill>
                  <a:srgbClr val="FFFFFF"/>
                </a:solidFill>
                <a:latin typeface="MiSans"/>
                <a:ea typeface="MiSans"/>
              </a:rPr>
              <a:t>3</a:t>
            </a:r>
            <a:endParaRPr lang="en-US" sz="1100"/>
          </a:p>
        </p:txBody>
      </p:sp>
      <p:sp>
        <p:nvSpPr>
          <p:cNvPr id="15" name="s3"/>
          <p:cNvSpPr txBox="1"/>
          <p:nvPr/>
        </p:nvSpPr>
        <p:spPr>
          <a:xfrm>
            <a:off x="1168400" y="2971800"/>
            <a:ext cx="5080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5000"/>
              </a:lnSpc>
            </a:pPr>
            <a:r>
              <a:rPr lang="en-US" sz="1050" b="1">
                <a:solidFill>
                  <a:srgbClr val="454A51"/>
                </a:solidFill>
                <a:latin typeface="MiSans"/>
                <a:ea typeface="MiSans"/>
              </a:rPr>
              <a:t>Eligibilidade</a:t>
            </a:r>
            <a:endParaRPr lang="en-US" sz="1050"/>
          </a:p>
          <a:p>
            <a:pPr algn="l">
              <a:lnSpc>
                <a:spcPct val="145000"/>
              </a:lnSpc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attempt_file existe e é não-vazio; state == evaluating; ts anti-replay (estritamente mais novo).</a:t>
            </a:r>
            <a:endParaRPr lang="en-US" sz="1050"/>
          </a:p>
        </p:txBody>
      </p:sp>
      <p:sp>
        <p:nvSpPr>
          <p:cNvPr id="16" name="sl3"/>
          <p:cNvSpPr/>
          <p:nvPr>
            <p:extLst>
              <p:ext uri="{F5677B7D-0D2A-4D9B-9A5C-6D8D7D0E5A5D}">
                <pptd:line encoding="base64url">eyJjdXJ2ZSI6InJvdW5kIiwicG9pbnRzIjoiNCwwIDQsMjAiLCJ2aWV3Qm94IjpbOCwyMF19</pptd:line>
              </p:ext>
            </p:extLst>
          </p:nvPr>
        </p:nvSpPr>
        <p:spPr>
          <a:xfrm>
            <a:off x="812800" y="3378200"/>
            <a:ext cx="101600" cy="254000"/>
          </a:xfrm>
          <a:custGeom>
            <a:avLst/>
            <a:gdLst/>
            <a:ahLst/>
            <a:cxnLst/>
            <a:rect l="l" t="t" r="r" b="b"/>
            <a:pathLst>
              <a:path w="8" h="20">
                <a:moveTo>
                  <a:pt x="4" y="0"/>
                </a:moveTo>
                <a:lnTo>
                  <a:pt x="4" y="20"/>
                </a:lnTo>
              </a:path>
            </a:pathLst>
          </a:custGeom>
          <a:noFill/>
          <a:ln w="19050" cap="rnd">
            <a:solidFill>
              <a:srgbClr val="E3E6EA"/>
            </a:solidFill>
            <a:round/>
          </a:ln>
        </p:spPr>
      </p:sp>
      <p:sp>
        <p:nvSpPr>
          <p:cNvPr id="17" name="s4n"/>
          <p:cNvSpPr/>
          <p:nvPr/>
        </p:nvSpPr>
        <p:spPr>
          <a:xfrm>
            <a:off x="711200" y="3683000"/>
            <a:ext cx="304800" cy="304800"/>
          </a:xfrm>
          <a:prstGeom prst="rect">
            <a:avLst/>
          </a:prstGeom>
          <a:solidFill>
            <a:srgbClr val="BC5327"/>
          </a:solidFill>
          <a:ln>
            <a:noFill/>
          </a:ln>
        </p:spPr>
      </p:sp>
      <p:sp>
        <p:nvSpPr>
          <p:cNvPr id="18" name="s4num"/>
          <p:cNvSpPr txBox="1"/>
          <p:nvPr/>
        </p:nvSpPr>
        <p:spPr>
          <a:xfrm>
            <a:off x="711200" y="36830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100" b="1">
                <a:solidFill>
                  <a:srgbClr val="FFFFFF"/>
                </a:solidFill>
                <a:latin typeface="MiSans"/>
                <a:ea typeface="MiSans"/>
              </a:rPr>
              <a:t>4</a:t>
            </a:r>
            <a:endParaRPr lang="en-US" sz="1100"/>
          </a:p>
        </p:txBody>
      </p:sp>
      <p:sp>
        <p:nvSpPr>
          <p:cNvPr id="19" name="s4"/>
          <p:cNvSpPr txBox="1"/>
          <p:nvPr/>
        </p:nvSpPr>
        <p:spPr>
          <a:xfrm>
            <a:off x="1168400" y="3657600"/>
            <a:ext cx="5080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5000"/>
              </a:lnSpc>
            </a:pPr>
            <a:r>
              <a:rPr lang="en-US" sz="1050" b="1">
                <a:solidFill>
                  <a:srgbClr val="454A51"/>
                </a:solidFill>
                <a:latin typeface="MiSans"/>
                <a:ea typeface="MiSans"/>
              </a:rPr>
              <a:t>Decisão</a:t>
            </a:r>
            <a:endParaRPr lang="en-US" sz="1050"/>
          </a:p>
          <a:p>
            <a:pPr algn="l">
              <a:lnSpc>
                <a:spcPct val="145000"/>
              </a:lnSpc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PASS só via recibo de verificador ou rubrica empírica independente — </a:t>
            </a:r>
            <a:r>
              <a:rPr lang="en-US" sz="900" b="1">
                <a:solidFill>
                  <a:srgbClr val="8B9199"/>
                </a:solidFill>
                <a:latin typeface="MiSans"/>
                <a:ea typeface="MiSans"/>
              </a:rPr>
              <a:t>nunca o "pass" do produtor</a:t>
            </a: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.</a:t>
            </a:r>
            <a:endParaRPr lang="en-US" sz="1050"/>
          </a:p>
        </p:txBody>
      </p:sp>
      <p:sp>
        <p:nvSpPr>
          <p:cNvPr id="20" name="sl4"/>
          <p:cNvSpPr/>
          <p:nvPr>
            <p:extLst>
              <p:ext uri="{F5677B7D-0D2A-4D9B-9A5C-6D8D7D0E5A5D}">
                <pptd:line encoding="base64url">eyJjdXJ2ZSI6InJvdW5kIiwicG9pbnRzIjoiNCwwIDQsMjAiLCJ2aWV3Qm94IjpbOCwyMF19</pptd:line>
              </p:ext>
            </p:extLst>
          </p:nvPr>
        </p:nvSpPr>
        <p:spPr>
          <a:xfrm>
            <a:off x="812800" y="4064000"/>
            <a:ext cx="101600" cy="254000"/>
          </a:xfrm>
          <a:custGeom>
            <a:avLst/>
            <a:gdLst/>
            <a:ahLst/>
            <a:cxnLst/>
            <a:rect l="l" t="t" r="r" b="b"/>
            <a:pathLst>
              <a:path w="8" h="20">
                <a:moveTo>
                  <a:pt x="4" y="0"/>
                </a:moveTo>
                <a:lnTo>
                  <a:pt x="4" y="20"/>
                </a:lnTo>
              </a:path>
            </a:pathLst>
          </a:custGeom>
          <a:noFill/>
          <a:ln w="19050" cap="rnd">
            <a:solidFill>
              <a:srgbClr val="E3E6EA"/>
            </a:solidFill>
            <a:round/>
          </a:ln>
        </p:spPr>
      </p:sp>
      <p:sp>
        <p:nvSpPr>
          <p:cNvPr id="21" name="s5n"/>
          <p:cNvSpPr/>
          <p:nvPr/>
        </p:nvSpPr>
        <p:spPr>
          <a:xfrm>
            <a:off x="711200" y="4368800"/>
            <a:ext cx="304800" cy="304800"/>
          </a:xfrm>
          <a:prstGeom prst="rect">
            <a:avLst/>
          </a:prstGeom>
          <a:solidFill>
            <a:srgbClr val="1B1E23"/>
          </a:solidFill>
          <a:ln>
            <a:noFill/>
          </a:ln>
        </p:spPr>
      </p:sp>
      <p:sp>
        <p:nvSpPr>
          <p:cNvPr id="22" name="s5num"/>
          <p:cNvSpPr txBox="1"/>
          <p:nvPr/>
        </p:nvSpPr>
        <p:spPr>
          <a:xfrm>
            <a:off x="711200" y="43688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100" b="1">
                <a:solidFill>
                  <a:srgbClr val="FFFFFF"/>
                </a:solidFill>
                <a:latin typeface="MiSans"/>
                <a:ea typeface="MiSans"/>
              </a:rPr>
              <a:t>5</a:t>
            </a:r>
            <a:endParaRPr lang="en-US" sz="1100"/>
          </a:p>
        </p:txBody>
      </p:sp>
      <p:sp>
        <p:nvSpPr>
          <p:cNvPr id="23" name="s5"/>
          <p:cNvSpPr txBox="1"/>
          <p:nvPr/>
        </p:nvSpPr>
        <p:spPr>
          <a:xfrm>
            <a:off x="1168400" y="4343400"/>
            <a:ext cx="5080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5000"/>
              </a:lnSpc>
            </a:pPr>
            <a:r>
              <a:rPr lang="en-US" sz="1050" b="1">
                <a:solidFill>
                  <a:srgbClr val="454A51"/>
                </a:solidFill>
                <a:latin typeface="MiSans"/>
                <a:ea typeface="MiSans"/>
              </a:rPr>
              <a:t>commit_gate_transition()</a:t>
            </a:r>
            <a:endParaRPr lang="en-US" sz="1050"/>
          </a:p>
          <a:p>
            <a:pPr algn="l">
              <a:lnSpc>
                <a:spcPct val="145000"/>
              </a:lnSpc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recibo imutável (digest, run_id, attempt, scenario) → units_log append → mastered/retry → re-valida invariantes → persiste atomicamente → regenera views.</a:t>
            </a:r>
            <a:endParaRPr lang="en-US" sz="1050"/>
          </a:p>
        </p:txBody>
      </p:sp>
      <p:sp>
        <p:nvSpPr>
          <p:cNvPr id="24" name="cli-note"/>
          <p:cNvSpPr/>
          <p:nvPr/>
        </p:nvSpPr>
        <p:spPr>
          <a:xfrm>
            <a:off x="711200" y="5384800"/>
            <a:ext cx="5537200" cy="711200"/>
          </a:xfrm>
          <a:prstGeom prst="rect">
            <a:avLst/>
          </a:prstGeom>
          <a:solidFill>
            <a:srgbClr val="1B1E23"/>
          </a:solidFill>
          <a:ln>
            <a:noFill/>
          </a:ln>
        </p:spPr>
      </p:sp>
      <p:sp>
        <p:nvSpPr>
          <p:cNvPr id="25" name="cli"/>
          <p:cNvSpPr txBox="1"/>
          <p:nvPr/>
        </p:nvSpPr>
        <p:spPr>
          <a:xfrm>
            <a:off x="863600" y="5461000"/>
            <a:ext cx="5232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0000"/>
              </a:lnSpc>
            </a:pPr>
            <a:r>
              <a:rPr lang="en-US" sz="950">
                <a:solidFill>
                  <a:srgbClr val="F2B794"/>
                </a:solidFill>
                <a:latin typeface="MiSans"/>
                <a:ea typeface="MiSans"/>
              </a:rPr>
              <a:t>$</a:t>
            </a:r>
            <a:r>
              <a:rPr lang="en-US" sz="950">
                <a:solidFill>
                  <a:srgbClr val="D8DDE3"/>
                </a:solidFill>
                <a:latin typeface="MiSans"/>
                <a:ea typeface="MiSans"/>
              </a:rPr>
              <a:t> python3 -m learner.gate --evidence PATH \</a:t>
            </a:r>
            <a:endParaRPr lang="en-US" sz="950"/>
          </a:p>
          <a:p>
            <a:pPr algn="l">
              <a:lnSpc>
                <a:spcPct val="150000"/>
              </a:lnSpc>
            </a:pPr>
            <a:r>
              <a:rPr lang="en-US" sz="950">
                <a:solidFill>
                  <a:srgbClr val="D8DDE3"/>
                </a:solidFill>
                <a:latin typeface="MiSans"/>
                <a:ea typeface="MiSans"/>
              </a:rPr>
              <a:t>  --verifier-receipt learner/verifier_receipts/X.json --dry-run</a:t>
            </a:r>
            <a:endParaRPr lang="en-US" sz="950"/>
          </a:p>
        </p:txBody>
      </p:sp>
      <p:sp>
        <p:nvSpPr>
          <p:cNvPr id="26" name="sec-head"/>
          <p:cNvSpPr txBox="1"/>
          <p:nvPr/>
        </p:nvSpPr>
        <p:spPr>
          <a:xfrm>
            <a:off x="6807200" y="1600200"/>
            <a:ext cx="4673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050" b="1" spc="120" kern="0">
                <a:solidFill>
                  <a:srgbClr val="1B1E23"/>
                </a:solidFill>
                <a:latin typeface="MiSans"/>
                <a:ea typeface="MiSans"/>
              </a:rPr>
              <a:t>INTEGRIDADE — POR QUE NÃO DÁ PARA FORJAR</a:t>
            </a:r>
            <a:endParaRPr lang="en-US" sz="1050"/>
          </a:p>
        </p:txBody>
      </p:sp>
      <p:sp>
        <p:nvSpPr>
          <p:cNvPr id="27" name="sec-rule"/>
          <p:cNvSpPr/>
          <p:nvPr>
            <p:extLst>
              <p:ext uri="{F5677B7D-0D2A-4D9B-9A5C-6D8D7D0E5A5D}">
                <pptd:line encoding="base64url">eyJjdXJ2ZSI6InJvdW5kIiwicG9pbnRzIjoiMCwxIDM2OCwxIiwidmlld0JveCI6WzM2OCwyXX0</pptd:line>
              </p:ext>
            </p:extLst>
          </p:nvPr>
        </p:nvSpPr>
        <p:spPr>
          <a:xfrm>
            <a:off x="6807200" y="1854200"/>
            <a:ext cx="4673600" cy="25400"/>
          </a:xfrm>
          <a:custGeom>
            <a:avLst/>
            <a:gdLst/>
            <a:ahLst/>
            <a:cxnLst/>
            <a:rect l="l" t="t" r="r" b="b"/>
            <a:pathLst>
              <a:path w="368" h="2">
                <a:moveTo>
                  <a:pt x="0" y="1"/>
                </a:moveTo>
                <a:lnTo>
                  <a:pt x="368" y="1"/>
                </a:lnTo>
              </a:path>
            </a:pathLst>
          </a:custGeom>
          <a:noFill/>
          <a:ln w="12700" cap="rnd">
            <a:solidFill>
              <a:srgbClr val="E3E6EA"/>
            </a:solidFill>
            <a:round/>
          </a:ln>
        </p:spPr>
      </p:sp>
      <p:sp>
        <p:nvSpPr>
          <p:cNvPr id="28" name="sec1"/>
          <p:cNvSpPr txBox="1"/>
          <p:nvPr/>
        </p:nvSpPr>
        <p:spPr>
          <a:xfrm>
            <a:off x="6807200" y="2006600"/>
            <a:ext cx="46736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5000"/>
              </a:lnSpc>
            </a:pPr>
            <a:r>
              <a:rPr lang="en-US" sz="1050" b="1">
                <a:solidFill>
                  <a:srgbClr val="454A51"/>
                </a:solidFill>
                <a:latin typeface="MiSans"/>
                <a:ea typeface="MiSans"/>
              </a:rPr>
              <a:t>Digest SHA-256 canônico</a:t>
            </a:r>
            <a:r>
              <a:rPr lang="en-US" sz="1050">
                <a:solidFill>
                  <a:srgbClr val="454A51"/>
                </a:solidFill>
                <a:latin typeface="MiSans"/>
                <a:ea typeface="MiSans"/>
              </a:rPr>
              <a:t> cobre o payload estável do produtor </a:t>
            </a:r>
            <a:r>
              <a:rPr lang="en-US" sz="1050" b="1">
                <a:solidFill>
                  <a:srgbClr val="454A51"/>
                </a:solidFill>
                <a:latin typeface="MiSans"/>
                <a:ea typeface="MiSans"/>
              </a:rPr>
              <a:t>excluindo ts e verifier</a:t>
            </a:r>
            <a:r>
              <a:rPr lang="en-US" sz="1050">
                <a:solidFill>
                  <a:srgbClr val="454A51"/>
                </a:solidFill>
                <a:latin typeface="MiSans"/>
                <a:ea typeface="MiSans"/>
              </a:rPr>
              <a:t> — mudar o timestamp não "renova" a evidência; embutir verificador não autoriza.</a:t>
            </a:r>
            <a:endParaRPr lang="en-US" sz="1050"/>
          </a:p>
        </p:txBody>
      </p:sp>
      <p:sp>
        <p:nvSpPr>
          <p:cNvPr id="29" name="sec2"/>
          <p:cNvSpPr txBox="1"/>
          <p:nvPr/>
        </p:nvSpPr>
        <p:spPr>
          <a:xfrm>
            <a:off x="6807200" y="2870200"/>
            <a:ext cx="46736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5000"/>
              </a:lnSpc>
            </a:pPr>
            <a:r>
              <a:rPr lang="en-US" sz="1050" b="1">
                <a:solidFill>
                  <a:srgbClr val="454A51"/>
                </a:solidFill>
                <a:latin typeface="MiSans"/>
                <a:ea typeface="MiSans"/>
              </a:rPr>
              <a:t>Anti-replay triplo:</a:t>
            </a:r>
            <a:r>
              <a:rPr lang="en-US" sz="1050">
                <a:solidFill>
                  <a:srgbClr val="454A51"/>
                </a:solidFill>
                <a:latin typeface="MiSans"/>
                <a:ea typeface="MiSans"/>
              </a:rPr>
              <a:t> digest já consumido → rejeita; attempt_id+scenario repetido → rejeita; run_id reutilizado com payload diferente → erro.</a:t>
            </a:r>
            <a:endParaRPr lang="en-US" sz="1050"/>
          </a:p>
        </p:txBody>
      </p:sp>
      <p:sp>
        <p:nvSpPr>
          <p:cNvPr id="30" name="sec3"/>
          <p:cNvSpPr txBox="1"/>
          <p:nvPr/>
        </p:nvSpPr>
        <p:spPr>
          <a:xfrm>
            <a:off x="6807200" y="3733800"/>
            <a:ext cx="46736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5000"/>
              </a:lnSpc>
            </a:pPr>
            <a:r>
              <a:rPr lang="en-US" sz="1050" b="1">
                <a:solidFill>
                  <a:srgbClr val="454A51"/>
                </a:solidFill>
                <a:latin typeface="MiSans"/>
                <a:ea typeface="MiSans"/>
              </a:rPr>
              <a:t>Path hardening:</a:t>
            </a:r>
            <a:r>
              <a:rPr lang="en-US" sz="1050">
                <a:solidFill>
                  <a:srgbClr val="454A51"/>
                </a:solidFill>
                <a:latin typeface="MiSans"/>
                <a:ea typeface="MiSans"/>
              </a:rPr>
              <a:t> tentativas só dentro de learner/attempts/ (sem atravessar symlinks); recibos só de learner/verifier_receipts/.</a:t>
            </a:r>
            <a:endParaRPr lang="en-US" sz="1050"/>
          </a:p>
        </p:txBody>
      </p:sp>
      <p:sp>
        <p:nvSpPr>
          <p:cNvPr id="31" name="sec4"/>
          <p:cNvSpPr txBox="1"/>
          <p:nvPr/>
        </p:nvSpPr>
        <p:spPr>
          <a:xfrm>
            <a:off x="6807200" y="4597400"/>
            <a:ext cx="4673600" cy="116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5000"/>
              </a:lnSpc>
            </a:pPr>
            <a:r>
              <a:rPr lang="en-US" sz="1050" b="1">
                <a:solidFill>
                  <a:srgbClr val="454A51"/>
                </a:solidFill>
                <a:latin typeface="MiSans"/>
                <a:ea typeface="MiSans"/>
              </a:rPr>
              <a:t>Recibo de verificador (JSON separado):</a:t>
            </a:r>
            <a:r>
              <a:rPr lang="en-US" sz="1050">
                <a:solidFill>
                  <a:srgbClr val="454A51"/>
                </a:solidFill>
                <a:latin typeface="MiSans"/>
                <a:ea typeface="MiSans"/>
              </a:rPr>
              <a:t> verdict · context_isolated: true · mutation_score ≥ 0.65 · coverage_core ≥ 0.80 · source · evidence_digest — o digest deve casar com a evidência do produtor.</a:t>
            </a:r>
            <a:endParaRPr lang="en-US" sz="1050"/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lang="en-US" sz="1050">
                <a:solidFill>
                  <a:srgbClr val="8B9199"/>
                </a:solidFill>
                <a:latin typeface="MiSans"/>
                <a:ea typeface="MiSans"/>
              </a:rPr>
              <a:t>Um "PASS mentiroso" com métricas abaixo do limiar falha: verified_pass exige verdict + métricas + isolamento.</a:t>
            </a:r>
            <a:endParaRPr lang="en-US" sz="1050"/>
          </a:p>
        </p:txBody>
      </p:sp>
      <p:sp>
        <p:nvSpPr>
          <p:cNvPr id="32" name="footer-lin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E3E6EA"/>
          </a:solidFill>
          <a:ln>
            <a:noFill/>
          </a:ln>
        </p:spPr>
      </p:sp>
      <p:sp>
        <p:nvSpPr>
          <p:cNvPr id="33" name="footer-left"/>
          <p:cNvSpPr txBox="1"/>
          <p:nvPr/>
        </p:nvSpPr>
        <p:spPr>
          <a:xfrm>
            <a:off x="711200" y="6553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35000"/>
              </a:lnSpc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AI DEVSCHOOL — COMO FUNCIONA</a:t>
            </a:r>
            <a:endParaRPr lang="en-US" sz="900"/>
          </a:p>
        </p:txBody>
      </p:sp>
      <p:sp>
        <p:nvSpPr>
          <p:cNvPr id="34" name="footer-page"/>
          <p:cNvSpPr txBox="1"/>
          <p:nvPr/>
        </p:nvSpPr>
        <p:spPr>
          <a:xfrm>
            <a:off x="10414000" y="6553200"/>
            <a:ext cx="106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35000"/>
              </a:lnSpc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10</a:t>
            </a:r>
            <a:endParaRPr lang="en-US" sz="9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 b="1" spc="250" kern="0">
                <a:solidFill>
                  <a:srgbClr val="BC5327"/>
                </a:solidFill>
                <a:latin typeface="MiSans"/>
                <a:ea typeface="MiSans"/>
              </a:rPr>
              <a:t>10 · CURRÍCULO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11200" y="7112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15000"/>
              </a:lnSpc>
            </a:pPr>
            <a:r>
              <a:rPr lang="en-US" sz="2600" b="1">
                <a:solidFill>
                  <a:srgbClr val="1B1E23"/>
                </a:solidFill>
                <a:latin typeface="MiSans"/>
                <a:ea typeface="MiSans"/>
              </a:rPr>
              <a:t>curriculum/: 18 projetos poliglotas em 6 níveis</a:t>
            </a:r>
            <a:endParaRPr lang="en-US" sz="2600"/>
          </a:p>
        </p:txBody>
      </p:sp>
      <p:sp>
        <p:nvSpPr>
          <p:cNvPr id="4" name="title-rule"/>
          <p:cNvSpPr/>
          <p:nvPr/>
        </p:nvSpPr>
        <p:spPr>
          <a:xfrm>
            <a:off x="711200" y="1295400"/>
            <a:ext cx="711200" cy="38100"/>
          </a:xfrm>
          <a:prstGeom prst="rect">
            <a:avLst/>
          </a:prstGeom>
          <a:solidFill>
            <a:srgbClr val="BC5327"/>
          </a:solidFill>
          <a:ln>
            <a:noFill/>
          </a:ln>
        </p:spPr>
      </p:sp>
      <p:sp>
        <p:nvSpPr>
          <p:cNvPr id="5" name="lv-head"/>
          <p:cNvSpPr txBox="1"/>
          <p:nvPr/>
        </p:nvSpPr>
        <p:spPr>
          <a:xfrm>
            <a:off x="711200" y="1524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000" b="1" spc="120" kern="0">
                <a:solidFill>
                  <a:srgbClr val="1B1E23"/>
                </a:solidFill>
                <a:latin typeface="MiSans"/>
                <a:ea typeface="MiSans"/>
              </a:rPr>
              <a:t>A ESCADA DE NÍVEIS (catalog.md)</a:t>
            </a:r>
            <a:endParaRPr lang="en-US" sz="1000"/>
          </a:p>
        </p:txBody>
      </p:sp>
      <p:sp>
        <p:nvSpPr>
          <p:cNvPr id="6" name="lv1"/>
          <p:cNvSpPr/>
          <p:nvPr/>
        </p:nvSpPr>
        <p:spPr>
          <a:xfrm>
            <a:off x="711200" y="1803400"/>
            <a:ext cx="1117600" cy="381000"/>
          </a:xfrm>
          <a:prstGeom prst="rect">
            <a:avLst/>
          </a:prstGeom>
          <a:solidFill>
            <a:srgbClr val="EDF1F5"/>
          </a:solidFill>
          <a:ln w="12700">
            <a:solidFill>
              <a:srgbClr val="33506B"/>
            </a:solidFill>
          </a:ln>
        </p:spPr>
      </p:sp>
      <p:sp>
        <p:nvSpPr>
          <p:cNvPr id="7" name="lv1-t"/>
          <p:cNvSpPr txBox="1"/>
          <p:nvPr/>
        </p:nvSpPr>
        <p:spPr>
          <a:xfrm>
            <a:off x="711200" y="1803400"/>
            <a:ext cx="11176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20000"/>
              </a:lnSpc>
            </a:pPr>
            <a:r>
              <a:rPr lang="en-US" sz="850" b="1">
                <a:solidFill>
                  <a:srgbClr val="24405A"/>
                </a:solidFill>
                <a:latin typeface="MiSans"/>
                <a:ea typeface="MiSans"/>
              </a:rPr>
              <a:t>1 · Fundamentos</a:t>
            </a:r>
            <a:endParaRPr lang="en-US" sz="850"/>
          </a:p>
        </p:txBody>
      </p:sp>
      <p:sp>
        <p:nvSpPr>
          <p:cNvPr id="8" name="lv2"/>
          <p:cNvSpPr/>
          <p:nvPr/>
        </p:nvSpPr>
        <p:spPr>
          <a:xfrm>
            <a:off x="1295400" y="2311400"/>
            <a:ext cx="1117600" cy="381000"/>
          </a:xfrm>
          <a:prstGeom prst="rect">
            <a:avLst/>
          </a:prstGeom>
          <a:solidFill>
            <a:srgbClr val="EDF1F5"/>
          </a:solidFill>
          <a:ln w="12700">
            <a:solidFill>
              <a:srgbClr val="33506B"/>
            </a:solidFill>
          </a:ln>
        </p:spPr>
      </p:sp>
      <p:sp>
        <p:nvSpPr>
          <p:cNvPr id="9" name="lv2-t"/>
          <p:cNvSpPr txBox="1"/>
          <p:nvPr/>
        </p:nvSpPr>
        <p:spPr>
          <a:xfrm>
            <a:off x="1295400" y="2311400"/>
            <a:ext cx="11176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20000"/>
              </a:lnSpc>
            </a:pPr>
            <a:r>
              <a:rPr lang="en-US" sz="850" b="1">
                <a:solidFill>
                  <a:srgbClr val="24405A"/>
                </a:solidFill>
                <a:latin typeface="MiSans"/>
                <a:ea typeface="MiSans"/>
              </a:rPr>
              <a:t>2 · Concorrência</a:t>
            </a:r>
            <a:endParaRPr lang="en-US" sz="850"/>
          </a:p>
        </p:txBody>
      </p:sp>
      <p:sp>
        <p:nvSpPr>
          <p:cNvPr id="10" name="lv3"/>
          <p:cNvSpPr/>
          <p:nvPr/>
        </p:nvSpPr>
        <p:spPr>
          <a:xfrm>
            <a:off x="1879600" y="2819400"/>
            <a:ext cx="1117600" cy="381000"/>
          </a:xfrm>
          <a:prstGeom prst="rect">
            <a:avLst/>
          </a:prstGeom>
          <a:solidFill>
            <a:srgbClr val="EDF1F5"/>
          </a:solidFill>
          <a:ln w="12700">
            <a:solidFill>
              <a:srgbClr val="33506B"/>
            </a:solidFill>
          </a:ln>
        </p:spPr>
      </p:sp>
      <p:sp>
        <p:nvSpPr>
          <p:cNvPr id="11" name="lv3-t"/>
          <p:cNvSpPr txBox="1"/>
          <p:nvPr/>
        </p:nvSpPr>
        <p:spPr>
          <a:xfrm>
            <a:off x="1879600" y="2819400"/>
            <a:ext cx="11176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20000"/>
              </a:lnSpc>
            </a:pPr>
            <a:r>
              <a:rPr lang="en-US" sz="850" b="1">
                <a:solidFill>
                  <a:srgbClr val="24405A"/>
                </a:solidFill>
                <a:latin typeface="MiSans"/>
                <a:ea typeface="MiSans"/>
              </a:rPr>
              <a:t>3 · Arquitetura</a:t>
            </a:r>
            <a:endParaRPr lang="en-US" sz="850"/>
          </a:p>
        </p:txBody>
      </p:sp>
      <p:sp>
        <p:nvSpPr>
          <p:cNvPr id="12" name="lv4"/>
          <p:cNvSpPr/>
          <p:nvPr/>
        </p:nvSpPr>
        <p:spPr>
          <a:xfrm>
            <a:off x="2463800" y="3327400"/>
            <a:ext cx="1193800" cy="381000"/>
          </a:xfrm>
          <a:prstGeom prst="rect">
            <a:avLst/>
          </a:prstGeom>
          <a:solidFill>
            <a:srgbClr val="EDF1F5"/>
          </a:solidFill>
          <a:ln w="12700">
            <a:solidFill>
              <a:srgbClr val="33506B"/>
            </a:solidFill>
          </a:ln>
        </p:spPr>
      </p:sp>
      <p:sp>
        <p:nvSpPr>
          <p:cNvPr id="13" name="lv4-t"/>
          <p:cNvSpPr txBox="1"/>
          <p:nvPr/>
        </p:nvSpPr>
        <p:spPr>
          <a:xfrm>
            <a:off x="2463800" y="3327400"/>
            <a:ext cx="1193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20000"/>
              </a:lnSpc>
            </a:pPr>
            <a:r>
              <a:rPr lang="en-US" sz="850" b="1">
                <a:solidFill>
                  <a:srgbClr val="24405A"/>
                </a:solidFill>
                <a:latin typeface="MiSans"/>
                <a:ea typeface="MiSans"/>
              </a:rPr>
              <a:t>4 · Escalabilidade</a:t>
            </a:r>
            <a:endParaRPr lang="en-US" sz="850"/>
          </a:p>
        </p:txBody>
      </p:sp>
      <p:sp>
        <p:nvSpPr>
          <p:cNvPr id="14" name="lv5"/>
          <p:cNvSpPr/>
          <p:nvPr/>
        </p:nvSpPr>
        <p:spPr>
          <a:xfrm>
            <a:off x="3048000" y="3835400"/>
            <a:ext cx="1117600" cy="381000"/>
          </a:xfrm>
          <a:prstGeom prst="rect">
            <a:avLst/>
          </a:prstGeom>
          <a:solidFill>
            <a:srgbClr val="EDF1F5"/>
          </a:solidFill>
          <a:ln w="12700">
            <a:solidFill>
              <a:srgbClr val="33506B"/>
            </a:solidFill>
          </a:ln>
        </p:spPr>
      </p:sp>
      <p:sp>
        <p:nvSpPr>
          <p:cNvPr id="15" name="lv5-t"/>
          <p:cNvSpPr txBox="1"/>
          <p:nvPr/>
        </p:nvSpPr>
        <p:spPr>
          <a:xfrm>
            <a:off x="3048000" y="3835400"/>
            <a:ext cx="11176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20000"/>
              </a:lnSpc>
            </a:pPr>
            <a:r>
              <a:rPr lang="en-US" sz="850" b="1">
                <a:solidFill>
                  <a:srgbClr val="24405A"/>
                </a:solidFill>
                <a:latin typeface="MiSans"/>
                <a:ea typeface="MiSans"/>
              </a:rPr>
              <a:t>5 · Resiliência</a:t>
            </a:r>
            <a:endParaRPr lang="en-US" sz="850"/>
          </a:p>
        </p:txBody>
      </p:sp>
      <p:sp>
        <p:nvSpPr>
          <p:cNvPr id="16" name="lv6"/>
          <p:cNvSpPr/>
          <p:nvPr/>
        </p:nvSpPr>
        <p:spPr>
          <a:xfrm>
            <a:off x="3632200" y="4343400"/>
            <a:ext cx="1371600" cy="381000"/>
          </a:xfrm>
          <a:prstGeom prst="rect">
            <a:avLst/>
          </a:prstGeom>
          <a:solidFill>
            <a:srgbClr val="F8EAE1"/>
          </a:solidFill>
          <a:ln w="19050">
            <a:solidFill>
              <a:srgbClr val="BC5327"/>
            </a:solidFill>
          </a:ln>
        </p:spPr>
      </p:sp>
      <p:sp>
        <p:nvSpPr>
          <p:cNvPr id="17" name="lv6-t"/>
          <p:cNvSpPr txBox="1"/>
          <p:nvPr/>
        </p:nvSpPr>
        <p:spPr>
          <a:xfrm>
            <a:off x="3632200" y="4343400"/>
            <a:ext cx="13716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20000"/>
              </a:lnSpc>
            </a:pPr>
            <a:r>
              <a:rPr lang="en-US" sz="850" b="1">
                <a:solidFill>
                  <a:srgbClr val="96401E"/>
                </a:solidFill>
                <a:latin typeface="MiSans"/>
                <a:ea typeface="MiSans"/>
              </a:rPr>
              <a:t>6 · Sist. Complexos</a:t>
            </a:r>
            <a:endParaRPr lang="en-US" sz="850"/>
          </a:p>
        </p:txBody>
      </p:sp>
      <p:sp>
        <p:nvSpPr>
          <p:cNvPr id="18" name="lv-note"/>
          <p:cNvSpPr txBox="1"/>
          <p:nvPr/>
        </p:nvSpPr>
        <p:spPr>
          <a:xfrm>
            <a:off x="711200" y="4978400"/>
            <a:ext cx="4318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0000"/>
              </a:lnSpc>
            </a:pPr>
            <a:r>
              <a:rPr lang="en-US" sz="950">
                <a:solidFill>
                  <a:srgbClr val="8B9199"/>
                </a:solidFill>
                <a:latin typeface="MiSans"/>
                <a:ea typeface="MiSans"/>
              </a:rPr>
              <a:t>Cada projeto é </a:t>
            </a:r>
            <a:r>
              <a:rPr lang="en-US" sz="950" b="1">
                <a:solidFill>
                  <a:srgbClr val="8B9199"/>
                </a:solidFill>
                <a:latin typeface="MiSans"/>
                <a:ea typeface="MiSans"/>
              </a:rPr>
              <a:t>poliglota</a:t>
            </a:r>
            <a:r>
              <a:rPr lang="en-US" sz="950">
                <a:solidFill>
                  <a:srgbClr val="8B9199"/>
                </a:solidFill>
                <a:latin typeface="MiSans"/>
                <a:ea typeface="MiSans"/>
              </a:rPr>
              <a:t> (Go · Rust · Node.js/TS) para engenharia comparativa, e as dependências formam uma </a:t>
            </a:r>
            <a:r>
              <a:rPr lang="en-US" sz="950" b="1">
                <a:solidFill>
                  <a:srgbClr val="8B9199"/>
                </a:solidFill>
                <a:latin typeface="MiSans"/>
                <a:ea typeface="MiSans"/>
              </a:rPr>
              <a:t>skill tree</a:t>
            </a:r>
            <a:r>
              <a:rPr lang="en-US" sz="950">
                <a:solidFill>
                  <a:srgbClr val="8B9199"/>
                </a:solidFill>
                <a:latin typeface="MiSans"/>
                <a:ea typeface="MiSans"/>
              </a:rPr>
              <a:t> (02 depende de 01, 03 depende de 02…).</a:t>
            </a:r>
            <a:endParaRPr lang="en-US" sz="950"/>
          </a:p>
        </p:txBody>
      </p:sp>
      <p:sp>
        <p:nvSpPr>
          <p:cNvPr id="19" name="life-head"/>
          <p:cNvSpPr txBox="1"/>
          <p:nvPr/>
        </p:nvSpPr>
        <p:spPr>
          <a:xfrm>
            <a:off x="5537200" y="1524000"/>
            <a:ext cx="5943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000" b="1" spc="120" kern="0">
                <a:solidFill>
                  <a:srgbClr val="1B1E23"/>
                </a:solidFill>
                <a:latin typeface="MiSans"/>
                <a:ea typeface="MiSans"/>
              </a:rPr>
              <a:t>CICLO DE VIDA UNIFORME POR PROJETO</a:t>
            </a:r>
            <a:endParaRPr lang="en-US" sz="1000"/>
          </a:p>
        </p:txBody>
      </p:sp>
      <p:sp>
        <p:nvSpPr>
          <p:cNvPr id="20" name="lc1"/>
          <p:cNvSpPr/>
          <p:nvPr/>
        </p:nvSpPr>
        <p:spPr>
          <a:xfrm>
            <a:off x="5537200" y="1803400"/>
            <a:ext cx="9144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506B"/>
            </a:solidFill>
          </a:ln>
        </p:spPr>
      </p:sp>
      <p:sp>
        <p:nvSpPr>
          <p:cNvPr id="21" name="lc1-t"/>
          <p:cNvSpPr txBox="1"/>
          <p:nvPr/>
        </p:nvSpPr>
        <p:spPr>
          <a:xfrm>
            <a:off x="5537200" y="1803400"/>
            <a:ext cx="914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950" b="1">
                <a:solidFill>
                  <a:srgbClr val="24405A"/>
                </a:solidFill>
                <a:latin typeface="MiSans"/>
                <a:ea typeface="MiSans"/>
              </a:rPr>
              <a:t>spec</a:t>
            </a:r>
            <a:endParaRPr lang="en-US" sz="950"/>
          </a:p>
        </p:txBody>
      </p:sp>
      <p:sp>
        <p:nvSpPr>
          <p:cNvPr id="22" name="lca1"/>
          <p:cNvSpPr/>
          <p:nvPr>
            <p:extLst>
              <p:ext uri="{F5677B7D-0D2A-4D9B-9A5C-6D8D7D0E5A5D}">
                <pptd:line encoding="base64url">eyJjdXJ2ZSI6InJvdW5kIiwicG9pbnRzIjoiMCw2IDEyLDYiLCJ2aWV3Qm94IjpbMTIsMTJdfQ</pptd:line>
              </p:ext>
            </p:extLst>
          </p:nvPr>
        </p:nvSpPr>
        <p:spPr>
          <a:xfrm>
            <a:off x="6451600" y="1930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2" h="12">
                <a:moveTo>
                  <a:pt x="0" y="6"/>
                </a:moveTo>
                <a:lnTo>
                  <a:pt x="12" y="6"/>
                </a:lnTo>
              </a:path>
            </a:pathLst>
          </a:custGeom>
          <a:noFill/>
          <a:ln w="19050" cap="rnd">
            <a:solidFill>
              <a:srgbClr val="8B9199"/>
            </a:solidFill>
            <a:round/>
            <a:tailEnd type="stealth"/>
          </a:ln>
        </p:spPr>
      </p:sp>
      <p:sp>
        <p:nvSpPr>
          <p:cNvPr id="23" name="lc2"/>
          <p:cNvSpPr/>
          <p:nvPr/>
        </p:nvSpPr>
        <p:spPr>
          <a:xfrm>
            <a:off x="6604000" y="1803400"/>
            <a:ext cx="9144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506B"/>
            </a:solidFill>
          </a:ln>
        </p:spPr>
      </p:sp>
      <p:sp>
        <p:nvSpPr>
          <p:cNvPr id="24" name="lc2-t"/>
          <p:cNvSpPr txBox="1"/>
          <p:nvPr/>
        </p:nvSpPr>
        <p:spPr>
          <a:xfrm>
            <a:off x="6604000" y="1803400"/>
            <a:ext cx="914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20000"/>
              </a:lnSpc>
            </a:pPr>
            <a:r>
              <a:rPr lang="en-US" sz="900" b="1">
                <a:solidFill>
                  <a:srgbClr val="24405A"/>
                </a:solidFill>
                <a:latin typeface="MiSans"/>
                <a:ea typeface="MiSans"/>
              </a:rPr>
              <a:t>impl ×3</a:t>
            </a:r>
            <a:endParaRPr lang="en-US" sz="900"/>
          </a:p>
        </p:txBody>
      </p:sp>
      <p:sp>
        <p:nvSpPr>
          <p:cNvPr id="25" name="lca2"/>
          <p:cNvSpPr/>
          <p:nvPr>
            <p:extLst>
              <p:ext uri="{F5677B7D-0D2A-4D9B-9A5C-6D8D7D0E5A5D}">
                <pptd:line encoding="base64url">eyJjdXJ2ZSI6InJvdW5kIiwicG9pbnRzIjoiMCw2IDEyLDYiLCJ2aWV3Qm94IjpbMTIsMTJdfQ</pptd:line>
              </p:ext>
            </p:extLst>
          </p:nvPr>
        </p:nvSpPr>
        <p:spPr>
          <a:xfrm>
            <a:off x="7518400" y="1930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2" h="12">
                <a:moveTo>
                  <a:pt x="0" y="6"/>
                </a:moveTo>
                <a:lnTo>
                  <a:pt x="12" y="6"/>
                </a:lnTo>
              </a:path>
            </a:pathLst>
          </a:custGeom>
          <a:noFill/>
          <a:ln w="19050" cap="rnd">
            <a:solidFill>
              <a:srgbClr val="8B9199"/>
            </a:solidFill>
            <a:round/>
            <a:tailEnd type="stealth"/>
          </a:ln>
        </p:spPr>
      </p:sp>
      <p:sp>
        <p:nvSpPr>
          <p:cNvPr id="26" name="lc3"/>
          <p:cNvSpPr/>
          <p:nvPr/>
        </p:nvSpPr>
        <p:spPr>
          <a:xfrm>
            <a:off x="7670800" y="1803400"/>
            <a:ext cx="9144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506B"/>
            </a:solidFill>
          </a:ln>
        </p:spPr>
      </p:sp>
      <p:sp>
        <p:nvSpPr>
          <p:cNvPr id="27" name="lc3-t"/>
          <p:cNvSpPr txBox="1"/>
          <p:nvPr/>
        </p:nvSpPr>
        <p:spPr>
          <a:xfrm>
            <a:off x="7670800" y="1803400"/>
            <a:ext cx="914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950" b="1">
                <a:solidFill>
                  <a:srgbClr val="24405A"/>
                </a:solidFill>
                <a:latin typeface="MiSans"/>
                <a:ea typeface="MiSans"/>
              </a:rPr>
              <a:t>review</a:t>
            </a:r>
            <a:endParaRPr lang="en-US" sz="950"/>
          </a:p>
        </p:txBody>
      </p:sp>
      <p:sp>
        <p:nvSpPr>
          <p:cNvPr id="28" name="lca3"/>
          <p:cNvSpPr/>
          <p:nvPr>
            <p:extLst>
              <p:ext uri="{F5677B7D-0D2A-4D9B-9A5C-6D8D7D0E5A5D}">
                <pptd:line encoding="base64url">eyJjdXJ2ZSI6InJvdW5kIiwicG9pbnRzIjoiMCw2IDEyLDYiLCJ2aWV3Qm94IjpbMTIsMTJdfQ</pptd:line>
              </p:ext>
            </p:extLst>
          </p:nvPr>
        </p:nvSpPr>
        <p:spPr>
          <a:xfrm>
            <a:off x="8585200" y="1930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2" h="12">
                <a:moveTo>
                  <a:pt x="0" y="6"/>
                </a:moveTo>
                <a:lnTo>
                  <a:pt x="12" y="6"/>
                </a:lnTo>
              </a:path>
            </a:pathLst>
          </a:custGeom>
          <a:noFill/>
          <a:ln w="19050" cap="rnd">
            <a:solidFill>
              <a:srgbClr val="8B9199"/>
            </a:solidFill>
            <a:round/>
            <a:tailEnd type="stealth"/>
          </a:ln>
        </p:spPr>
      </p:sp>
      <p:sp>
        <p:nvSpPr>
          <p:cNvPr id="29" name="lc4"/>
          <p:cNvSpPr/>
          <p:nvPr/>
        </p:nvSpPr>
        <p:spPr>
          <a:xfrm>
            <a:off x="8737600" y="1803400"/>
            <a:ext cx="9144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506B"/>
            </a:solidFill>
          </a:ln>
        </p:spPr>
      </p:sp>
      <p:sp>
        <p:nvSpPr>
          <p:cNvPr id="30" name="lc4-t"/>
          <p:cNvSpPr txBox="1"/>
          <p:nvPr/>
        </p:nvSpPr>
        <p:spPr>
          <a:xfrm>
            <a:off x="8737600" y="1803400"/>
            <a:ext cx="914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20000"/>
              </a:lnSpc>
            </a:pPr>
            <a:r>
              <a:rPr lang="en-US" sz="900" b="1">
                <a:solidFill>
                  <a:srgbClr val="24405A"/>
                </a:solidFill>
                <a:latin typeface="MiSans"/>
                <a:ea typeface="MiSans"/>
              </a:rPr>
              <a:t>bench N≥3</a:t>
            </a:r>
            <a:endParaRPr lang="en-US" sz="900"/>
          </a:p>
        </p:txBody>
      </p:sp>
      <p:sp>
        <p:nvSpPr>
          <p:cNvPr id="31" name="lca4"/>
          <p:cNvSpPr/>
          <p:nvPr>
            <p:extLst>
              <p:ext uri="{F5677B7D-0D2A-4D9B-9A5C-6D8D7D0E5A5D}">
                <pptd:line encoding="base64url">eyJjdXJ2ZSI6InJvdW5kIiwicG9pbnRzIjoiMCw2IDEyLDYiLCJ2aWV3Qm94IjpbMTIsMTJdfQ</pptd:line>
              </p:ext>
            </p:extLst>
          </p:nvPr>
        </p:nvSpPr>
        <p:spPr>
          <a:xfrm>
            <a:off x="9652000" y="1930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2" h="12">
                <a:moveTo>
                  <a:pt x="0" y="6"/>
                </a:moveTo>
                <a:lnTo>
                  <a:pt x="12" y="6"/>
                </a:lnTo>
              </a:path>
            </a:pathLst>
          </a:custGeom>
          <a:noFill/>
          <a:ln w="19050" cap="rnd">
            <a:solidFill>
              <a:srgbClr val="8B9199"/>
            </a:solidFill>
            <a:round/>
            <a:tailEnd type="stealth"/>
          </a:ln>
        </p:spPr>
      </p:sp>
      <p:sp>
        <p:nvSpPr>
          <p:cNvPr id="32" name="lc5"/>
          <p:cNvSpPr/>
          <p:nvPr/>
        </p:nvSpPr>
        <p:spPr>
          <a:xfrm>
            <a:off x="9804400" y="1803400"/>
            <a:ext cx="8128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506B"/>
            </a:solidFill>
          </a:ln>
        </p:spPr>
      </p:sp>
      <p:sp>
        <p:nvSpPr>
          <p:cNvPr id="33" name="lc5-t"/>
          <p:cNvSpPr txBox="1"/>
          <p:nvPr/>
        </p:nvSpPr>
        <p:spPr>
          <a:xfrm>
            <a:off x="9804400" y="1803400"/>
            <a:ext cx="8128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20000"/>
              </a:lnSpc>
            </a:pPr>
            <a:r>
              <a:rPr lang="en-US" sz="900" b="1">
                <a:solidFill>
                  <a:srgbClr val="24405A"/>
                </a:solidFill>
                <a:latin typeface="MiSans"/>
                <a:ea typeface="MiSans"/>
              </a:rPr>
              <a:t>evolution</a:t>
            </a:r>
            <a:endParaRPr lang="en-US" sz="900"/>
          </a:p>
        </p:txBody>
      </p:sp>
      <p:sp>
        <p:nvSpPr>
          <p:cNvPr id="34" name="lca5"/>
          <p:cNvSpPr/>
          <p:nvPr>
            <p:extLst>
              <p:ext uri="{F5677B7D-0D2A-4D9B-9A5C-6D8D7D0E5A5D}">
                <pptd:line encoding="base64url">eyJjdXJ2ZSI6InJvdW5kIiwicG9pbnRzIjoiMCw2IDEyLDYiLCJ2aWV3Qm94IjpbMTIsMTJdfQ</pptd:line>
              </p:ext>
            </p:extLst>
          </p:nvPr>
        </p:nvSpPr>
        <p:spPr>
          <a:xfrm>
            <a:off x="10617200" y="1930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2" h="12">
                <a:moveTo>
                  <a:pt x="0" y="6"/>
                </a:moveTo>
                <a:lnTo>
                  <a:pt x="12" y="6"/>
                </a:lnTo>
              </a:path>
            </a:pathLst>
          </a:custGeom>
          <a:noFill/>
          <a:ln w="19050" cap="rnd">
            <a:solidFill>
              <a:srgbClr val="BC5327"/>
            </a:solidFill>
            <a:round/>
            <a:tailEnd type="stealth"/>
          </a:ln>
        </p:spPr>
      </p:sp>
      <p:sp>
        <p:nvSpPr>
          <p:cNvPr id="35" name="lc6"/>
          <p:cNvSpPr/>
          <p:nvPr/>
        </p:nvSpPr>
        <p:spPr>
          <a:xfrm>
            <a:off x="10769600" y="1803400"/>
            <a:ext cx="711200" cy="406400"/>
          </a:xfrm>
          <a:prstGeom prst="rect">
            <a:avLst/>
          </a:prstGeom>
          <a:solidFill>
            <a:srgbClr val="F8EAE1"/>
          </a:solidFill>
          <a:ln w="19050">
            <a:solidFill>
              <a:srgbClr val="BC5327"/>
            </a:solidFill>
          </a:ln>
        </p:spPr>
      </p:sp>
      <p:sp>
        <p:nvSpPr>
          <p:cNvPr id="36" name="lc6-t"/>
          <p:cNvSpPr txBox="1"/>
          <p:nvPr/>
        </p:nvSpPr>
        <p:spPr>
          <a:xfrm>
            <a:off x="10769600" y="1803400"/>
            <a:ext cx="7112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950" b="1">
                <a:solidFill>
                  <a:srgbClr val="96401E"/>
                </a:solidFill>
                <a:latin typeface="MiSans"/>
                <a:ea typeface="MiSans"/>
              </a:rPr>
              <a:t>verify</a:t>
            </a:r>
            <a:endParaRPr lang="en-US" sz="950"/>
          </a:p>
        </p:txBody>
      </p:sp>
      <p:sp>
        <p:nvSpPr>
          <p:cNvPr id="37" name="anat-head"/>
          <p:cNvSpPr txBox="1"/>
          <p:nvPr/>
        </p:nvSpPr>
        <p:spPr>
          <a:xfrm>
            <a:off x="5537200" y="2565400"/>
            <a:ext cx="5943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000" b="1" spc="120" kern="0">
                <a:solidFill>
                  <a:srgbClr val="1B1E23"/>
                </a:solidFill>
                <a:latin typeface="MiSans"/>
                <a:ea typeface="MiSans"/>
              </a:rPr>
              <a:t>ANATOMIA DE UM PROJETO (NN_slug/)</a:t>
            </a:r>
            <a:endParaRPr lang="en-US" sz="1000"/>
          </a:p>
        </p:txBody>
      </p:sp>
      <p:sp>
        <p:nvSpPr>
          <p:cNvPr id="38" name="anat"/>
          <p:cNvSpPr txBox="1"/>
          <p:nvPr/>
        </p:nvSpPr>
        <p:spPr>
          <a:xfrm>
            <a:off x="5537200" y="2844800"/>
            <a:ext cx="59436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5000"/>
              </a:lnSpc>
            </a:pPr>
            <a:r>
              <a:rPr lang="en-US" sz="1050">
                <a:solidFill>
                  <a:srgbClr val="454A51"/>
                </a:solidFill>
                <a:latin typeface="MiSans"/>
                <a:ea typeface="MiSans"/>
              </a:rPr>
              <a:t>· </a:t>
            </a:r>
            <a:r>
              <a:rPr lang="en-US" sz="1050" b="1">
                <a:solidFill>
                  <a:srgbClr val="454A51"/>
                </a:solidFill>
                <a:latin typeface="MiSans"/>
                <a:ea typeface="MiSans"/>
              </a:rPr>
              <a:t>docs/spec.md</a:t>
            </a:r>
            <a:r>
              <a:rPr lang="en-US" sz="1050">
                <a:solidFill>
                  <a:srgbClr val="454A51"/>
                </a:solidFill>
                <a:latin typeface="MiSans"/>
                <a:ea typeface="MiSans"/>
              </a:rPr>
              <a:t> — contrato comportamental language-neutral (RF/RNF numerados);</a:t>
            </a:r>
            <a:endParaRPr lang="en-US" sz="1050"/>
          </a:p>
          <a:p>
            <a:pPr algn="l">
              <a:lnSpc>
                <a:spcPct val="145000"/>
              </a:lnSpc>
              <a:spcBef>
                <a:spcPts val="500"/>
              </a:spcBef>
            </a:pPr>
            <a:r>
              <a:rPr lang="en-US" sz="1050">
                <a:solidFill>
                  <a:srgbClr val="454A51"/>
                </a:solidFill>
                <a:latin typeface="MiSans"/>
                <a:ea typeface="MiSans"/>
              </a:rPr>
              <a:t>· </a:t>
            </a:r>
            <a:r>
              <a:rPr lang="en-US" sz="1050" b="1">
                <a:solidFill>
                  <a:srgbClr val="454A51"/>
                </a:solidFill>
                <a:latin typeface="MiSans"/>
                <a:ea typeface="MiSans"/>
              </a:rPr>
              <a:t>go-impl/ · rust-impl/ · node-impl/</a:t>
            </a:r>
            <a:r>
              <a:rPr lang="en-US" sz="1050">
                <a:solidFill>
                  <a:srgbClr val="454A51"/>
                </a:solidFill>
                <a:latin typeface="MiSans"/>
                <a:ea typeface="MiSans"/>
              </a:rPr>
              <a:t> — cada uma dona de build/test próprios;</a:t>
            </a:r>
            <a:endParaRPr lang="en-US" sz="1050"/>
          </a:p>
          <a:p>
            <a:pPr algn="l">
              <a:lnSpc>
                <a:spcPct val="145000"/>
              </a:lnSpc>
              <a:spcBef>
                <a:spcPts val="500"/>
              </a:spcBef>
            </a:pPr>
            <a:r>
              <a:rPr lang="en-US" sz="1050">
                <a:solidFill>
                  <a:srgbClr val="454A51"/>
                </a:solidFill>
                <a:latin typeface="MiSans"/>
                <a:ea typeface="MiSans"/>
              </a:rPr>
              <a:t>· </a:t>
            </a:r>
            <a:r>
              <a:rPr lang="en-US" sz="1050" b="1">
                <a:solidFill>
                  <a:srgbClr val="454A51"/>
                </a:solidFill>
                <a:latin typeface="MiSans"/>
                <a:ea typeface="MiSans"/>
              </a:rPr>
              <a:t>docs/</a:t>
            </a:r>
            <a:r>
              <a:rPr lang="en-US" sz="1050">
                <a:solidFill>
                  <a:srgbClr val="454A51"/>
                </a:solidFill>
                <a:latin typeface="MiSans"/>
                <a:ea typeface="MiSans"/>
              </a:rPr>
              <a:t> code_review · learning_notes · quiz · benchmark_results · evolution_report · verdict · ADR · redteam;</a:t>
            </a:r>
            <a:endParaRPr lang="en-US" sz="1050"/>
          </a:p>
          <a:p>
            <a:pPr algn="l">
              <a:lnSpc>
                <a:spcPct val="145000"/>
              </a:lnSpc>
              <a:spcBef>
                <a:spcPts val="500"/>
              </a:spcBef>
            </a:pPr>
            <a:r>
              <a:rPr lang="en-US" sz="1050">
                <a:solidFill>
                  <a:srgbClr val="454A51"/>
                </a:solidFill>
                <a:latin typeface="MiSans"/>
                <a:ea typeface="MiSans"/>
              </a:rPr>
              <a:t>· </a:t>
            </a:r>
            <a:r>
              <a:rPr lang="en-US" sz="1050" b="1">
                <a:solidFill>
                  <a:srgbClr val="454A51"/>
                </a:solidFill>
                <a:latin typeface="MiSans"/>
                <a:ea typeface="MiSans"/>
              </a:rPr>
              <a:t>benchmarks/</a:t>
            </a:r>
            <a:r>
              <a:rPr lang="en-US" sz="1050">
                <a:solidFill>
                  <a:srgbClr val="454A51"/>
                </a:solidFill>
                <a:latin typeface="MiSans"/>
                <a:ea typeface="MiSans"/>
              </a:rPr>
              <a:t> — cenários (baseline, stress, spike, endurance) + results/ brutos;</a:t>
            </a:r>
            <a:endParaRPr lang="en-US" sz="1050"/>
          </a:p>
          <a:p>
            <a:pPr algn="l">
              <a:lnSpc>
                <a:spcPct val="145000"/>
              </a:lnSpc>
              <a:spcBef>
                <a:spcPts val="500"/>
              </a:spcBef>
            </a:pPr>
            <a:r>
              <a:rPr lang="en-US" sz="1050">
                <a:solidFill>
                  <a:srgbClr val="454A51"/>
                </a:solidFill>
                <a:latin typeface="MiSans"/>
                <a:ea typeface="MiSans"/>
              </a:rPr>
              <a:t>· </a:t>
            </a:r>
            <a:r>
              <a:rPr lang="en-US" sz="1050" b="1">
                <a:solidFill>
                  <a:srgbClr val="454A51"/>
                </a:solidFill>
                <a:latin typeface="MiSans"/>
                <a:ea typeface="MiSans"/>
              </a:rPr>
              <a:t>PROMOTE.md</a:t>
            </a:r>
            <a:r>
              <a:rPr lang="en-US" sz="1050">
                <a:solidFill>
                  <a:srgbClr val="454A51"/>
                </a:solidFill>
                <a:latin typeface="MiSans"/>
                <a:ea typeface="MiSans"/>
              </a:rPr>
              <a:t> — checklist de promoção scaffolded → implemented com gates empíricos.</a:t>
            </a:r>
            <a:endParaRPr lang="en-US" sz="1050"/>
          </a:p>
        </p:txBody>
      </p:sp>
      <p:sp>
        <p:nvSpPr>
          <p:cNvPr id="39" name="status-panel"/>
          <p:cNvSpPr/>
          <p:nvPr/>
        </p:nvSpPr>
        <p:spPr>
          <a:xfrm>
            <a:off x="5537200" y="4521200"/>
            <a:ext cx="5943600" cy="1168400"/>
          </a:xfrm>
          <a:prstGeom prst="rect">
            <a:avLst/>
          </a:prstGeom>
          <a:solidFill>
            <a:srgbClr val="F7F5F0"/>
          </a:solidFill>
          <a:ln w="12700">
            <a:solidFill>
              <a:srgbClr val="E3E6EA"/>
            </a:solidFill>
          </a:ln>
        </p:spPr>
      </p:sp>
      <p:sp>
        <p:nvSpPr>
          <p:cNvPr id="40" name="status-t"/>
          <p:cNvSpPr txBox="1"/>
          <p:nvPr/>
        </p:nvSpPr>
        <p:spPr>
          <a:xfrm>
            <a:off x="5715000" y="4622800"/>
            <a:ext cx="55880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5000"/>
              </a:lnSpc>
            </a:pPr>
            <a:r>
              <a:rPr lang="en-US" sz="1000" b="1">
                <a:solidFill>
                  <a:srgbClr val="1B1E23"/>
                </a:solidFill>
                <a:latin typeface="MiSans"/>
                <a:ea typeface="MiSans"/>
              </a:rPr>
              <a:t>Status honesto do catálogo:</a:t>
            </a:r>
            <a:r>
              <a:rPr lang="en-US" sz="1000">
                <a:solidFill>
                  <a:srgbClr val="454A51"/>
                </a:solidFill>
                <a:latin typeface="MiSans"/>
                <a:ea typeface="MiSans"/>
              </a:rPr>
              <a:t> </a:t>
            </a:r>
            <a:r>
              <a:rPr lang="en-US" sz="1000" b="1">
                <a:solidFill>
                  <a:srgbClr val="96401E"/>
                </a:solidFill>
                <a:latin typeface="MiSans"/>
                <a:ea typeface="MiSans"/>
              </a:rPr>
              <a:t>2 implementados</a:t>
            </a:r>
            <a:r>
              <a:rPr lang="en-US" sz="1000">
                <a:solidFill>
                  <a:srgbClr val="454A51"/>
                </a:solidFill>
                <a:latin typeface="MiSans"/>
                <a:ea typeface="MiSans"/>
              </a:rPr>
              <a:t> (01 Rate Limiter, 02 KV Store — ambos com certificação </a:t>
            </a:r>
            <a:r>
              <a:rPr lang="en-US" sz="1000" b="1">
                <a:solidFill>
                  <a:srgbClr val="454A51"/>
                </a:solidFill>
                <a:latin typeface="MiSans"/>
                <a:ea typeface="MiSans"/>
              </a:rPr>
              <a:t>Node.js-only</a:t>
            </a:r>
            <a:r>
              <a:rPr lang="en-US" sz="1000">
                <a:solidFill>
                  <a:srgbClr val="454A51"/>
                </a:solidFill>
                <a:latin typeface="MiSans"/>
                <a:ea typeface="MiSans"/>
              </a:rPr>
              <a:t> e caveats explícitos) e </a:t>
            </a:r>
            <a:r>
              <a:rPr lang="en-US" sz="1000" b="1">
                <a:solidFill>
                  <a:srgbClr val="454A51"/>
                </a:solidFill>
                <a:latin typeface="MiSans"/>
                <a:ea typeface="MiSans"/>
              </a:rPr>
              <a:t>16 scaffolded</a:t>
            </a:r>
            <a:r>
              <a:rPr lang="en-US" sz="1000">
                <a:solidFill>
                  <a:srgbClr val="454A51"/>
                </a:solidFill>
                <a:latin typeface="MiSans"/>
                <a:ea typeface="MiSans"/>
              </a:rPr>
              <a:t>.</a:t>
            </a:r>
            <a:endParaRPr lang="en-US" sz="1000"/>
          </a:p>
          <a:p>
            <a:pPr algn="l">
              <a:lnSpc>
                <a:spcPct val="145000"/>
              </a:lnSpc>
              <a:spcBef>
                <a:spcPts val="500"/>
              </a:spcBef>
            </a:pPr>
            <a:r>
              <a:rPr lang="en-US" sz="1000">
                <a:solidFill>
                  <a:srgbClr val="454A51"/>
                </a:solidFill>
                <a:latin typeface="MiSans"/>
                <a:ea typeface="MiSans"/>
              </a:rPr>
              <a:t>catalog.md é parseado programaticamente pelo substrate → gera BACKLOG_STATUS.md e o projects.ts do dashboard. Toda afirmação de status carrega evidência ou caveat.</a:t>
            </a:r>
            <a:endParaRPr lang="en-US" sz="1000"/>
          </a:p>
        </p:txBody>
      </p:sp>
      <p:sp>
        <p:nvSpPr>
          <p:cNvPr id="41" name="footer-lin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E3E6EA"/>
          </a:solidFill>
          <a:ln>
            <a:noFill/>
          </a:ln>
        </p:spPr>
      </p:sp>
      <p:sp>
        <p:nvSpPr>
          <p:cNvPr id="42" name="footer-left"/>
          <p:cNvSpPr txBox="1"/>
          <p:nvPr/>
        </p:nvSpPr>
        <p:spPr>
          <a:xfrm>
            <a:off x="711200" y="6553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35000"/>
              </a:lnSpc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AI DEVSCHOOL — COMO FUNCIONA</a:t>
            </a:r>
            <a:endParaRPr lang="en-US" sz="900"/>
          </a:p>
        </p:txBody>
      </p:sp>
      <p:sp>
        <p:nvSpPr>
          <p:cNvPr id="43" name="footer-page"/>
          <p:cNvSpPr txBox="1"/>
          <p:nvPr/>
        </p:nvSpPr>
        <p:spPr>
          <a:xfrm>
            <a:off x="10414000" y="6553200"/>
            <a:ext cx="106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35000"/>
              </a:lnSpc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11</a:t>
            </a:r>
            <a:endParaRPr lang="en-US" sz="9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 b="1" spc="250" kern="0">
                <a:solidFill>
                  <a:srgbClr val="BC5327"/>
                </a:solidFill>
                <a:latin typeface="MiSans"/>
                <a:ea typeface="MiSans"/>
              </a:rPr>
              <a:t>11 · EVIDÊNCIA NA PRÁTICA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11200" y="7112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15000"/>
              </a:lnSpc>
            </a:pPr>
            <a:r>
              <a:rPr lang="en-US" sz="2600" b="1">
                <a:solidFill>
                  <a:srgbClr val="1B1E23"/>
                </a:solidFill>
                <a:latin typeface="MiSans"/>
                <a:ea typeface="MiSans"/>
              </a:rPr>
              <a:t>O caso 02_key_value_store — medido, não declarado</a:t>
            </a:r>
            <a:endParaRPr lang="en-US" sz="2600"/>
          </a:p>
        </p:txBody>
      </p:sp>
      <p:sp>
        <p:nvSpPr>
          <p:cNvPr id="4" name="title-rule"/>
          <p:cNvSpPr/>
          <p:nvPr/>
        </p:nvSpPr>
        <p:spPr>
          <a:xfrm>
            <a:off x="711200" y="1295400"/>
            <a:ext cx="711200" cy="38100"/>
          </a:xfrm>
          <a:prstGeom prst="rect">
            <a:avLst/>
          </a:prstGeom>
          <a:solidFill>
            <a:srgbClr val="BC5327"/>
          </a:solidFill>
          <a:ln>
            <a:noFill/>
          </a:ln>
        </p:spPr>
      </p:sp>
      <p:sp>
        <p:nvSpPr>
          <p:cNvPr id="5" name="m1"/>
          <p:cNvSpPr/>
          <p:nvPr/>
        </p:nvSpPr>
        <p:spPr>
          <a:xfrm>
            <a:off x="711200" y="1625600"/>
            <a:ext cx="353060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</a:ln>
        </p:spPr>
      </p:sp>
      <p:sp>
        <p:nvSpPr>
          <p:cNvPr id="6" name="m1-bar"/>
          <p:cNvSpPr/>
          <p:nvPr/>
        </p:nvSpPr>
        <p:spPr>
          <a:xfrm>
            <a:off x="711200" y="1625600"/>
            <a:ext cx="3530600" cy="50800"/>
          </a:xfrm>
          <a:prstGeom prst="rect">
            <a:avLst/>
          </a:prstGeom>
          <a:solidFill>
            <a:srgbClr val="2F7D4F"/>
          </a:solidFill>
          <a:ln>
            <a:noFill/>
          </a:ln>
        </p:spPr>
      </p:sp>
      <p:sp>
        <p:nvSpPr>
          <p:cNvPr id="7" name="m1-h"/>
          <p:cNvSpPr txBox="1"/>
          <p:nvPr/>
        </p:nvSpPr>
        <p:spPr>
          <a:xfrm>
            <a:off x="889000" y="1803400"/>
            <a:ext cx="3175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950" b="1" spc="120" kern="0">
                <a:solidFill>
                  <a:srgbClr val="8B9199"/>
                </a:solidFill>
                <a:latin typeface="MiSans"/>
                <a:ea typeface="MiSans"/>
              </a:rPr>
              <a:t>COBERTURA RE-VERIFICADA</a:t>
            </a:r>
            <a:endParaRPr lang="en-US" sz="950"/>
          </a:p>
        </p:txBody>
      </p:sp>
      <p:sp>
        <p:nvSpPr>
          <p:cNvPr id="8" name="m1-n"/>
          <p:cNvSpPr txBox="1"/>
          <p:nvPr/>
        </p:nvSpPr>
        <p:spPr>
          <a:xfrm>
            <a:off x="889000" y="2057400"/>
            <a:ext cx="3175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1B1E23"/>
                </a:solidFill>
                <a:latin typeface="MiSans"/>
                <a:ea typeface="MiSans"/>
              </a:rPr>
              <a:t>91,45%</a:t>
            </a:r>
            <a:r>
              <a:rPr lang="en-US" sz="1100">
                <a:solidFill>
                  <a:srgbClr val="8B9199"/>
                </a:solidFill>
                <a:latin typeface="MiSans"/>
                <a:ea typeface="MiSans"/>
              </a:rPr>
              <a:t> stmts</a:t>
            </a:r>
            <a:endParaRPr lang="en-US" sz="1600"/>
          </a:p>
        </p:txBody>
      </p:sp>
      <p:sp>
        <p:nvSpPr>
          <p:cNvPr id="9" name="m1-d"/>
          <p:cNvSpPr txBox="1"/>
          <p:nvPr/>
        </p:nvSpPr>
        <p:spPr>
          <a:xfrm>
            <a:off x="889000" y="2667000"/>
            <a:ext cx="3175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0000"/>
              </a:lnSpc>
            </a:pPr>
            <a:r>
              <a:rPr lang="en-US" sz="950">
                <a:solidFill>
                  <a:srgbClr val="8B9199"/>
                </a:solidFill>
                <a:latin typeface="MiSans"/>
                <a:ea typeface="MiSans"/>
              </a:rPr>
              <a:t>82,01% branch · 100% funcs · 10/10 testes · tsc e eslint limpos (vitest, threshold mínimo 80% configurado no projeto)</a:t>
            </a:r>
            <a:endParaRPr lang="en-US" sz="950"/>
          </a:p>
        </p:txBody>
      </p:sp>
      <p:sp>
        <p:nvSpPr>
          <p:cNvPr id="10" name="m2"/>
          <p:cNvSpPr/>
          <p:nvPr/>
        </p:nvSpPr>
        <p:spPr>
          <a:xfrm>
            <a:off x="4419600" y="1625600"/>
            <a:ext cx="353060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</a:ln>
        </p:spPr>
      </p:sp>
      <p:sp>
        <p:nvSpPr>
          <p:cNvPr id="11" name="m2-bar"/>
          <p:cNvSpPr/>
          <p:nvPr/>
        </p:nvSpPr>
        <p:spPr>
          <a:xfrm>
            <a:off x="4419600" y="1625600"/>
            <a:ext cx="3530600" cy="50800"/>
          </a:xfrm>
          <a:prstGeom prst="rect">
            <a:avLst/>
          </a:prstGeom>
          <a:solidFill>
            <a:srgbClr val="BC5327"/>
          </a:solidFill>
          <a:ln>
            <a:noFill/>
          </a:ln>
        </p:spPr>
      </p:sp>
      <p:sp>
        <p:nvSpPr>
          <p:cNvPr id="12" name="m2-h"/>
          <p:cNvSpPr txBox="1"/>
          <p:nvPr/>
        </p:nvSpPr>
        <p:spPr>
          <a:xfrm>
            <a:off x="4597400" y="1803400"/>
            <a:ext cx="3175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950" b="1" spc="120" kern="0">
                <a:solidFill>
                  <a:srgbClr val="8B9199"/>
                </a:solidFill>
                <a:latin typeface="MiSans"/>
                <a:ea typeface="MiSans"/>
              </a:rPr>
              <a:t>BENCHMARK HONESTO · N = 10</a:t>
            </a:r>
            <a:endParaRPr lang="en-US" sz="950"/>
          </a:p>
        </p:txBody>
      </p:sp>
      <p:sp>
        <p:nvSpPr>
          <p:cNvPr id="13" name="m2-n"/>
          <p:cNvSpPr txBox="1"/>
          <p:nvPr/>
        </p:nvSpPr>
        <p:spPr>
          <a:xfrm>
            <a:off x="4597400" y="2057400"/>
            <a:ext cx="3175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1B1E23"/>
                </a:solidFill>
                <a:latin typeface="MiSans"/>
                <a:ea typeface="MiSans"/>
              </a:rPr>
              <a:t>7.924</a:t>
            </a:r>
            <a:r>
              <a:rPr lang="en-US" sz="1100">
                <a:solidFill>
                  <a:srgbClr val="8B9199"/>
                </a:solidFill>
                <a:latin typeface="MiSans"/>
                <a:ea typeface="MiSans"/>
              </a:rPr>
              <a:t> RPS médio · CV 5,3%</a:t>
            </a:r>
            <a:endParaRPr lang="en-US" sz="1600"/>
          </a:p>
        </p:txBody>
      </p:sp>
      <p:sp>
        <p:nvSpPr>
          <p:cNvPr id="14" name="m2-d"/>
          <p:cNvSpPr txBox="1"/>
          <p:nvPr/>
        </p:nvSpPr>
        <p:spPr>
          <a:xfrm>
            <a:off x="4597400" y="2667000"/>
            <a:ext cx="3175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0000"/>
              </a:lnSpc>
            </a:pPr>
            <a:r>
              <a:rPr lang="en-US" sz="950">
                <a:solidFill>
                  <a:srgbClr val="8B9199"/>
                </a:solidFill>
                <a:latin typeface="MiSans"/>
                <a:ea typeface="MiSans"/>
              </a:rPr>
              <a:t>~1,99M requisições, 0 erros · workload misto GET/SET/DEL/EXPIRE/TTL (68/15/5/7/5%) · keyspace 10k · tolerance re-check ±20% PASS</a:t>
            </a:r>
            <a:endParaRPr lang="en-US" sz="950"/>
          </a:p>
        </p:txBody>
      </p:sp>
      <p:sp>
        <p:nvSpPr>
          <p:cNvPr id="15" name="m3"/>
          <p:cNvSpPr/>
          <p:nvPr/>
        </p:nvSpPr>
        <p:spPr>
          <a:xfrm>
            <a:off x="8128000" y="1625600"/>
            <a:ext cx="335280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</a:ln>
        </p:spPr>
      </p:sp>
      <p:sp>
        <p:nvSpPr>
          <p:cNvPr id="16" name="m3-bar"/>
          <p:cNvSpPr/>
          <p:nvPr/>
        </p:nvSpPr>
        <p:spPr>
          <a:xfrm>
            <a:off x="8128000" y="1625600"/>
            <a:ext cx="3352800" cy="50800"/>
          </a:xfrm>
          <a:prstGeom prst="rect">
            <a:avLst/>
          </a:prstGeom>
          <a:solidFill>
            <a:srgbClr val="33506B"/>
          </a:solidFill>
          <a:ln>
            <a:noFill/>
          </a:ln>
        </p:spPr>
      </p:sp>
      <p:sp>
        <p:nvSpPr>
          <p:cNvPr id="17" name="m3-h"/>
          <p:cNvSpPr txBox="1"/>
          <p:nvPr/>
        </p:nvSpPr>
        <p:spPr>
          <a:xfrm>
            <a:off x="8305800" y="1803400"/>
            <a:ext cx="2997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950" b="1" spc="120" kern="0">
                <a:solidFill>
                  <a:srgbClr val="8B9199"/>
                </a:solidFill>
                <a:latin typeface="MiSans"/>
                <a:ea typeface="MiSans"/>
              </a:rPr>
              <a:t>EVOLUTION REPORT</a:t>
            </a:r>
            <a:endParaRPr lang="en-US" sz="950"/>
          </a:p>
        </p:txBody>
      </p:sp>
      <p:sp>
        <p:nvSpPr>
          <p:cNvPr id="18" name="m3-n"/>
          <p:cNvSpPr txBox="1"/>
          <p:nvPr/>
        </p:nvSpPr>
        <p:spPr>
          <a:xfrm>
            <a:off x="8305800" y="2057400"/>
            <a:ext cx="2997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1B1E23"/>
                </a:solidFill>
                <a:latin typeface="MiSans"/>
                <a:ea typeface="MiSans"/>
              </a:rPr>
              <a:t>3 bugs</a:t>
            </a:r>
            <a:r>
              <a:rPr lang="en-US" sz="1100">
                <a:solidFill>
                  <a:srgbClr val="8B9199"/>
                </a:solidFill>
                <a:latin typeface="MiSans"/>
                <a:ea typeface="MiSans"/>
              </a:rPr>
              <a:t> Major corrigidos</a:t>
            </a:r>
            <a:endParaRPr lang="en-US" sz="1600"/>
          </a:p>
        </p:txBody>
      </p:sp>
      <p:sp>
        <p:nvSpPr>
          <p:cNvPr id="19" name="m3-d"/>
          <p:cNvSpPr txBox="1"/>
          <p:nvPr/>
        </p:nvSpPr>
        <p:spPr>
          <a:xfrm>
            <a:off x="8305800" y="2667000"/>
            <a:ext cx="29972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0000"/>
              </a:lnSpc>
            </a:pPr>
            <a:r>
              <a:rPr lang="en-US" sz="950">
                <a:solidFill>
                  <a:srgbClr val="8B9199"/>
                </a:solidFill>
                <a:latin typeface="MiSans"/>
                <a:ea typeface="MiSans"/>
              </a:rPr>
              <a:t>+ testes de regressão · 1 otimização medida = "wash" (dentro do ruído), reportada as-is · 1 otimização rejeitada, documentada</a:t>
            </a:r>
            <a:endParaRPr lang="en-US" sz="950"/>
          </a:p>
        </p:txBody>
      </p:sp>
      <p:sp>
        <p:nvSpPr>
          <p:cNvPr id="20" name="why-head"/>
          <p:cNvSpPr txBox="1"/>
          <p:nvPr/>
        </p:nvSpPr>
        <p:spPr>
          <a:xfrm>
            <a:off x="711200" y="3810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050" b="1" spc="120" kern="0">
                <a:solidFill>
                  <a:srgbClr val="1B1E23"/>
                </a:solidFill>
                <a:latin typeface="MiSans"/>
                <a:ea typeface="MiSans"/>
              </a:rPr>
              <a:t>O QUE TORNA ESSA EVIDÊNCIA CRÍVEL</a:t>
            </a:r>
            <a:endParaRPr lang="en-US" sz="1050"/>
          </a:p>
        </p:txBody>
      </p:sp>
      <p:sp>
        <p:nvSpPr>
          <p:cNvPr id="21" name="why-rule"/>
          <p:cNvSpPr/>
          <p:nvPr>
            <p:extLst>
              <p:ext uri="{F5677B7D-0D2A-4D9B-9A5C-6D8D7D0E5A5D}">
                <pptd:line encoding="base64url">eyJjdXJ2ZSI6InJvdW5kIiwicG9pbnRzIjoiMCwxIDg0OCwxIiwidmlld0JveCI6Wzg0OCwyXX0</pptd:line>
              </p:ext>
            </p:extLst>
          </p:nvPr>
        </p:nvSpPr>
        <p:spPr>
          <a:xfrm>
            <a:off x="711200" y="4064000"/>
            <a:ext cx="10769600" cy="25400"/>
          </a:xfrm>
          <a:custGeom>
            <a:avLst/>
            <a:gdLst/>
            <a:ahLst/>
            <a:cxnLst/>
            <a:rect l="l" t="t" r="r" b="b"/>
            <a:pathLst>
              <a:path w="848" h="2">
                <a:moveTo>
                  <a:pt x="0" y="1"/>
                </a:moveTo>
                <a:lnTo>
                  <a:pt x="848" y="1"/>
                </a:lnTo>
              </a:path>
            </a:pathLst>
          </a:custGeom>
          <a:noFill/>
          <a:ln w="12700" cap="rnd">
            <a:solidFill>
              <a:srgbClr val="E3E6EA"/>
            </a:solidFill>
            <a:round/>
          </a:ln>
        </p:spPr>
      </p:sp>
      <p:sp>
        <p:nvSpPr>
          <p:cNvPr id="22" name="w1"/>
          <p:cNvSpPr txBox="1"/>
          <p:nvPr/>
        </p:nvSpPr>
        <p:spPr>
          <a:xfrm>
            <a:off x="711200" y="4216400"/>
            <a:ext cx="5334000" cy="939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5000"/>
              </a:lnSpc>
            </a:pPr>
            <a:r>
              <a:rPr lang="en-US" sz="1050">
                <a:solidFill>
                  <a:srgbClr val="454A51"/>
                </a:solidFill>
                <a:latin typeface="MiSans"/>
                <a:ea typeface="MiSans"/>
              </a:rPr>
              <a:t>· O relatório de benchmark </a:t>
            </a:r>
            <a:r>
              <a:rPr lang="en-US" sz="1050" b="1">
                <a:solidFill>
                  <a:srgbClr val="454A51"/>
                </a:solidFill>
                <a:latin typeface="MiSans"/>
                <a:ea typeface="MiSans"/>
              </a:rPr>
              <a:t>substitui explicitamente</a:t>
            </a:r>
            <a:r>
              <a:rPr lang="en-US" sz="1050">
                <a:solidFill>
                  <a:srgbClr val="454A51"/>
                </a:solidFill>
                <a:latin typeface="MiSans"/>
                <a:ea typeface="MiSans"/>
              </a:rPr>
              <a:t> um backfill anterior N=1 não-gated;</a:t>
            </a:r>
            <a:endParaRPr lang="en-US" sz="1050"/>
          </a:p>
          <a:p>
            <a:pPr algn="l">
              <a:lnSpc>
                <a:spcPct val="145000"/>
              </a:lnSpc>
              <a:spcBef>
                <a:spcPts val="500"/>
              </a:spcBef>
            </a:pPr>
            <a:r>
              <a:rPr lang="en-US" sz="1050">
                <a:solidFill>
                  <a:srgbClr val="454A51"/>
                </a:solidFill>
                <a:latin typeface="MiSans"/>
                <a:ea typeface="MiSans"/>
              </a:rPr>
              <a:t>· p95/p99 são </a:t>
            </a:r>
            <a:r>
              <a:rPr lang="en-US" sz="1050" b="1">
                <a:solidFill>
                  <a:srgbClr val="454A51"/>
                </a:solidFill>
                <a:latin typeface="MiSans"/>
                <a:ea typeface="MiSans"/>
              </a:rPr>
              <a:t>sinalizados como ruidosos</a:t>
            </a:r>
            <a:r>
              <a:rPr lang="en-US" sz="1050">
                <a:solidFill>
                  <a:srgbClr val="454A51"/>
                </a:solidFill>
                <a:latin typeface="MiSans"/>
                <a:ea typeface="MiSans"/>
              </a:rPr>
              <a:t> (CV &gt; 15%) em vez de escondidos;</a:t>
            </a:r>
            <a:endParaRPr lang="en-US" sz="1050"/>
          </a:p>
          <a:p>
            <a:pPr algn="l">
              <a:lnSpc>
                <a:spcPct val="145000"/>
              </a:lnSpc>
              <a:spcBef>
                <a:spcPts val="500"/>
              </a:spcBef>
            </a:pPr>
            <a:r>
              <a:rPr lang="en-US" sz="1050">
                <a:solidFill>
                  <a:srgbClr val="454A51"/>
                </a:solidFill>
                <a:latin typeface="MiSans"/>
                <a:ea typeface="MiSans"/>
              </a:rPr>
              <a:t>· a otimização que virou regressão/wash foi </a:t>
            </a:r>
            <a:r>
              <a:rPr lang="en-US" sz="1050" b="1">
                <a:solidFill>
                  <a:srgbClr val="454A51"/>
                </a:solidFill>
                <a:latin typeface="MiSans"/>
                <a:ea typeface="MiSans"/>
              </a:rPr>
              <a:t>reportada como está</a:t>
            </a:r>
            <a:r>
              <a:rPr lang="en-US" sz="1050">
                <a:solidFill>
                  <a:srgbClr val="454A51"/>
                </a:solidFill>
                <a:latin typeface="MiSans"/>
                <a:ea typeface="MiSans"/>
              </a:rPr>
              <a:t> — ninguém maquiou o número.</a:t>
            </a:r>
            <a:endParaRPr lang="en-US" sz="1050"/>
          </a:p>
        </p:txBody>
      </p:sp>
      <p:sp>
        <p:nvSpPr>
          <p:cNvPr id="23" name="w2"/>
          <p:cNvSpPr txBox="1"/>
          <p:nvPr/>
        </p:nvSpPr>
        <p:spPr>
          <a:xfrm>
            <a:off x="6400800" y="4216400"/>
            <a:ext cx="5080000" cy="939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5000"/>
              </a:lnSpc>
            </a:pPr>
            <a:r>
              <a:rPr lang="en-US" sz="1050">
                <a:solidFill>
                  <a:srgbClr val="454A51"/>
                </a:solidFill>
                <a:latin typeface="MiSans"/>
                <a:ea typeface="MiSans"/>
              </a:rPr>
              <a:t>· Certificação </a:t>
            </a:r>
            <a:r>
              <a:rPr lang="en-US" sz="1050" b="1">
                <a:solidFill>
                  <a:srgbClr val="454A51"/>
                </a:solidFill>
                <a:latin typeface="MiSans"/>
                <a:ea typeface="MiSans"/>
              </a:rPr>
              <a:t>Node.js-only por decisão explícita</a:t>
            </a:r>
            <a:r>
              <a:rPr lang="en-US" sz="1050">
                <a:solidFill>
                  <a:srgbClr val="454A51"/>
                </a:solidFill>
                <a:latin typeface="MiSans"/>
                <a:ea typeface="MiSans"/>
              </a:rPr>
              <a:t> do dono — não por falha de toolchain;</a:t>
            </a:r>
            <a:endParaRPr lang="en-US" sz="1050"/>
          </a:p>
          <a:p>
            <a:pPr algn="l">
              <a:lnSpc>
                <a:spcPct val="145000"/>
              </a:lnSpc>
              <a:spcBef>
                <a:spcPts val="500"/>
              </a:spcBef>
            </a:pPr>
            <a:r>
              <a:rPr lang="en-US" sz="1050">
                <a:solidFill>
                  <a:srgbClr val="454A51"/>
                </a:solidFill>
                <a:latin typeface="MiSans"/>
                <a:ea typeface="MiSans"/>
              </a:rPr>
              <a:t>· Go/Rust existem de backfill anterior </a:t>
            </a:r>
            <a:r>
              <a:rPr lang="en-US" sz="1050" b="1">
                <a:solidFill>
                  <a:srgbClr val="454A51"/>
                </a:solidFill>
                <a:latin typeface="MiSans"/>
                <a:ea typeface="MiSans"/>
              </a:rPr>
              <a:t>não-gated</a:t>
            </a:r>
            <a:r>
              <a:rPr lang="en-US" sz="1050">
                <a:solidFill>
                  <a:srgbClr val="454A51"/>
                </a:solidFill>
                <a:latin typeface="MiSans"/>
                <a:ea typeface="MiSans"/>
              </a:rPr>
              <a:t> e o catálogo carrega essa caveat como parte da evidência;</a:t>
            </a:r>
            <a:endParaRPr lang="en-US" sz="1050"/>
          </a:p>
          <a:p>
            <a:pPr algn="l">
              <a:lnSpc>
                <a:spcPct val="145000"/>
              </a:lnSpc>
              <a:spcBef>
                <a:spcPts val="500"/>
              </a:spcBef>
            </a:pPr>
            <a:r>
              <a:rPr lang="en-US" sz="1050">
                <a:solidFill>
                  <a:srgbClr val="454A51"/>
                </a:solidFill>
                <a:latin typeface="MiSans"/>
                <a:ea typeface="MiSans"/>
              </a:rPr>
              <a:t>· claims de vencedor exigiriam N ≥ 3 e CV &lt; 20% — regra do contrato.</a:t>
            </a:r>
            <a:endParaRPr lang="en-US" sz="1050"/>
          </a:p>
        </p:txBody>
      </p:sp>
      <p:sp>
        <p:nvSpPr>
          <p:cNvPr id="24" name="quote-panel"/>
          <p:cNvSpPr/>
          <p:nvPr/>
        </p:nvSpPr>
        <p:spPr>
          <a:xfrm>
            <a:off x="711200" y="5384800"/>
            <a:ext cx="10769600" cy="711200"/>
          </a:xfrm>
          <a:prstGeom prst="rect">
            <a:avLst/>
          </a:prstGeom>
          <a:solidFill>
            <a:srgbClr val="F7F5F0"/>
          </a:solidFill>
          <a:ln w="12700">
            <a:solidFill>
              <a:srgbClr val="E3E6EA"/>
            </a:solidFill>
          </a:ln>
        </p:spPr>
      </p:sp>
      <p:sp>
        <p:nvSpPr>
          <p:cNvPr id="25" name="quote"/>
          <p:cNvSpPr txBox="1"/>
          <p:nvPr/>
        </p:nvSpPr>
        <p:spPr>
          <a:xfrm>
            <a:off x="965200" y="5486400"/>
            <a:ext cx="10261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0000"/>
              </a:lnSpc>
            </a:pPr>
            <a:r>
              <a:rPr lang="en-US" sz="1100" i="1">
                <a:solidFill>
                  <a:srgbClr val="1B1E23"/>
                </a:solidFill>
                <a:latin typeface="MiSans"/>
                <a:ea typeface="MiSans"/>
              </a:rPr>
              <a:t>"Do not claim mastery, parity, benchmark superiority, or robustness without executable evidence."</a:t>
            </a:r>
            <a:r>
              <a:rPr lang="en-US" sz="1100">
                <a:solidFill>
                  <a:srgbClr val="1B1E23"/>
                </a:solidFill>
                <a:latin typeface="MiSans"/>
                <a:ea typeface="MiSans"/>
              </a:rPr>
              <a:t> — anti-padrão raiz do AGENTS.md, aplicado ao próprio ecossistema.</a:t>
            </a:r>
            <a:endParaRPr lang="en-US" sz="1100"/>
          </a:p>
        </p:txBody>
      </p:sp>
      <p:sp>
        <p:nvSpPr>
          <p:cNvPr id="26" name="footer-lin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E3E6EA"/>
          </a:solidFill>
          <a:ln>
            <a:noFill/>
          </a:ln>
        </p:spPr>
      </p:sp>
      <p:sp>
        <p:nvSpPr>
          <p:cNvPr id="27" name="footer-left"/>
          <p:cNvSpPr txBox="1"/>
          <p:nvPr/>
        </p:nvSpPr>
        <p:spPr>
          <a:xfrm>
            <a:off x="711200" y="6553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35000"/>
              </a:lnSpc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AI DEVSCHOOL — COMO FUNCIONA</a:t>
            </a:r>
            <a:endParaRPr lang="en-US" sz="900"/>
          </a:p>
        </p:txBody>
      </p:sp>
      <p:sp>
        <p:nvSpPr>
          <p:cNvPr id="28" name="footer-page"/>
          <p:cNvSpPr txBox="1"/>
          <p:nvPr/>
        </p:nvSpPr>
        <p:spPr>
          <a:xfrm>
            <a:off x="10414000" y="6553200"/>
            <a:ext cx="106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35000"/>
              </a:lnSpc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12</a:t>
            </a:r>
            <a:endParaRPr lang="en-US" sz="9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 b="1" spc="250" kern="0">
                <a:solidFill>
                  <a:srgbClr val="BC5327"/>
                </a:solidFill>
                <a:latin typeface="MiSans"/>
                <a:ea typeface="MiSans"/>
              </a:rPr>
              <a:t>12 · NÚCLEO DE TUTORIA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11200" y="7112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15000"/>
              </a:lnSpc>
            </a:pPr>
            <a:r>
              <a:rPr lang="en-US" sz="2600" b="1">
                <a:solidFill>
                  <a:srgbClr val="1B1E23"/>
                </a:solidFill>
                <a:latin typeface="MiSans"/>
                <a:ea typeface="MiSans"/>
              </a:rPr>
              <a:t>minimaxDojo: os 14 agentes do Ágora Continuum</a:t>
            </a:r>
            <a:endParaRPr lang="en-US" sz="2600"/>
          </a:p>
        </p:txBody>
      </p:sp>
      <p:sp>
        <p:nvSpPr>
          <p:cNvPr id="4" name="title-rule"/>
          <p:cNvSpPr/>
          <p:nvPr/>
        </p:nvSpPr>
        <p:spPr>
          <a:xfrm>
            <a:off x="711200" y="1295400"/>
            <a:ext cx="711200" cy="38100"/>
          </a:xfrm>
          <a:prstGeom prst="rect">
            <a:avLst/>
          </a:prstGeom>
          <a:solidFill>
            <a:srgbClr val="BC5327"/>
          </a:solidFill>
          <a:ln>
            <a:noFill/>
          </a:ln>
        </p:spPr>
      </p:sp>
      <p:sp>
        <p:nvSpPr>
          <p:cNvPr id="5" name="L5"/>
          <p:cNvSpPr/>
          <p:nvPr/>
        </p:nvSpPr>
        <p:spPr>
          <a:xfrm>
            <a:off x="711200" y="1574800"/>
            <a:ext cx="7112000" cy="838200"/>
          </a:xfrm>
          <a:prstGeom prst="rect">
            <a:avLst/>
          </a:prstGeom>
          <a:solidFill>
            <a:srgbClr val="F9ECEA"/>
          </a:solidFill>
          <a:ln w="12700">
            <a:solidFill>
              <a:srgbClr val="B4443C"/>
            </a:solidFill>
          </a:ln>
        </p:spPr>
      </p:sp>
      <p:sp>
        <p:nvSpPr>
          <p:cNvPr id="6" name="L5-t"/>
          <p:cNvSpPr txBox="1"/>
          <p:nvPr/>
        </p:nvSpPr>
        <p:spPr>
          <a:xfrm>
            <a:off x="863600" y="1638300"/>
            <a:ext cx="68072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850" b="1">
                <a:solidFill>
                  <a:srgbClr val="B4443C"/>
                </a:solidFill>
                <a:latin typeface="MiSans"/>
                <a:ea typeface="MiSans"/>
              </a:rPr>
              <a:t>CAMADA 5 · GOVERNANÇA</a:t>
            </a:r>
            <a:endParaRPr lang="en-US" sz="1600"/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en-US" sz="950" b="1">
                <a:solidFill>
                  <a:srgbClr val="1B1E23"/>
                </a:solidFill>
                <a:latin typeface="MiSans"/>
                <a:ea typeface="MiSans"/>
              </a:rPr>
              <a:t>SÊNECA</a:t>
            </a:r>
            <a:r>
              <a:rPr lang="en-US" sz="850">
                <a:solidFill>
                  <a:srgbClr val="454A51"/>
                </a:solidFill>
                <a:latin typeface="MiSans"/>
                <a:ea typeface="MiSans"/>
              </a:rPr>
              <a:t> — portão humano no loop: auto-escala no reversível, SLA 24h nas decisões consequentes, default conservador ao expirar</a:t>
            </a:r>
            <a:endParaRPr lang="en-US" sz="1600"/>
          </a:p>
        </p:txBody>
      </p:sp>
      <p:sp>
        <p:nvSpPr>
          <p:cNvPr id="7" name="L4"/>
          <p:cNvSpPr/>
          <p:nvPr/>
        </p:nvSpPr>
        <p:spPr>
          <a:xfrm>
            <a:off x="711200" y="2489200"/>
            <a:ext cx="7112000" cy="838200"/>
          </a:xfrm>
          <a:prstGeom prst="rect">
            <a:avLst/>
          </a:prstGeom>
          <a:solidFill>
            <a:srgbClr val="EDF1F5"/>
          </a:solidFill>
          <a:ln w="12700">
            <a:solidFill>
              <a:srgbClr val="33506B"/>
            </a:solidFill>
          </a:ln>
        </p:spPr>
      </p:sp>
      <p:sp>
        <p:nvSpPr>
          <p:cNvPr id="8" name="L4-t"/>
          <p:cNvSpPr txBox="1"/>
          <p:nvPr/>
        </p:nvSpPr>
        <p:spPr>
          <a:xfrm>
            <a:off x="863600" y="2552700"/>
            <a:ext cx="68072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850" b="1">
                <a:solidFill>
                  <a:srgbClr val="33506B"/>
                </a:solidFill>
                <a:latin typeface="MiSans"/>
                <a:ea typeface="MiSans"/>
              </a:rPr>
              <a:t>CAMADA 4 · MEMÓRIA &amp; EVOLUÇÃO</a:t>
            </a:r>
            <a:endParaRPr lang="en-US" sz="1600"/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en-US" sz="950" b="1">
                <a:solidFill>
                  <a:srgbClr val="1B1E23"/>
                </a:solidFill>
                <a:latin typeface="MiSans"/>
                <a:ea typeface="MiSans"/>
              </a:rPr>
              <a:t>MNEMOSYNE</a:t>
            </a:r>
            <a:r>
              <a:rPr lang="en-US" sz="850">
                <a:solidFill>
                  <a:srgbClr val="454A51"/>
                </a:solidFill>
                <a:latin typeface="MiSans"/>
                <a:ea typeface="MiSans"/>
              </a:rPr>
              <a:t> — memória em 3 camadas, Skills versionadas · </a:t>
            </a:r>
            <a:r>
              <a:rPr lang="en-US" sz="950" b="1">
                <a:solidFill>
                  <a:srgbClr val="1B1E23"/>
                </a:solidFill>
                <a:latin typeface="MiSans"/>
                <a:ea typeface="MiSans"/>
              </a:rPr>
              <a:t>OUROBOROS</a:t>
            </a:r>
            <a:r>
              <a:rPr lang="en-US" sz="850">
                <a:solidFill>
                  <a:srgbClr val="454A51"/>
                </a:solidFill>
                <a:latin typeface="MiSans"/>
                <a:ea typeface="MiSans"/>
              </a:rPr>
              <a:t> — plan→act→reflect→critique→revise; tropeços viram pegadinhas</a:t>
            </a:r>
            <a:endParaRPr lang="en-US" sz="1600"/>
          </a:p>
        </p:txBody>
      </p:sp>
      <p:sp>
        <p:nvSpPr>
          <p:cNvPr id="9" name="L3"/>
          <p:cNvSpPr/>
          <p:nvPr/>
        </p:nvSpPr>
        <p:spPr>
          <a:xfrm>
            <a:off x="711200" y="3403600"/>
            <a:ext cx="7112000" cy="1016000"/>
          </a:xfrm>
          <a:prstGeom prst="rect">
            <a:avLst/>
          </a:prstGeom>
          <a:solidFill>
            <a:srgbClr val="F8EAE1"/>
          </a:solidFill>
          <a:ln w="19050">
            <a:solidFill>
              <a:srgbClr val="BC5327"/>
            </a:solidFill>
          </a:ln>
        </p:spPr>
      </p:sp>
      <p:sp>
        <p:nvSpPr>
          <p:cNvPr id="10" name="L3-t"/>
          <p:cNvSpPr txBox="1"/>
          <p:nvPr/>
        </p:nvSpPr>
        <p:spPr>
          <a:xfrm>
            <a:off x="863600" y="3467100"/>
            <a:ext cx="68072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850" b="1">
                <a:solidFill>
                  <a:srgbClr val="96401E"/>
                </a:solidFill>
                <a:latin typeface="MiSans"/>
                <a:ea typeface="MiSans"/>
              </a:rPr>
              <a:t>CAMADA 3 · QUALIDADE &amp; MÉTRICAS</a:t>
            </a:r>
            <a:endParaRPr lang="en-US" sz="1600"/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en-US" sz="950" b="1">
                <a:solidFill>
                  <a:srgbClr val="1B1E23"/>
                </a:solidFill>
                <a:latin typeface="MiSans"/>
                <a:ea typeface="MiSans"/>
              </a:rPr>
              <a:t>PROMETOR</a:t>
            </a:r>
            <a:r>
              <a:rPr lang="en-US" sz="850">
                <a:solidFill>
                  <a:srgbClr val="454A51"/>
                </a:solidFill>
                <a:latin typeface="MiSans"/>
                <a:ea typeface="MiSans"/>
              </a:rPr>
              <a:t> — verifier adversarial efêmero (contexto zero) · </a:t>
            </a:r>
            <a:r>
              <a:rPr lang="en-US" sz="950" b="1">
                <a:solidFill>
                  <a:srgbClr val="1B1E23"/>
                </a:solidFill>
                <a:latin typeface="MiSans"/>
                <a:ea typeface="MiSans"/>
              </a:rPr>
              <a:t>CRÍTICO</a:t>
            </a:r>
            <a:r>
              <a:rPr lang="en-US" sz="850">
                <a:solidFill>
                  <a:srgbClr val="454A51"/>
                </a:solidFill>
                <a:latin typeface="MiSans"/>
                <a:ea typeface="MiSans"/>
              </a:rPr>
              <a:t> — review pedagógico (o PORQUÊ) · </a:t>
            </a:r>
            <a:r>
              <a:rPr lang="en-US" sz="950" b="1">
                <a:solidFill>
                  <a:srgbClr val="1B1E23"/>
                </a:solidFill>
                <a:latin typeface="MiSans"/>
                <a:ea typeface="MiSans"/>
              </a:rPr>
              <a:t>GALILEU</a:t>
            </a:r>
            <a:r>
              <a:rPr lang="en-US" sz="850">
                <a:solidFill>
                  <a:srgbClr val="454A51"/>
                </a:solidFill>
                <a:latin typeface="MiSans"/>
                <a:ea typeface="MiSans"/>
              </a:rPr>
              <a:t> — benchmarks (N≥10, CV&lt;20%) · </a:t>
            </a:r>
            <a:r>
              <a:rPr lang="en-US" sz="950" b="1">
                <a:solidFill>
                  <a:srgbClr val="1B1E23"/>
                </a:solidFill>
                <a:latin typeface="MiSans"/>
                <a:ea typeface="MiSans"/>
              </a:rPr>
              <a:t>ATENA</a:t>
            </a:r>
            <a:r>
              <a:rPr lang="en-US" sz="850">
                <a:solidFill>
                  <a:srgbClr val="454A51"/>
                </a:solidFill>
                <a:latin typeface="MiSans"/>
                <a:ea typeface="MiSans"/>
              </a:rPr>
              <a:t> — quality gate composto + AIDI (DORA proibido como proxy)</a:t>
            </a:r>
            <a:endParaRPr lang="en-US" sz="1600"/>
          </a:p>
        </p:txBody>
      </p:sp>
      <p:sp>
        <p:nvSpPr>
          <p:cNvPr id="11" name="L2"/>
          <p:cNvSpPr/>
          <p:nvPr/>
        </p:nvSpPr>
        <p:spPr>
          <a:xfrm>
            <a:off x="711200" y="4495800"/>
            <a:ext cx="7112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506B"/>
            </a:solidFill>
          </a:ln>
        </p:spPr>
      </p:sp>
      <p:sp>
        <p:nvSpPr>
          <p:cNvPr id="12" name="L2-t"/>
          <p:cNvSpPr txBox="1"/>
          <p:nvPr/>
        </p:nvSpPr>
        <p:spPr>
          <a:xfrm>
            <a:off x="863600" y="4559300"/>
            <a:ext cx="68072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850" b="1">
                <a:solidFill>
                  <a:srgbClr val="33506B"/>
                </a:solidFill>
                <a:latin typeface="MiSans"/>
                <a:ea typeface="MiSans"/>
              </a:rPr>
              <a:t>CAMADA 2 · PEDAGOGIA (WORKERS)</a:t>
            </a:r>
            <a:endParaRPr lang="en-US" sz="1600"/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en-US" sz="950" b="1">
                <a:solidFill>
                  <a:srgbClr val="1B1E23"/>
                </a:solidFill>
                <a:latin typeface="MiSans"/>
                <a:ea typeface="MiSans"/>
              </a:rPr>
              <a:t>SONDA</a:t>
            </a:r>
            <a:r>
              <a:rPr lang="en-US" sz="850">
                <a:solidFill>
                  <a:srgbClr val="454A51"/>
                </a:solidFill>
                <a:latin typeface="MiSans"/>
                <a:ea typeface="MiSans"/>
              </a:rPr>
              <a:t> — diagnóstico Dreyfus×Bloom · </a:t>
            </a:r>
            <a:r>
              <a:rPr lang="en-US" sz="950" b="1">
                <a:solidFill>
                  <a:srgbClr val="1B1E23"/>
                </a:solidFill>
                <a:latin typeface="MiSans"/>
                <a:ea typeface="MiSans"/>
              </a:rPr>
              <a:t>CARTÓGRAFO</a:t>
            </a:r>
            <a:r>
              <a:rPr lang="en-US" sz="850">
                <a:solidFill>
                  <a:srgbClr val="454A51"/>
                </a:solidFill>
                <a:latin typeface="MiSans"/>
                <a:ea typeface="MiSans"/>
              </a:rPr>
              <a:t> — trilha em 9 níveis · </a:t>
            </a:r>
            <a:r>
              <a:rPr lang="en-US" sz="950" b="1">
                <a:solidFill>
                  <a:srgbClr val="1B1E23"/>
                </a:solidFill>
                <a:latin typeface="MiSans"/>
                <a:ea typeface="MiSans"/>
              </a:rPr>
              <a:t>MESTRE-CONTEÚDO</a:t>
            </a:r>
            <a:r>
              <a:rPr lang="en-US" sz="850">
                <a:solidFill>
                  <a:srgbClr val="454A51"/>
                </a:solidFill>
                <a:latin typeface="MiSans"/>
                <a:ea typeface="MiSans"/>
              </a:rPr>
              <a:t> — exercícios (retém solution/) · </a:t>
            </a:r>
            <a:r>
              <a:rPr lang="en-US" sz="950" b="1">
                <a:solidFill>
                  <a:srgbClr val="1B1E23"/>
                </a:solidFill>
                <a:latin typeface="MiSans"/>
                <a:ea typeface="MiSans"/>
              </a:rPr>
              <a:t>SÓCRATES</a:t>
            </a:r>
            <a:r>
              <a:rPr lang="en-US" sz="850">
                <a:solidFill>
                  <a:srgbClr val="454A51"/>
                </a:solidFill>
                <a:latin typeface="MiSans"/>
                <a:ea typeface="MiSans"/>
              </a:rPr>
              <a:t> — tutor anti-dependência, 15/dia · </a:t>
            </a:r>
            <a:r>
              <a:rPr lang="en-US" sz="950" b="1">
                <a:solidFill>
                  <a:srgbClr val="1B1E23"/>
                </a:solidFill>
                <a:latin typeface="MiSans"/>
                <a:ea typeface="MiSans"/>
              </a:rPr>
              <a:t>MNEME</a:t>
            </a:r>
            <a:r>
              <a:rPr lang="en-US" sz="850">
                <a:solidFill>
                  <a:srgbClr val="454A51"/>
                </a:solidFill>
                <a:latin typeface="MiSans"/>
                <a:ea typeface="MiSans"/>
              </a:rPr>
              <a:t> — repetição espaçada</a:t>
            </a:r>
            <a:endParaRPr lang="en-US" sz="1600"/>
          </a:p>
        </p:txBody>
      </p:sp>
      <p:sp>
        <p:nvSpPr>
          <p:cNvPr id="13" name="L1"/>
          <p:cNvSpPr/>
          <p:nvPr/>
        </p:nvSpPr>
        <p:spPr>
          <a:xfrm>
            <a:off x="711200" y="5588000"/>
            <a:ext cx="7112000" cy="736600"/>
          </a:xfrm>
          <a:prstGeom prst="rect">
            <a:avLst/>
          </a:prstGeom>
          <a:solidFill>
            <a:srgbClr val="1B1E23"/>
          </a:solidFill>
          <a:ln>
            <a:noFill/>
          </a:ln>
        </p:spPr>
      </p:sp>
      <p:sp>
        <p:nvSpPr>
          <p:cNvPr id="14" name="L1-t"/>
          <p:cNvSpPr txBox="1"/>
          <p:nvPr/>
        </p:nvSpPr>
        <p:spPr>
          <a:xfrm>
            <a:off x="863600" y="5651500"/>
            <a:ext cx="68072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850" b="1">
                <a:solidFill>
                  <a:srgbClr val="F2B794"/>
                </a:solidFill>
                <a:latin typeface="MiSans"/>
                <a:ea typeface="MiSans"/>
              </a:rPr>
              <a:t>CAMADA 1 · LIDERANÇA</a:t>
            </a:r>
            <a:endParaRPr lang="en-US" sz="1600"/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en-US" sz="950" b="1">
                <a:solidFill>
                  <a:srgbClr val="FFFFFF"/>
                </a:solidFill>
                <a:latin typeface="MiSans"/>
                <a:ea typeface="MiSans"/>
              </a:rPr>
              <a:t>MAESTRO</a:t>
            </a:r>
            <a:r>
              <a:rPr lang="en-US" sz="850">
                <a:solidFill>
                  <a:srgbClr val="D8DDE3"/>
                </a:solidFill>
                <a:latin typeface="MiSans"/>
                <a:ea typeface="MiSans"/>
              </a:rPr>
              <a:t> — opera a state machine e despacha workers; coordena, NÃO produz · </a:t>
            </a:r>
            <a:r>
              <a:rPr lang="en-US" sz="950" b="1">
                <a:solidFill>
                  <a:srgbClr val="FFFFFF"/>
                </a:solidFill>
                <a:latin typeface="MiSans"/>
                <a:ea typeface="MiSans"/>
              </a:rPr>
              <a:t>CRONOS</a:t>
            </a:r>
            <a:r>
              <a:rPr lang="en-US" sz="850">
                <a:solidFill>
                  <a:srgbClr val="D8DDE3"/>
                </a:solidFill>
                <a:latin typeface="MiSans"/>
                <a:ea typeface="MiSans"/>
              </a:rPr>
              <a:t> — scheduler, dono único de cada cron</a:t>
            </a:r>
            <a:endParaRPr lang="en-US" sz="1600"/>
          </a:p>
        </p:txBody>
      </p:sp>
      <p:sp>
        <p:nvSpPr>
          <p:cNvPr id="15" name="r-head"/>
          <p:cNvSpPr txBox="1"/>
          <p:nvPr/>
        </p:nvSpPr>
        <p:spPr>
          <a:xfrm>
            <a:off x="8229600" y="1574800"/>
            <a:ext cx="3251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050" b="1" spc="120" kern="0">
                <a:solidFill>
                  <a:srgbClr val="1B1E23"/>
                </a:solidFill>
                <a:latin typeface="MiSans"/>
                <a:ea typeface="MiSans"/>
              </a:rPr>
              <a:t>REGRAS DO TIME</a:t>
            </a:r>
            <a:endParaRPr lang="en-US" sz="1050"/>
          </a:p>
        </p:txBody>
      </p:sp>
      <p:sp>
        <p:nvSpPr>
          <p:cNvPr id="16" name="r-rule"/>
          <p:cNvSpPr/>
          <p:nvPr>
            <p:extLst>
              <p:ext uri="{F5677B7D-0D2A-4D9B-9A5C-6D8D7D0E5A5D}">
                <pptd:line encoding="base64url">eyJjdXJ2ZSI6InJvdW5kIiwicG9pbnRzIjoiMCwxIDI1NiwxIiwidmlld0JveCI6WzI1NiwyXX0</pptd:line>
              </p:ext>
            </p:extLst>
          </p:nvPr>
        </p:nvSpPr>
        <p:spPr>
          <a:xfrm>
            <a:off x="8229600" y="1828800"/>
            <a:ext cx="3251200" cy="25400"/>
          </a:xfrm>
          <a:custGeom>
            <a:avLst/>
            <a:gdLst/>
            <a:ahLst/>
            <a:cxnLst/>
            <a:rect l="l" t="t" r="r" b="b"/>
            <a:pathLst>
              <a:path w="256" h="2">
                <a:moveTo>
                  <a:pt x="0" y="1"/>
                </a:moveTo>
                <a:lnTo>
                  <a:pt x="256" y="1"/>
                </a:lnTo>
              </a:path>
            </a:pathLst>
          </a:custGeom>
          <a:noFill/>
          <a:ln w="12700" cap="rnd">
            <a:solidFill>
              <a:srgbClr val="E3E6EA"/>
            </a:solidFill>
            <a:round/>
          </a:ln>
        </p:spPr>
      </p:sp>
      <p:sp>
        <p:nvSpPr>
          <p:cNvPr id="17" name="r-body"/>
          <p:cNvSpPr txBox="1"/>
          <p:nvPr/>
        </p:nvSpPr>
        <p:spPr>
          <a:xfrm>
            <a:off x="8229600" y="1981200"/>
            <a:ext cx="3251200" cy="317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5000"/>
              </a:lnSpc>
            </a:pPr>
            <a:r>
              <a:rPr lang="en-US" sz="1000" b="1">
                <a:solidFill>
                  <a:srgbClr val="454A51"/>
                </a:solidFill>
                <a:latin typeface="MiSans"/>
                <a:ea typeface="MiSans"/>
              </a:rPr>
              <a:t>Roteamento de modelo:</a:t>
            </a:r>
            <a:r>
              <a:rPr lang="en-US" sz="1000">
                <a:solidFill>
                  <a:srgbClr val="454A51"/>
                </a:solidFill>
                <a:latin typeface="MiSans"/>
                <a:ea typeface="MiSans"/>
              </a:rPr>
              <a:t> opus → raciocínio profundo (Prometor, Crítico, Sêneca); sonnet → alto volume (Sonda, Sócrates); diversidade cross-model ativa.</a:t>
            </a:r>
            <a:endParaRPr lang="en-US" sz="1000"/>
          </a:p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lang="en-US" sz="1000" b="1">
                <a:solidFill>
                  <a:srgbClr val="454A51"/>
                </a:solidFill>
                <a:latin typeface="MiSans"/>
                <a:ea typeface="MiSans"/>
              </a:rPr>
              <a:t>Prometor roda em tier diferente do gerador</a:t>
            </a:r>
            <a:r>
              <a:rPr lang="en-US" sz="1000">
                <a:solidFill>
                  <a:srgbClr val="454A51"/>
                </a:solidFill>
                <a:latin typeface="MiSans"/>
                <a:ea typeface="MiSans"/>
              </a:rPr>
              <a:t> e nunca recebe o contexto do Mestre-Conteúdo — anti-ancoragem estrutural.</a:t>
            </a:r>
            <a:endParaRPr lang="en-US" sz="1000"/>
          </a:p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lang="en-US" sz="1000" b="1">
                <a:solidFill>
                  <a:srgbClr val="454A51"/>
                </a:solidFill>
                <a:latin typeface="MiSans"/>
                <a:ea typeface="MiSans"/>
              </a:rPr>
              <a:t>Missão:</a:t>
            </a:r>
            <a:r>
              <a:rPr lang="en-US" sz="1000">
                <a:solidFill>
                  <a:srgbClr val="454A51"/>
                </a:solidFill>
                <a:latin typeface="MiSans"/>
                <a:ea typeface="MiSans"/>
              </a:rPr>
              <a:t> levar um programador intermediário a escrever, revisar e verificar código profissional com autonomia — </a:t>
            </a:r>
            <a:r>
              <a:rPr lang="en-US" sz="1000" b="1">
                <a:solidFill>
                  <a:srgbClr val="454A51"/>
                </a:solidFill>
                <a:latin typeface="MiSans"/>
                <a:ea typeface="MiSans"/>
              </a:rPr>
              <a:t>sem criar dependência de IA</a:t>
            </a:r>
            <a:r>
              <a:rPr lang="en-US" sz="1000">
                <a:solidFill>
                  <a:srgbClr val="454A51"/>
                </a:solidFill>
                <a:latin typeface="MiSans"/>
                <a:ea typeface="MiSans"/>
              </a:rPr>
              <a:t>.</a:t>
            </a:r>
            <a:endParaRPr lang="en-US" sz="1000"/>
          </a:p>
        </p:txBody>
      </p:sp>
      <p:sp>
        <p:nvSpPr>
          <p:cNvPr id="18" name="raci-panel"/>
          <p:cNvSpPr/>
          <p:nvPr/>
        </p:nvSpPr>
        <p:spPr>
          <a:xfrm>
            <a:off x="8229600" y="5334000"/>
            <a:ext cx="3251200" cy="787400"/>
          </a:xfrm>
          <a:prstGeom prst="rect">
            <a:avLst/>
          </a:prstGeom>
          <a:solidFill>
            <a:srgbClr val="F7F5F0"/>
          </a:solidFill>
          <a:ln w="12700">
            <a:solidFill>
              <a:srgbClr val="E3E6EA"/>
            </a:solidFill>
          </a:ln>
        </p:spPr>
      </p:sp>
      <p:sp>
        <p:nvSpPr>
          <p:cNvPr id="19" name="raci"/>
          <p:cNvSpPr txBox="1"/>
          <p:nvPr/>
        </p:nvSpPr>
        <p:spPr>
          <a:xfrm>
            <a:off x="8382000" y="5410200"/>
            <a:ext cx="29464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0000"/>
              </a:lnSpc>
            </a:pPr>
            <a:r>
              <a:rPr lang="en-US" sz="900" b="1">
                <a:solidFill>
                  <a:srgbClr val="454A51"/>
                </a:solidFill>
                <a:latin typeface="MiSans"/>
                <a:ea typeface="MiSans"/>
              </a:rPr>
              <a:t>Exemplo RACI — "Reprovar unidade":</a:t>
            </a:r>
            <a:r>
              <a:rPr lang="en-US" sz="900">
                <a:solidFill>
                  <a:srgbClr val="454A51"/>
                </a:solidFill>
                <a:latin typeface="MiSans"/>
                <a:ea typeface="MiSans"/>
              </a:rPr>
              <a:t> R = Prometor · A = Maestro · C = Sêneca · I = Crítico</a:t>
            </a:r>
            <a:endParaRPr lang="en-US" sz="900"/>
          </a:p>
        </p:txBody>
      </p:sp>
      <p:sp>
        <p:nvSpPr>
          <p:cNvPr id="20" name="footer-lin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E3E6EA"/>
          </a:solidFill>
          <a:ln>
            <a:noFill/>
          </a:ln>
        </p:spPr>
      </p:sp>
      <p:sp>
        <p:nvSpPr>
          <p:cNvPr id="21" name="footer-left"/>
          <p:cNvSpPr txBox="1"/>
          <p:nvPr/>
        </p:nvSpPr>
        <p:spPr>
          <a:xfrm>
            <a:off x="711200" y="6553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35000"/>
              </a:lnSpc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AI DEVSCHOOL — COMO FUNCIONA</a:t>
            </a:r>
            <a:endParaRPr lang="en-US" sz="900"/>
          </a:p>
        </p:txBody>
      </p:sp>
      <p:sp>
        <p:nvSpPr>
          <p:cNvPr id="22" name="footer-page"/>
          <p:cNvSpPr txBox="1"/>
          <p:nvPr/>
        </p:nvSpPr>
        <p:spPr>
          <a:xfrm>
            <a:off x="10414000" y="6553200"/>
            <a:ext cx="106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35000"/>
              </a:lnSpc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13</a:t>
            </a:r>
            <a:endParaRPr lang="en-US" sz="9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 b="1" spc="250" kern="0">
                <a:solidFill>
                  <a:srgbClr val="BC5327"/>
                </a:solidFill>
                <a:latin typeface="MiSans"/>
                <a:ea typeface="MiSans"/>
              </a:rPr>
              <a:t>13 · MINIMAXDOJO POR DENTRO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11200" y="7112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15000"/>
              </a:lnSpc>
            </a:pPr>
            <a:r>
              <a:rPr lang="en-US" sz="2600" b="1">
                <a:solidFill>
                  <a:srgbClr val="1B1E23"/>
                </a:solidFill>
                <a:latin typeface="MiSans"/>
                <a:ea typeface="MiSans"/>
              </a:rPr>
              <a:t>State machine, portão empírico e memória whiteboard</a:t>
            </a:r>
            <a:endParaRPr lang="en-US" sz="2600"/>
          </a:p>
        </p:txBody>
      </p:sp>
      <p:sp>
        <p:nvSpPr>
          <p:cNvPr id="4" name="title-rule"/>
          <p:cNvSpPr/>
          <p:nvPr/>
        </p:nvSpPr>
        <p:spPr>
          <a:xfrm>
            <a:off x="711200" y="1295400"/>
            <a:ext cx="711200" cy="38100"/>
          </a:xfrm>
          <a:prstGeom prst="rect">
            <a:avLst/>
          </a:prstGeom>
          <a:solidFill>
            <a:srgbClr val="BC5327"/>
          </a:solidFill>
          <a:ln>
            <a:noFill/>
          </a:ln>
        </p:spPr>
      </p:sp>
      <p:sp>
        <p:nvSpPr>
          <p:cNvPr id="5" name="c1-head"/>
          <p:cNvSpPr txBox="1"/>
          <p:nvPr/>
        </p:nvSpPr>
        <p:spPr>
          <a:xfrm>
            <a:off x="711200" y="1574800"/>
            <a:ext cx="3556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000" b="1" spc="120" kern="0">
                <a:solidFill>
                  <a:srgbClr val="1B1E23"/>
                </a:solidFill>
                <a:latin typeface="MiSans"/>
                <a:ea typeface="MiSans"/>
              </a:rPr>
              <a:t>MÁQUINA DE ESTADOS FORMAL</a:t>
            </a:r>
            <a:endParaRPr lang="en-US" sz="1000"/>
          </a:p>
        </p:txBody>
      </p:sp>
      <p:sp>
        <p:nvSpPr>
          <p:cNvPr id="6" name="sm1"/>
          <p:cNvSpPr/>
          <p:nvPr/>
        </p:nvSpPr>
        <p:spPr>
          <a:xfrm>
            <a:off x="711200" y="1879600"/>
            <a:ext cx="1625600" cy="381000"/>
          </a:xfrm>
          <a:prstGeom prst="rect">
            <a:avLst/>
          </a:prstGeom>
          <a:solidFill>
            <a:srgbClr val="EDF1F5"/>
          </a:solidFill>
          <a:ln w="12700">
            <a:solidFill>
              <a:srgbClr val="33506B"/>
            </a:solidFill>
          </a:ln>
        </p:spPr>
      </p:sp>
      <p:sp>
        <p:nvSpPr>
          <p:cNvPr id="7" name="sm1-t"/>
          <p:cNvSpPr txBox="1"/>
          <p:nvPr/>
        </p:nvSpPr>
        <p:spPr>
          <a:xfrm>
            <a:off x="711200" y="1879600"/>
            <a:ext cx="16256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900" b="1">
                <a:solidFill>
                  <a:srgbClr val="24405A"/>
                </a:solidFill>
                <a:latin typeface="MiSans"/>
                <a:ea typeface="MiSans"/>
              </a:rPr>
              <a:t>APRESENTANDO</a:t>
            </a:r>
            <a:endParaRPr lang="en-US" sz="900"/>
          </a:p>
        </p:txBody>
      </p:sp>
      <p:sp>
        <p:nvSpPr>
          <p:cNvPr id="8" name="sma1"/>
          <p:cNvSpPr/>
          <p:nvPr>
            <p:extLst>
              <p:ext uri="{F5677B7D-0D2A-4D9B-9A5C-6D8D7D0E5A5D}">
                <pptd:line encoding="base64url">eyJjdXJ2ZSI6InJvdW5kIiwicG9pbnRzIjoiNiwwIDYsMTYiLCJ2aWV3Qm94IjpbMTIsMTZdfQ</pptd:line>
              </p:ext>
            </p:extLst>
          </p:nvPr>
        </p:nvSpPr>
        <p:spPr>
          <a:xfrm>
            <a:off x="1447800" y="2260600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2" h="16">
                <a:moveTo>
                  <a:pt x="6" y="0"/>
                </a:moveTo>
                <a:lnTo>
                  <a:pt x="6" y="16"/>
                </a:lnTo>
              </a:path>
            </a:pathLst>
          </a:custGeom>
          <a:noFill/>
          <a:ln w="19050" cap="rnd">
            <a:solidFill>
              <a:srgbClr val="8B9199"/>
            </a:solidFill>
            <a:round/>
            <a:tailEnd type="stealth"/>
          </a:ln>
        </p:spPr>
      </p:sp>
      <p:sp>
        <p:nvSpPr>
          <p:cNvPr id="9" name="sm2"/>
          <p:cNvSpPr/>
          <p:nvPr/>
        </p:nvSpPr>
        <p:spPr>
          <a:xfrm>
            <a:off x="711200" y="2463800"/>
            <a:ext cx="1625600" cy="381000"/>
          </a:xfrm>
          <a:prstGeom prst="rect">
            <a:avLst/>
          </a:prstGeom>
          <a:solidFill>
            <a:srgbClr val="EDF1F5"/>
          </a:solidFill>
          <a:ln w="12700">
            <a:solidFill>
              <a:srgbClr val="33506B"/>
            </a:solidFill>
          </a:ln>
        </p:spPr>
      </p:sp>
      <p:sp>
        <p:nvSpPr>
          <p:cNvPr id="10" name="sm2-t"/>
          <p:cNvSpPr txBox="1"/>
          <p:nvPr/>
        </p:nvSpPr>
        <p:spPr>
          <a:xfrm>
            <a:off x="711200" y="2463800"/>
            <a:ext cx="16256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900" b="1">
                <a:solidFill>
                  <a:srgbClr val="24405A"/>
                </a:solidFill>
                <a:latin typeface="MiSans"/>
                <a:ea typeface="MiSans"/>
              </a:rPr>
              <a:t>PRATICANDO</a:t>
            </a:r>
            <a:endParaRPr lang="en-US" sz="900"/>
          </a:p>
        </p:txBody>
      </p:sp>
      <p:sp>
        <p:nvSpPr>
          <p:cNvPr id="11" name="sma2"/>
          <p:cNvSpPr/>
          <p:nvPr>
            <p:extLst>
              <p:ext uri="{F5677B7D-0D2A-4D9B-9A5C-6D8D7D0E5A5D}">
                <pptd:line encoding="base64url">eyJjdXJ2ZSI6InJvdW5kIiwicG9pbnRzIjoiNiwwIDYsMTYiLCJ2aWV3Qm94IjpbMTIsMTZdfQ</pptd:line>
              </p:ext>
            </p:extLst>
          </p:nvPr>
        </p:nvSpPr>
        <p:spPr>
          <a:xfrm>
            <a:off x="1447800" y="2844800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2" h="16">
                <a:moveTo>
                  <a:pt x="6" y="0"/>
                </a:moveTo>
                <a:lnTo>
                  <a:pt x="6" y="16"/>
                </a:lnTo>
              </a:path>
            </a:pathLst>
          </a:custGeom>
          <a:noFill/>
          <a:ln w="19050" cap="rnd">
            <a:solidFill>
              <a:srgbClr val="8B9199"/>
            </a:solidFill>
            <a:round/>
            <a:tailEnd type="stealth"/>
          </a:ln>
        </p:spPr>
      </p:sp>
      <p:sp>
        <p:nvSpPr>
          <p:cNvPr id="12" name="sm3"/>
          <p:cNvSpPr/>
          <p:nvPr/>
        </p:nvSpPr>
        <p:spPr>
          <a:xfrm>
            <a:off x="711200" y="3048000"/>
            <a:ext cx="1625600" cy="660400"/>
          </a:xfrm>
          <a:prstGeom prst="rect">
            <a:avLst/>
          </a:prstGeom>
          <a:solidFill>
            <a:srgbClr val="F8EAE1"/>
          </a:solidFill>
          <a:ln w="19050">
            <a:solidFill>
              <a:srgbClr val="BC5327"/>
            </a:solidFill>
          </a:ln>
        </p:spPr>
      </p:sp>
      <p:sp>
        <p:nvSpPr>
          <p:cNvPr id="13" name="sm3-t"/>
          <p:cNvSpPr txBox="1"/>
          <p:nvPr/>
        </p:nvSpPr>
        <p:spPr>
          <a:xfrm>
            <a:off x="711200" y="3048000"/>
            <a:ext cx="16256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20000"/>
              </a:lnSpc>
            </a:pPr>
            <a:r>
              <a:rPr lang="en-US" sz="900" b="1">
                <a:solidFill>
                  <a:srgbClr val="96401E"/>
                </a:solidFill>
                <a:latin typeface="MiSans"/>
                <a:ea typeface="MiSans"/>
              </a:rPr>
              <a:t>AVALIANDO</a:t>
            </a:r>
            <a:endParaRPr lang="en-US" sz="1600"/>
          </a:p>
          <a:p>
            <a:pPr algn="ctr">
              <a:lnSpc>
                <a:spcPct val="120000"/>
              </a:lnSpc>
            </a:pPr>
            <a:r>
              <a:rPr lang="en-US" sz="750">
                <a:solidFill>
                  <a:srgbClr val="96401E"/>
                </a:solidFill>
                <a:latin typeface="MiSans"/>
                <a:ea typeface="MiSans"/>
              </a:rPr>
              <a:t>sub: PRODUCING→VERIFYING→DONE</a:t>
            </a:r>
            <a:endParaRPr lang="en-US" sz="1600"/>
          </a:p>
        </p:txBody>
      </p:sp>
      <p:sp>
        <p:nvSpPr>
          <p:cNvPr id="14" name="sma3"/>
          <p:cNvSpPr/>
          <p:nvPr>
            <p:extLst>
              <p:ext uri="{F5677B7D-0D2A-4D9B-9A5C-6D8D7D0E5A5D}">
                <pptd:line encoding="base64url">eyJjdXJ2ZSI6InJvdW5kIiwicG9pbnRzIjoiNiwwIDYsMTYiLCJ2aWV3Qm94IjpbMTIsMTZdfQ</pptd:line>
              </p:ext>
            </p:extLst>
          </p:nvPr>
        </p:nvSpPr>
        <p:spPr>
          <a:xfrm>
            <a:off x="1447800" y="3708400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2" h="16">
                <a:moveTo>
                  <a:pt x="6" y="0"/>
                </a:moveTo>
                <a:lnTo>
                  <a:pt x="6" y="16"/>
                </a:lnTo>
              </a:path>
            </a:pathLst>
          </a:custGeom>
          <a:noFill/>
          <a:ln w="19050" cap="rnd">
            <a:solidFill>
              <a:srgbClr val="2F7D4F"/>
            </a:solidFill>
            <a:round/>
            <a:tailEnd type="stealth"/>
          </a:ln>
        </p:spPr>
      </p:sp>
      <p:sp>
        <p:nvSpPr>
          <p:cNvPr id="15" name="sm4"/>
          <p:cNvSpPr/>
          <p:nvPr/>
        </p:nvSpPr>
        <p:spPr>
          <a:xfrm>
            <a:off x="711200" y="3911600"/>
            <a:ext cx="1625600" cy="381000"/>
          </a:xfrm>
          <a:prstGeom prst="rect">
            <a:avLst/>
          </a:prstGeom>
          <a:solidFill>
            <a:srgbClr val="E9F3EC"/>
          </a:solidFill>
          <a:ln w="19050">
            <a:solidFill>
              <a:srgbClr val="2F7D4F"/>
            </a:solidFill>
          </a:ln>
        </p:spPr>
      </p:sp>
      <p:sp>
        <p:nvSpPr>
          <p:cNvPr id="16" name="sm4-t"/>
          <p:cNvSpPr txBox="1"/>
          <p:nvPr/>
        </p:nvSpPr>
        <p:spPr>
          <a:xfrm>
            <a:off x="711200" y="3911600"/>
            <a:ext cx="16256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900" b="1">
                <a:solidFill>
                  <a:srgbClr val="2F7D4F"/>
                </a:solidFill>
                <a:latin typeface="MiSans"/>
                <a:ea typeface="MiSans"/>
              </a:rPr>
              <a:t>DOMINADO (terminal)</a:t>
            </a:r>
            <a:endParaRPr lang="en-US" sz="900"/>
          </a:p>
        </p:txBody>
      </p:sp>
      <p:sp>
        <p:nvSpPr>
          <p:cNvPr id="17" name="sm-fail"/>
          <p:cNvSpPr/>
          <p:nvPr/>
        </p:nvSpPr>
        <p:spPr>
          <a:xfrm>
            <a:off x="2743200" y="3048000"/>
            <a:ext cx="1524000" cy="381000"/>
          </a:xfrm>
          <a:prstGeom prst="rect">
            <a:avLst/>
          </a:prstGeom>
          <a:solidFill>
            <a:srgbClr val="F9ECEA"/>
          </a:solidFill>
          <a:ln w="12700">
            <a:solidFill>
              <a:srgbClr val="B4443C"/>
            </a:solidFill>
          </a:ln>
        </p:spPr>
      </p:sp>
      <p:sp>
        <p:nvSpPr>
          <p:cNvPr id="18" name="sm-fail-t"/>
          <p:cNvSpPr txBox="1"/>
          <p:nvPr/>
        </p:nvSpPr>
        <p:spPr>
          <a:xfrm>
            <a:off x="2743200" y="3048000"/>
            <a:ext cx="1524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20000"/>
              </a:lnSpc>
            </a:pPr>
            <a:r>
              <a:rPr lang="en-US" sz="800" b="1">
                <a:solidFill>
                  <a:srgbClr val="B4443C"/>
                </a:solidFill>
                <a:latin typeface="MiSans"/>
                <a:ea typeface="MiSans"/>
              </a:rPr>
              <a:t>FAIL → retry ≤3 → FALHA_BLOQUEIO</a:t>
            </a:r>
            <a:endParaRPr lang="en-US" sz="800"/>
          </a:p>
        </p:txBody>
      </p:sp>
      <p:sp>
        <p:nvSpPr>
          <p:cNvPr id="19" name="sm-inv"/>
          <p:cNvSpPr txBox="1"/>
          <p:nvPr/>
        </p:nvSpPr>
        <p:spPr>
          <a:xfrm>
            <a:off x="711200" y="4521200"/>
            <a:ext cx="3556000" cy="162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0000"/>
              </a:lnSpc>
            </a:pPr>
            <a:r>
              <a:rPr lang="en-US" sz="900" b="1">
                <a:solidFill>
                  <a:srgbClr val="8B9199"/>
                </a:solidFill>
                <a:latin typeface="MiSans"/>
                <a:ea typeface="MiSans"/>
              </a:rPr>
              <a:t>Invariantes:</a:t>
            </a: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 I1 DOMINADO exige veredito Prometor com evidência; I2 Prometor nunca vê contexto do Mestre; I3 retries ≤ 3 → Sêneca; I4 timeout submete parcial mesmo assim; I5 toda decisão logada em event_log/events.ndjson.</a:t>
            </a:r>
            <a:endParaRPr lang="en-US" sz="900"/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Implementação de referência em Python (core/state_machine): transição inválida lança DeterminismError — "o Maestro propõe, o runtime confirma".</a:t>
            </a:r>
            <a:endParaRPr lang="en-US" sz="900"/>
          </a:p>
        </p:txBody>
      </p:sp>
      <p:sp>
        <p:nvSpPr>
          <p:cNvPr id="20" name="c2-head"/>
          <p:cNvSpPr txBox="1"/>
          <p:nvPr/>
        </p:nvSpPr>
        <p:spPr>
          <a:xfrm>
            <a:off x="4724400" y="1574800"/>
            <a:ext cx="3403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000" b="1" spc="120" kern="0">
                <a:solidFill>
                  <a:srgbClr val="1B1E23"/>
                </a:solidFill>
                <a:latin typeface="MiSans"/>
                <a:ea typeface="MiSans"/>
              </a:rPr>
              <a:t>PORTÃO EMPÍRICO UNIVERSAL</a:t>
            </a:r>
            <a:endParaRPr lang="en-US" sz="1000"/>
          </a:p>
        </p:txBody>
      </p:sp>
      <p:sp>
        <p:nvSpPr>
          <p:cNvPr id="21" name="c2-body"/>
          <p:cNvSpPr txBox="1"/>
          <p:nvPr/>
        </p:nvSpPr>
        <p:spPr>
          <a:xfrm>
            <a:off x="4724400" y="1879600"/>
            <a:ext cx="34036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5000"/>
              </a:lnSpc>
            </a:pPr>
            <a:r>
              <a:rPr lang="en-US" sz="950">
                <a:solidFill>
                  <a:srgbClr val="454A51"/>
                </a:solidFill>
                <a:latin typeface="MiSans"/>
                <a:ea typeface="MiSans"/>
              </a:rPr>
              <a:t>· execução real em sandbox, exit 0;</a:t>
            </a:r>
            <a:endParaRPr lang="en-US" sz="950"/>
          </a:p>
          <a:p>
            <a:pPr algn="l">
              <a:lnSpc>
                <a:spcPct val="145000"/>
              </a:lnSpc>
            </a:pPr>
            <a:r>
              <a:rPr lang="en-US" sz="950">
                <a:solidFill>
                  <a:srgbClr val="454A51"/>
                </a:solidFill>
                <a:latin typeface="MiSans"/>
                <a:ea typeface="MiSans"/>
              </a:rPr>
              <a:t>· suíte 100% verde (happy + bordas + adversariais);</a:t>
            </a:r>
            <a:endParaRPr lang="en-US" sz="950"/>
          </a:p>
          <a:p>
            <a:pPr algn="l">
              <a:lnSpc>
                <a:spcPct val="145000"/>
              </a:lnSpc>
            </a:pPr>
            <a:r>
              <a:rPr lang="en-US" sz="950">
                <a:solidFill>
                  <a:srgbClr val="454A51"/>
                </a:solidFill>
                <a:latin typeface="MiSans"/>
                <a:ea typeface="MiSans"/>
              </a:rPr>
              <a:t>· </a:t>
            </a:r>
            <a:r>
              <a:rPr lang="en-US" sz="950" b="1">
                <a:solidFill>
                  <a:srgbClr val="454A51"/>
                </a:solidFill>
                <a:latin typeface="MiSans"/>
                <a:ea typeface="MiSans"/>
              </a:rPr>
              <a:t>mutation score ≥ 0,65</a:t>
            </a:r>
            <a:r>
              <a:rPr lang="en-US" sz="950">
                <a:solidFill>
                  <a:srgbClr val="454A51"/>
                </a:solidFill>
                <a:latin typeface="MiSans"/>
                <a:ea typeface="MiSans"/>
              </a:rPr>
              <a:t> (preferível a cobertura bruta);</a:t>
            </a:r>
            <a:endParaRPr lang="en-US" sz="950"/>
          </a:p>
          <a:p>
            <a:pPr algn="l">
              <a:lnSpc>
                <a:spcPct val="145000"/>
              </a:lnSpc>
            </a:pPr>
            <a:r>
              <a:rPr lang="en-US" sz="950">
                <a:solidFill>
                  <a:srgbClr val="454A51"/>
                </a:solidFill>
                <a:latin typeface="MiSans"/>
                <a:ea typeface="MiSans"/>
              </a:rPr>
              <a:t>· </a:t>
            </a:r>
            <a:r>
              <a:rPr lang="en-US" sz="950" b="1">
                <a:solidFill>
                  <a:srgbClr val="454A51"/>
                </a:solidFill>
                <a:latin typeface="MiSans"/>
                <a:ea typeface="MiSans"/>
              </a:rPr>
              <a:t>cobertura do núcleo ≥ 0,80</a:t>
            </a:r>
            <a:r>
              <a:rPr lang="en-US" sz="950">
                <a:solidFill>
                  <a:srgbClr val="454A51"/>
                </a:solidFill>
                <a:latin typeface="MiSans"/>
                <a:ea typeface="MiSans"/>
              </a:rPr>
              <a:t>;</a:t>
            </a:r>
            <a:endParaRPr lang="en-US" sz="950"/>
          </a:p>
          <a:p>
            <a:pPr algn="l">
              <a:lnSpc>
                <a:spcPct val="145000"/>
              </a:lnSpc>
            </a:pPr>
            <a:r>
              <a:rPr lang="en-US" sz="950">
                <a:solidFill>
                  <a:srgbClr val="454A51"/>
                </a:solidFill>
                <a:latin typeface="MiSans"/>
                <a:ea typeface="MiSans"/>
              </a:rPr>
              <a:t>· lint 0 erros / 0 warnings;</a:t>
            </a:r>
            <a:endParaRPr lang="en-US" sz="950"/>
          </a:p>
          <a:p>
            <a:pPr algn="l">
              <a:lnSpc>
                <a:spcPct val="145000"/>
              </a:lnSpc>
            </a:pPr>
            <a:r>
              <a:rPr lang="en-US" sz="950">
                <a:solidFill>
                  <a:srgbClr val="454A51"/>
                </a:solidFill>
                <a:latin typeface="MiSans"/>
                <a:ea typeface="MiSans"/>
              </a:rPr>
              <a:t>· código idiomático revisado pelo Crítico + reflexão do aluno.</a:t>
            </a:r>
            <a:endParaRPr lang="en-US" sz="950"/>
          </a:p>
        </p:txBody>
      </p:sp>
      <p:sp>
        <p:nvSpPr>
          <p:cNvPr id="22" name="c2-panel"/>
          <p:cNvSpPr/>
          <p:nvPr/>
        </p:nvSpPr>
        <p:spPr>
          <a:xfrm>
            <a:off x="4724400" y="3530600"/>
            <a:ext cx="3403600" cy="1651000"/>
          </a:xfrm>
          <a:prstGeom prst="rect">
            <a:avLst/>
          </a:prstGeom>
          <a:solidFill>
            <a:srgbClr val="F9ECEA"/>
          </a:solidFill>
          <a:ln w="12700">
            <a:solidFill>
              <a:srgbClr val="B4443C"/>
            </a:solidFill>
          </a:ln>
        </p:spPr>
      </p:sp>
      <p:sp>
        <p:nvSpPr>
          <p:cNvPr id="23" name="c2-panel-t"/>
          <p:cNvSpPr txBox="1"/>
          <p:nvPr/>
        </p:nvSpPr>
        <p:spPr>
          <a:xfrm>
            <a:off x="4876800" y="3632200"/>
            <a:ext cx="3098800" cy="147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0000"/>
              </a:lnSpc>
            </a:pPr>
            <a:r>
              <a:rPr lang="en-US" sz="900" b="1">
                <a:solidFill>
                  <a:srgbClr val="B4443C"/>
                </a:solidFill>
                <a:latin typeface="MiSans"/>
                <a:ea typeface="MiSans"/>
              </a:rPr>
              <a:t>Lista negra — nega DOMINADO mesmo com testes verdes</a:t>
            </a:r>
            <a:r>
              <a:rPr lang="en-US" sz="900">
                <a:solidFill>
                  <a:srgbClr val="454A51"/>
                </a:solidFill>
                <a:latin typeface="MiSans"/>
                <a:ea typeface="MiSans"/>
              </a:rPr>
              <a:t> (16 anti-padrões):</a:t>
            </a:r>
            <a:endParaRPr lang="en-US" sz="900"/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900">
                <a:solidFill>
                  <a:srgbClr val="454A51"/>
                </a:solidFill>
                <a:latin typeface="MiSans"/>
                <a:ea typeface="MiSans"/>
              </a:rPr>
              <a:t>assert True · mock que retorna o valor esperado · try/except: pass · sleep em vez de sincronização · any sem justificativa · mutate input · resource leak · swallow de exceção · print em vez de logger · magic numbers…</a:t>
            </a:r>
            <a:endParaRPr lang="en-US" sz="900"/>
          </a:p>
        </p:txBody>
      </p:sp>
      <p:sp>
        <p:nvSpPr>
          <p:cNvPr id="24" name="c2-note"/>
          <p:cNvSpPr txBox="1"/>
          <p:nvPr/>
        </p:nvSpPr>
        <p:spPr>
          <a:xfrm>
            <a:off x="4724400" y="5334000"/>
            <a:ext cx="34036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0000"/>
              </a:lnSpc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DoD por tipo de unidade: TDD exige testes antes do código (verificável por git log); refactoring: CC mediana &lt;10, duplicação &lt;7%; observabilidade: 0 print, ≥3 métricas.</a:t>
            </a:r>
            <a:endParaRPr lang="en-US" sz="900"/>
          </a:p>
        </p:txBody>
      </p:sp>
      <p:sp>
        <p:nvSpPr>
          <p:cNvPr id="25" name="c3-head"/>
          <p:cNvSpPr txBox="1"/>
          <p:nvPr/>
        </p:nvSpPr>
        <p:spPr>
          <a:xfrm>
            <a:off x="8585200" y="1574800"/>
            <a:ext cx="2895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000" b="1" spc="100" kern="0">
                <a:solidFill>
                  <a:srgbClr val="1B1E23"/>
                </a:solidFill>
                <a:latin typeface="MiSans"/>
                <a:ea typeface="MiSans"/>
              </a:rPr>
              <a:t>WHITEBOARD — 3 CAMADAS</a:t>
            </a:r>
            <a:endParaRPr lang="en-US" sz="1000"/>
          </a:p>
        </p:txBody>
      </p:sp>
      <p:sp>
        <p:nvSpPr>
          <p:cNvPr id="26" name="wb1"/>
          <p:cNvSpPr/>
          <p:nvPr/>
        </p:nvSpPr>
        <p:spPr>
          <a:xfrm>
            <a:off x="8585200" y="1879600"/>
            <a:ext cx="2895600" cy="838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506B"/>
            </a:solidFill>
          </a:ln>
        </p:spPr>
      </p:sp>
      <p:sp>
        <p:nvSpPr>
          <p:cNvPr id="27" name="wb1-t"/>
          <p:cNvSpPr txBox="1"/>
          <p:nvPr/>
        </p:nvSpPr>
        <p:spPr>
          <a:xfrm>
            <a:off x="8712200" y="1943100"/>
            <a:ext cx="26416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950" b="1">
                <a:solidFill>
                  <a:srgbClr val="1B1E23"/>
                </a:solidFill>
                <a:latin typeface="MiSans"/>
                <a:ea typeface="MiSans"/>
              </a:rPr>
              <a:t>1 · Intra-agente</a:t>
            </a:r>
            <a:endParaRPr lang="en-US" sz="1600"/>
          </a:p>
          <a:p>
            <a:pPr algn="l">
              <a:lnSpc>
                <a:spcPct val="120000"/>
              </a:lnSpc>
            </a:pPr>
            <a:r>
              <a:rPr lang="en-US" sz="800">
                <a:solidFill>
                  <a:srgbClr val="8B9199"/>
                </a:solidFill>
                <a:latin typeface="MiSans"/>
                <a:ea typeface="MiSans"/>
              </a:rPr>
              <a:t>a experiência de uma run vira dica na próxima run do mesmo agente</a:t>
            </a:r>
            <a:endParaRPr lang="en-US" sz="1600"/>
          </a:p>
        </p:txBody>
      </p:sp>
      <p:sp>
        <p:nvSpPr>
          <p:cNvPr id="28" name="wb2"/>
          <p:cNvSpPr/>
          <p:nvPr/>
        </p:nvSpPr>
        <p:spPr>
          <a:xfrm>
            <a:off x="8585200" y="2819400"/>
            <a:ext cx="2895600" cy="838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506B"/>
            </a:solidFill>
          </a:ln>
        </p:spPr>
      </p:sp>
      <p:sp>
        <p:nvSpPr>
          <p:cNvPr id="29" name="wb2-t"/>
          <p:cNvSpPr txBox="1"/>
          <p:nvPr/>
        </p:nvSpPr>
        <p:spPr>
          <a:xfrm>
            <a:off x="8712200" y="2882900"/>
            <a:ext cx="26416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950" b="1">
                <a:solidFill>
                  <a:srgbClr val="1B1E23"/>
                </a:solidFill>
                <a:latin typeface="MiSans"/>
                <a:ea typeface="MiSans"/>
              </a:rPr>
              <a:t>2 · Handoff files</a:t>
            </a:r>
            <a:endParaRPr lang="en-US" sz="1600"/>
          </a:p>
          <a:p>
            <a:pPr algn="l">
              <a:lnSpc>
                <a:spcPct val="120000"/>
              </a:lnSpc>
            </a:pPr>
            <a:r>
              <a:rPr lang="en-US" sz="800">
                <a:solidFill>
                  <a:srgbClr val="8B9199"/>
                </a:solidFill>
                <a:latin typeface="MiSans"/>
                <a:ea typeface="MiSans"/>
              </a:rPr>
              <a:t>unit_spec.md · submission.md · verdict.md — schemas fixos</a:t>
            </a:r>
            <a:endParaRPr lang="en-US" sz="1600"/>
          </a:p>
        </p:txBody>
      </p:sp>
      <p:sp>
        <p:nvSpPr>
          <p:cNvPr id="30" name="wb3"/>
          <p:cNvSpPr/>
          <p:nvPr/>
        </p:nvSpPr>
        <p:spPr>
          <a:xfrm>
            <a:off x="8585200" y="3759200"/>
            <a:ext cx="2895600" cy="939800"/>
          </a:xfrm>
          <a:prstGeom prst="rect">
            <a:avLst/>
          </a:prstGeom>
          <a:solidFill>
            <a:srgbClr val="F8EAE1"/>
          </a:solidFill>
          <a:ln w="19050">
            <a:solidFill>
              <a:srgbClr val="BC5327"/>
            </a:solidFill>
          </a:ln>
        </p:spPr>
      </p:sp>
      <p:sp>
        <p:nvSpPr>
          <p:cNvPr id="31" name="wb3-t"/>
          <p:cNvSpPr txBox="1"/>
          <p:nvPr/>
        </p:nvSpPr>
        <p:spPr>
          <a:xfrm>
            <a:off x="8712200" y="3822700"/>
            <a:ext cx="26416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950" b="1">
                <a:solidFill>
                  <a:srgbClr val="96401E"/>
                </a:solidFill>
                <a:latin typeface="MiSans"/>
                <a:ea typeface="MiSans"/>
              </a:rPr>
              <a:t>3 · Whiteboard persistente</a:t>
            </a:r>
            <a:endParaRPr lang="en-US" sz="1600"/>
          </a:p>
          <a:p>
            <a:pPr algn="l">
              <a:lnSpc>
                <a:spcPct val="120000"/>
              </a:lnSpc>
            </a:pPr>
            <a:r>
              <a:rPr lang="en-US" sz="800">
                <a:solidFill>
                  <a:srgbClr val="454A51"/>
                </a:solidFill>
                <a:latin typeface="MiSans"/>
                <a:ea typeface="MiSans"/>
              </a:rPr>
              <a:t>perfil vivo — </a:t>
            </a:r>
            <a:r>
              <a:rPr lang="en-US" sz="800" b="1">
                <a:solidFill>
                  <a:srgbClr val="454A51"/>
                </a:solidFill>
                <a:latin typeface="MiSans"/>
                <a:ea typeface="MiSans"/>
              </a:rPr>
              <a:t>views derivadas</a:t>
            </a:r>
            <a:r>
              <a:rPr lang="en-US" sz="800">
                <a:solidFill>
                  <a:srgbClr val="454A51"/>
                </a:solidFill>
                <a:latin typeface="MiSans"/>
                <a:ea typeface="MiSans"/>
              </a:rPr>
              <a:t> do learner/ raiz, regeneradas pelo substrate</a:t>
            </a:r>
            <a:endParaRPr lang="en-US" sz="1600"/>
          </a:p>
        </p:txBody>
      </p:sp>
      <p:sp>
        <p:nvSpPr>
          <p:cNvPr id="32" name="c3-note"/>
          <p:cNvSpPr txBox="1"/>
          <p:nvPr/>
        </p:nvSpPr>
        <p:spPr>
          <a:xfrm>
            <a:off x="8585200" y="4851400"/>
            <a:ext cx="2895600" cy="1346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0000"/>
              </a:lnSpc>
            </a:pPr>
            <a:r>
              <a:rPr lang="en-US" sz="900" b="1">
                <a:solidFill>
                  <a:srgbClr val="8B9199"/>
                </a:solidFill>
                <a:latin typeface="MiSans"/>
                <a:ea typeface="MiSans"/>
              </a:rPr>
              <a:t>Curadoria:</a:t>
            </a: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 no system prompt só o núcleo curado (3–5 pegadinhas rotativas, 3–5 skills ativas, AIDI); histórico sob demanda — nunca despejar memória bruta.</a:t>
            </a:r>
            <a:endParaRPr lang="en-US" sz="900"/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Compactação semanal (Cronos + Mnemosyne). Event log NDJSON append-only com escrita atômica + fsync.</a:t>
            </a:r>
            <a:endParaRPr lang="en-US" sz="900"/>
          </a:p>
        </p:txBody>
      </p:sp>
      <p:sp>
        <p:nvSpPr>
          <p:cNvPr id="33" name="footer-lin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E3E6EA"/>
          </a:solidFill>
          <a:ln>
            <a:noFill/>
          </a:ln>
        </p:spPr>
      </p:sp>
      <p:sp>
        <p:nvSpPr>
          <p:cNvPr id="34" name="footer-left"/>
          <p:cNvSpPr txBox="1"/>
          <p:nvPr/>
        </p:nvSpPr>
        <p:spPr>
          <a:xfrm>
            <a:off x="711200" y="6553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35000"/>
              </a:lnSpc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AI DEVSCHOOL — COMO FUNCIONA</a:t>
            </a:r>
            <a:endParaRPr lang="en-US" sz="900"/>
          </a:p>
        </p:txBody>
      </p:sp>
      <p:sp>
        <p:nvSpPr>
          <p:cNvPr id="35" name="footer-page"/>
          <p:cNvSpPr txBox="1"/>
          <p:nvPr/>
        </p:nvSpPr>
        <p:spPr>
          <a:xfrm>
            <a:off x="10414000" y="6553200"/>
            <a:ext cx="106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35000"/>
              </a:lnSpc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14</a:t>
            </a:r>
            <a:endParaRPr lang="en-US" sz="9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 b="1" spc="250" kern="0">
                <a:solidFill>
                  <a:srgbClr val="BC5327"/>
                </a:solidFill>
                <a:latin typeface="MiSans"/>
                <a:ea typeface="MiSans"/>
              </a:rPr>
              <a:t>14 · MOTOR CLAUDE CODE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11200" y="7112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15000"/>
              </a:lnSpc>
            </a:pPr>
            <a:r>
              <a:rPr lang="en-US" sz="2600" b="1">
                <a:solidFill>
                  <a:srgbClr val="1B1E23"/>
                </a:solidFill>
                <a:latin typeface="MiSans"/>
                <a:ea typeface="MiSans"/>
              </a:rPr>
              <a:t>miniMaxEvolutionEngine: o protocolo, executável</a:t>
            </a:r>
            <a:endParaRPr lang="en-US" sz="2600"/>
          </a:p>
        </p:txBody>
      </p:sp>
      <p:sp>
        <p:nvSpPr>
          <p:cNvPr id="4" name="title-rule"/>
          <p:cNvSpPr/>
          <p:nvPr/>
        </p:nvSpPr>
        <p:spPr>
          <a:xfrm>
            <a:off x="711200" y="1295400"/>
            <a:ext cx="711200" cy="38100"/>
          </a:xfrm>
          <a:prstGeom prst="rect">
            <a:avLst/>
          </a:prstGeom>
          <a:solidFill>
            <a:srgbClr val="BC5327"/>
          </a:solidFill>
          <a:ln>
            <a:noFill/>
          </a:ln>
        </p:spPr>
      </p:sp>
      <p:sp>
        <p:nvSpPr>
          <p:cNvPr id="5" name="l-head"/>
          <p:cNvSpPr txBox="1"/>
          <p:nvPr/>
        </p:nvSpPr>
        <p:spPr>
          <a:xfrm>
            <a:off x="711200" y="1549400"/>
            <a:ext cx="533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000" b="1" spc="120" kern="0">
                <a:solidFill>
                  <a:srgbClr val="1B1E23"/>
                </a:solidFill>
                <a:latin typeface="MiSans"/>
                <a:ea typeface="MiSans"/>
              </a:rPr>
              <a:t>O ORQUESTRADOR (CLAUDE CODE MAIN LOOP)</a:t>
            </a:r>
            <a:endParaRPr lang="en-US" sz="1000"/>
          </a:p>
        </p:txBody>
      </p:sp>
      <p:sp>
        <p:nvSpPr>
          <p:cNvPr id="6" name="l-body"/>
          <p:cNvSpPr txBox="1"/>
          <p:nvPr/>
        </p:nvSpPr>
        <p:spPr>
          <a:xfrm>
            <a:off x="711200" y="1828800"/>
            <a:ext cx="53340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5000"/>
              </a:lnSpc>
            </a:pPr>
            <a:r>
              <a:rPr lang="en-US" sz="1050">
                <a:solidFill>
                  <a:srgbClr val="454A51"/>
                </a:solidFill>
                <a:latin typeface="MiSans"/>
                <a:ea typeface="MiSans"/>
              </a:rPr>
              <a:t>É o Maestro/Mavis: </a:t>
            </a:r>
            <a:r>
              <a:rPr lang="en-US" sz="1050" b="1">
                <a:solidFill>
                  <a:srgbClr val="454A51"/>
                </a:solidFill>
                <a:latin typeface="MiSans"/>
                <a:ea typeface="MiSans"/>
              </a:rPr>
              <a:t>delega a subagents e nunca escreve código de implementação</a:t>
            </a:r>
            <a:r>
              <a:rPr lang="en-US" sz="1050">
                <a:solidFill>
                  <a:srgbClr val="454A51"/>
                </a:solidFill>
                <a:latin typeface="MiSans"/>
                <a:ea typeface="MiSans"/>
              </a:rPr>
              <a:t>. Separa PLANEJAR → EXECUTAR → VERIFICAR; nunca avança fase sem verifier PASS; respeita o learning gate; falha nunca é silenciada.</a:t>
            </a:r>
            <a:endParaRPr lang="en-US" sz="1050"/>
          </a:p>
          <a:p>
            <a:pPr algn="l">
              <a:lnSpc>
                <a:spcPct val="145000"/>
              </a:lnSpc>
              <a:spcBef>
                <a:spcPts val="700"/>
              </a:spcBef>
            </a:pPr>
            <a:r>
              <a:rPr lang="en-US" sz="1050">
                <a:solidFill>
                  <a:srgbClr val="454A51"/>
                </a:solidFill>
                <a:latin typeface="MiSans"/>
                <a:ea typeface="MiSans"/>
              </a:rPr>
              <a:t>Hook SessionStart (</a:t>
            </a:r>
            <a:r>
              <a:rPr lang="en-US" sz="1050">
                <a:solidFill>
                  <a:srgbClr val="96401E"/>
                </a:solidFill>
                <a:latin typeface="MiSans"/>
                <a:ea typeface="MiSans"/>
              </a:rPr>
              <a:t>briefing.sh</a:t>
            </a:r>
            <a:r>
              <a:rPr lang="en-US" sz="1050">
                <a:solidFill>
                  <a:srgbClr val="454A51"/>
                </a:solidFill>
                <a:latin typeface="MiSans"/>
                <a:ea typeface="MiSans"/>
              </a:rPr>
              <a:t>) injeta no contexto o estado do pipeline + learning gate a cada abertura de sessão.</a:t>
            </a:r>
            <a:endParaRPr lang="en-US" sz="1050"/>
          </a:p>
        </p:txBody>
      </p:sp>
      <p:sp>
        <p:nvSpPr>
          <p:cNvPr id="7" name="pr-panel"/>
          <p:cNvSpPr/>
          <p:nvPr/>
        </p:nvSpPr>
        <p:spPr>
          <a:xfrm>
            <a:off x="711200" y="3098800"/>
            <a:ext cx="5334000" cy="1498600"/>
          </a:xfrm>
          <a:prstGeom prst="rect">
            <a:avLst/>
          </a:prstGeom>
          <a:solidFill>
            <a:srgbClr val="F7F5F0"/>
          </a:solidFill>
          <a:ln w="12700">
            <a:solidFill>
              <a:srgbClr val="E3E6EA"/>
            </a:solidFill>
          </a:ln>
        </p:spPr>
      </p:sp>
      <p:sp>
        <p:nvSpPr>
          <p:cNvPr id="8" name="pr-t"/>
          <p:cNvSpPr txBox="1"/>
          <p:nvPr/>
        </p:nvSpPr>
        <p:spPr>
          <a:xfrm>
            <a:off x="889000" y="3225800"/>
            <a:ext cx="4978400" cy="1244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5000"/>
              </a:lnSpc>
            </a:pPr>
            <a:r>
              <a:rPr lang="en-US" sz="950" b="1">
                <a:solidFill>
                  <a:srgbClr val="1B1E23"/>
                </a:solidFill>
                <a:latin typeface="MiSans"/>
                <a:ea typeface="MiSans"/>
              </a:rPr>
              <a:t>PhaseRunner — a costura de orquestração</a:t>
            </a:r>
            <a:r>
              <a:rPr lang="en-US" sz="950">
                <a:solidFill>
                  <a:srgbClr val="454A51"/>
                </a:solidFill>
                <a:latin typeface="MiSans"/>
                <a:ea typeface="MiSans"/>
              </a:rPr>
              <a:t> (um protocolo, não um subagent):</a:t>
            </a:r>
            <a:endParaRPr lang="en-US" sz="950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950">
                <a:solidFill>
                  <a:srgbClr val="454A51"/>
                </a:solidFill>
                <a:latin typeface="MiSans"/>
                <a:ea typeface="MiSans"/>
              </a:rPr>
              <a:t>run_phase(spec) = read-state → check-gate → dispatch producer → dispatch verifier → update status → retry</a:t>
            </a:r>
            <a:endParaRPr lang="en-US" sz="950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950">
                <a:solidFill>
                  <a:srgbClr val="8B9199"/>
                </a:solidFill>
                <a:latin typeface="MiSans"/>
                <a:ea typeface="MiSans"/>
              </a:rPr>
              <a:t>Escreve máquina só via pipeline_status.save_status; verifier nunca compartilha contexto do produtor; coberto por 12 testes de contrato.</a:t>
            </a:r>
            <a:endParaRPr lang="en-US" sz="950"/>
          </a:p>
        </p:txBody>
      </p:sp>
      <p:sp>
        <p:nvSpPr>
          <p:cNvPr id="9" name="cmd-head"/>
          <p:cNvSpPr txBox="1"/>
          <p:nvPr/>
        </p:nvSpPr>
        <p:spPr>
          <a:xfrm>
            <a:off x="711200" y="4826000"/>
            <a:ext cx="533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000" b="1" spc="120" kern="0">
                <a:solidFill>
                  <a:srgbClr val="1B1E23"/>
                </a:solidFill>
                <a:latin typeface="MiSans"/>
                <a:ea typeface="MiSans"/>
              </a:rPr>
              <a:t>18 SLASH COMMANDS /devschool-*</a:t>
            </a:r>
            <a:endParaRPr lang="en-US" sz="1000"/>
          </a:p>
        </p:txBody>
      </p:sp>
      <p:sp>
        <p:nvSpPr>
          <p:cNvPr id="10" name="cmd-body"/>
          <p:cNvSpPr txBox="1"/>
          <p:nvPr/>
        </p:nvSpPr>
        <p:spPr>
          <a:xfrm>
            <a:off x="711200" y="5105400"/>
            <a:ext cx="53340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5000"/>
              </a:lnSpc>
            </a:pPr>
            <a:r>
              <a:rPr lang="en-US" sz="950" b="1">
                <a:solidFill>
                  <a:srgbClr val="454A51"/>
                </a:solidFill>
                <a:latin typeface="MiSans"/>
                <a:ea typeface="MiSans"/>
              </a:rPr>
              <a:t>Fases:</a:t>
            </a:r>
            <a:r>
              <a:rPr lang="en-US" sz="950">
                <a:solidFill>
                  <a:srgbClr val="454A51"/>
                </a:solidFill>
                <a:latin typeface="MiSans"/>
                <a:ea typeface="MiSans"/>
              </a:rPr>
              <a:t> -spec · -implement (paralelo, 3 devs) · -review · -benchmark · -optimize · -verify</a:t>
            </a:r>
            <a:endParaRPr lang="en-US" sz="950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950" b="1">
                <a:solidFill>
                  <a:srgbClr val="454A51"/>
                </a:solidFill>
                <a:latin typeface="MiSans"/>
                <a:ea typeface="MiSans"/>
              </a:rPr>
              <a:t>Loops:</a:t>
            </a:r>
            <a:r>
              <a:rPr lang="en-US" sz="950">
                <a:solidFill>
                  <a:srgbClr val="454A51"/>
                </a:solidFill>
                <a:latin typeface="MiSans"/>
                <a:ea typeface="MiSans"/>
              </a:rPr>
              <a:t> -cycle (para após 2 gates falhos) · -next (reabre o learning gate) · -audit</a:t>
            </a:r>
            <a:endParaRPr lang="en-US" sz="950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950" b="1">
                <a:solidFill>
                  <a:srgbClr val="454A51"/>
                </a:solidFill>
                <a:latin typeface="MiSans"/>
                <a:ea typeface="MiSans"/>
              </a:rPr>
              <a:t>Tutor-core:</a:t>
            </a:r>
            <a:r>
              <a:rPr lang="en-US" sz="950">
                <a:solidFill>
                  <a:srgbClr val="454A51"/>
                </a:solidFill>
                <a:latin typeface="MiSans"/>
                <a:ea typeface="MiSans"/>
              </a:rPr>
              <a:t> -diagnose · -socratic · -recall · -decide · -status… · </a:t>
            </a:r>
            <a:r>
              <a:rPr lang="en-US" sz="950" b="1">
                <a:solidFill>
                  <a:srgbClr val="454A51"/>
                </a:solidFill>
                <a:latin typeface="MiSans"/>
                <a:ea typeface="MiSans"/>
              </a:rPr>
              <a:t>Arena:</a:t>
            </a:r>
            <a:r>
              <a:rPr lang="en-US" sz="950">
                <a:solidFill>
                  <a:srgbClr val="454A51"/>
                </a:solidFill>
                <a:latin typeface="MiSans"/>
                <a:ea typeface="MiSans"/>
              </a:rPr>
              <a:t> -arena (predição travada até o aprendiz prever o vencedor)</a:t>
            </a:r>
            <a:endParaRPr lang="en-US" sz="950"/>
          </a:p>
        </p:txBody>
      </p:sp>
      <p:sp>
        <p:nvSpPr>
          <p:cNvPr id="11" name="r-head"/>
          <p:cNvSpPr txBox="1"/>
          <p:nvPr/>
        </p:nvSpPr>
        <p:spPr>
          <a:xfrm>
            <a:off x="6553200" y="1549400"/>
            <a:ext cx="4927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000" b="1" spc="120" kern="0">
                <a:solidFill>
                  <a:srgbClr val="1B1E23"/>
                </a:solidFill>
                <a:latin typeface="MiSans"/>
                <a:ea typeface="MiSans"/>
              </a:rPr>
              <a:t>24 SUBAGENTS EM DOIS GRUPOS</a:t>
            </a:r>
            <a:endParaRPr lang="en-US" sz="1000"/>
          </a:p>
        </p:txBody>
      </p:sp>
      <p:sp>
        <p:nvSpPr>
          <p:cNvPr id="12" name="r-body"/>
          <p:cNvSpPr txBox="1"/>
          <p:nvPr/>
        </p:nvSpPr>
        <p:spPr>
          <a:xfrm>
            <a:off x="6553200" y="1828800"/>
            <a:ext cx="49276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5000"/>
              </a:lnSpc>
            </a:pPr>
            <a:r>
              <a:rPr lang="en-US" sz="1000">
                <a:solidFill>
                  <a:srgbClr val="454A51"/>
                </a:solidFill>
                <a:latin typeface="MiSans"/>
                <a:ea typeface="MiSans"/>
              </a:rPr>
              <a:t>· </a:t>
            </a:r>
            <a:r>
              <a:rPr lang="en-US" sz="1000" b="1">
                <a:solidFill>
                  <a:srgbClr val="454A51"/>
                </a:solidFill>
                <a:latin typeface="MiSans"/>
                <a:ea typeface="MiSans"/>
              </a:rPr>
              <a:t>14 wrappers canônicos</a:t>
            </a:r>
            <a:r>
              <a:rPr lang="en-US" sz="1000">
                <a:solidFill>
                  <a:srgbClr val="454A51"/>
                </a:solidFill>
                <a:latin typeface="MiSans"/>
                <a:ea typeface="MiSans"/>
              </a:rPr>
              <a:t> — cada um aponta para a persona em minimaxDojo/prompts/per_agent/: "leia em sessão fresca e siga integralmente; </a:t>
            </a:r>
            <a:r>
              <a:rPr lang="en-US" sz="1000" b="1">
                <a:solidFill>
                  <a:srgbClr val="454A51"/>
                </a:solidFill>
                <a:latin typeface="MiSans"/>
                <a:ea typeface="MiSans"/>
              </a:rPr>
              <a:t>em divergência, o canônico vence</a:t>
            </a:r>
            <a:r>
              <a:rPr lang="en-US" sz="1000">
                <a:solidFill>
                  <a:srgbClr val="454A51"/>
                </a:solidFill>
                <a:latin typeface="MiSans"/>
                <a:ea typeface="MiSans"/>
              </a:rPr>
              <a:t>";</a:t>
            </a:r>
            <a:endParaRPr lang="en-US" sz="1000"/>
          </a:p>
          <a:p>
            <a:pPr algn="l">
              <a:lnSpc>
                <a:spcPct val="145000"/>
              </a:lnSpc>
              <a:spcBef>
                <a:spcPts val="500"/>
              </a:spcBef>
            </a:pPr>
            <a:r>
              <a:rPr lang="en-US" sz="1000">
                <a:solidFill>
                  <a:srgbClr val="454A51"/>
                </a:solidFill>
                <a:latin typeface="MiSans"/>
                <a:ea typeface="MiSans"/>
              </a:rPr>
              <a:t>· </a:t>
            </a:r>
            <a:r>
              <a:rPr lang="en-US" sz="1000" b="1">
                <a:solidFill>
                  <a:srgbClr val="454A51"/>
                </a:solidFill>
                <a:latin typeface="MiSans"/>
                <a:ea typeface="MiSans"/>
              </a:rPr>
              <a:t>platform-only</a:t>
            </a:r>
            <a:r>
              <a:rPr lang="en-US" sz="1000">
                <a:solidFill>
                  <a:srgbClr val="454A51"/>
                </a:solidFill>
                <a:latin typeface="MiSans"/>
                <a:ea typeface="MiSans"/>
              </a:rPr>
              <a:t> — curator, dev-go/rust/node, reviewer, benchmarker, optimizer, verifier, verifier-haiku, arena-narrator, fairness-auditor.</a:t>
            </a:r>
            <a:endParaRPr lang="en-US" sz="1000"/>
          </a:p>
        </p:txBody>
      </p:sp>
      <p:sp>
        <p:nvSpPr>
          <p:cNvPr id="13" name="vf-panel"/>
          <p:cNvSpPr/>
          <p:nvPr/>
        </p:nvSpPr>
        <p:spPr>
          <a:xfrm>
            <a:off x="6553200" y="2768600"/>
            <a:ext cx="4927600" cy="1219200"/>
          </a:xfrm>
          <a:prstGeom prst="rect">
            <a:avLst/>
          </a:prstGeom>
          <a:solidFill>
            <a:srgbClr val="F8EAE1"/>
          </a:solidFill>
          <a:ln w="19050">
            <a:solidFill>
              <a:srgbClr val="BC5327"/>
            </a:solidFill>
          </a:ln>
        </p:spPr>
      </p:sp>
      <p:sp>
        <p:nvSpPr>
          <p:cNvPr id="14" name="vf-t"/>
          <p:cNvSpPr txBox="1"/>
          <p:nvPr/>
        </p:nvSpPr>
        <p:spPr>
          <a:xfrm>
            <a:off x="6731000" y="2870200"/>
            <a:ext cx="4572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5000"/>
              </a:lnSpc>
            </a:pPr>
            <a:r>
              <a:rPr lang="en-US" sz="950" b="1">
                <a:solidFill>
                  <a:srgbClr val="96401E"/>
                </a:solidFill>
                <a:latin typeface="MiSans"/>
                <a:ea typeface="MiSans"/>
              </a:rPr>
              <a:t>verifier — "você julga, não conserta"</a:t>
            </a:r>
            <a:endParaRPr lang="en-US" sz="950"/>
          </a:p>
          <a:p>
            <a:pPr algn="l">
              <a:lnSpc>
                <a:spcPct val="145000"/>
              </a:lnSpc>
              <a:spcBef>
                <a:spcPts val="300"/>
              </a:spcBef>
            </a:pPr>
            <a:r>
              <a:rPr lang="en-US" sz="950">
                <a:solidFill>
                  <a:srgbClr val="454A51"/>
                </a:solidFill>
                <a:latin typeface="MiSans"/>
                <a:ea typeface="MiSans"/>
              </a:rPr>
              <a:t>Tools: Read, Grep, Glob, Bash — </a:t>
            </a:r>
            <a:r>
              <a:rPr lang="en-US" sz="950" b="1">
                <a:solidFill>
                  <a:srgbClr val="454A51"/>
                </a:solidFill>
                <a:latin typeface="MiSans"/>
                <a:ea typeface="MiSans"/>
              </a:rPr>
              <a:t>sem ferramentas de escrita, por design</a:t>
            </a:r>
            <a:r>
              <a:rPr lang="en-US" sz="950">
                <a:solidFill>
                  <a:srgbClr val="454A51"/>
                </a:solidFill>
                <a:latin typeface="MiSans"/>
                <a:ea typeface="MiSans"/>
              </a:rPr>
              <a:t>. Parte do zero (anti-ancoragem), re-roda builds/testes/benchmarks de verdade e tenta refutar. Veredicto estruturado: PASS | FAIL + evidência arquivo:linha.</a:t>
            </a:r>
            <a:endParaRPr lang="en-US" sz="950"/>
          </a:p>
        </p:txBody>
      </p:sp>
      <p:sp>
        <p:nvSpPr>
          <p:cNvPr id="15" name="vh-panel"/>
          <p:cNvSpPr/>
          <p:nvPr/>
        </p:nvSpPr>
        <p:spPr>
          <a:xfrm>
            <a:off x="6553200" y="4089400"/>
            <a:ext cx="4927600" cy="1117600"/>
          </a:xfrm>
          <a:prstGeom prst="rect">
            <a:avLst/>
          </a:prstGeom>
          <a:solidFill>
            <a:srgbClr val="EDF1F5"/>
          </a:solidFill>
          <a:ln w="12700">
            <a:solidFill>
              <a:srgbClr val="33506B"/>
            </a:solidFill>
          </a:ln>
        </p:spPr>
      </p:sp>
      <p:sp>
        <p:nvSpPr>
          <p:cNvPr id="16" name="vh-t"/>
          <p:cNvSpPr txBox="1"/>
          <p:nvPr/>
        </p:nvSpPr>
        <p:spPr>
          <a:xfrm>
            <a:off x="6731000" y="4191000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5000"/>
              </a:lnSpc>
            </a:pPr>
            <a:r>
              <a:rPr lang="en-US" sz="950" b="1">
                <a:solidFill>
                  <a:srgbClr val="24405A"/>
                </a:solidFill>
                <a:latin typeface="MiSans"/>
                <a:ea typeface="MiSans"/>
              </a:rPr>
              <a:t>verifier-haiku — auditoria cross-model</a:t>
            </a:r>
            <a:endParaRPr lang="en-US" sz="950"/>
          </a:p>
          <a:p>
            <a:pPr algn="l">
              <a:lnSpc>
                <a:spcPct val="145000"/>
              </a:lnSpc>
              <a:spcBef>
                <a:spcPts val="300"/>
              </a:spcBef>
            </a:pPr>
            <a:r>
              <a:rPr lang="en-US" sz="950">
                <a:solidFill>
                  <a:srgbClr val="454A51"/>
                </a:solidFill>
                <a:latin typeface="MiSans"/>
                <a:ea typeface="MiSans"/>
              </a:rPr>
              <a:t>Mesmo contrato em outro tier de modelo. Amostragem determinística (20%, por hash unit_id+phase). Discordância → verdict: disagree → </a:t>
            </a:r>
            <a:r>
              <a:rPr lang="en-US" sz="950" b="1">
                <a:solidFill>
                  <a:srgbClr val="454A51"/>
                </a:solidFill>
                <a:latin typeface="MiSans"/>
                <a:ea typeface="MiSans"/>
              </a:rPr>
              <a:t>escala Sêneca</a:t>
            </a:r>
            <a:r>
              <a:rPr lang="en-US" sz="950">
                <a:solidFill>
                  <a:srgbClr val="454A51"/>
                </a:solidFill>
                <a:latin typeface="MiSans"/>
                <a:ea typeface="MiSans"/>
              </a:rPr>
              <a:t>: sinal de que a evidência depende da família de modelo.</a:t>
            </a:r>
            <a:endParaRPr lang="en-US" sz="950"/>
          </a:p>
        </p:txBody>
      </p:sp>
      <p:sp>
        <p:nvSpPr>
          <p:cNvPr id="17" name="r-note"/>
          <p:cNvSpPr txBox="1"/>
          <p:nvPr/>
        </p:nvSpPr>
        <p:spPr>
          <a:xfrm>
            <a:off x="6553200" y="5384800"/>
            <a:ext cx="49276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0000"/>
              </a:lnSpc>
            </a:pPr>
            <a:r>
              <a:rPr lang="en-US" sz="900" b="1">
                <a:solidFill>
                  <a:srgbClr val="8B9199"/>
                </a:solidFill>
                <a:latin typeface="MiSans"/>
                <a:ea typeface="MiSans"/>
              </a:rPr>
              <a:t>Distinção sutil:</a:t>
            </a: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 </a:t>
            </a:r>
            <a:r>
              <a:rPr lang="en-US" sz="900" b="1">
                <a:solidFill>
                  <a:srgbClr val="8B9199"/>
                </a:solidFill>
                <a:latin typeface="MiSans"/>
                <a:ea typeface="MiSans"/>
              </a:rPr>
              <a:t>Prometor</a:t>
            </a: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 (verificador do learning gate — avalia evidência do aprendiz, comete em learning_state) ≠ </a:t>
            </a:r>
            <a:r>
              <a:rPr lang="en-US" sz="900" b="1">
                <a:solidFill>
                  <a:srgbClr val="8B9199"/>
                </a:solidFill>
                <a:latin typeface="MiSans"/>
                <a:ea typeface="MiSans"/>
              </a:rPr>
              <a:t>verifier de fase</a:t>
            </a: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 (checa artefato de produtor; nunca escreve estado do aprendiz). Roteamento: opus p/ curator/reviewer/optimizer/verifier; sonnet p/ devs/benchmarker.</a:t>
            </a:r>
            <a:endParaRPr lang="en-US" sz="900"/>
          </a:p>
        </p:txBody>
      </p:sp>
      <p:sp>
        <p:nvSpPr>
          <p:cNvPr id="18" name="footer-lin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E3E6EA"/>
          </a:solidFill>
          <a:ln>
            <a:noFill/>
          </a:ln>
        </p:spPr>
      </p:sp>
      <p:sp>
        <p:nvSpPr>
          <p:cNvPr id="19" name="footer-left"/>
          <p:cNvSpPr txBox="1"/>
          <p:nvPr/>
        </p:nvSpPr>
        <p:spPr>
          <a:xfrm>
            <a:off x="711200" y="6553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35000"/>
              </a:lnSpc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AI DEVSCHOOL — COMO FUNCIONA</a:t>
            </a:r>
            <a:endParaRPr lang="en-US" sz="900"/>
          </a:p>
        </p:txBody>
      </p:sp>
      <p:sp>
        <p:nvSpPr>
          <p:cNvPr id="20" name="footer-page"/>
          <p:cNvSpPr txBox="1"/>
          <p:nvPr/>
        </p:nvSpPr>
        <p:spPr>
          <a:xfrm>
            <a:off x="10414000" y="6553200"/>
            <a:ext cx="106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35000"/>
              </a:lnSpc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15</a:t>
            </a:r>
            <a:endParaRPr lang="en-US" sz="9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 b="1" spc="250" kern="0">
                <a:solidFill>
                  <a:srgbClr val="BC5327"/>
                </a:solidFill>
                <a:latin typeface="MiSans"/>
                <a:ea typeface="MiSans"/>
              </a:rPr>
              <a:t>15 · RUNNER DE CHECKLIST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11200" y="7112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15000"/>
              </a:lnSpc>
            </a:pPr>
            <a:r>
              <a:rPr lang="en-US" sz="2600" b="1">
                <a:solidFill>
                  <a:srgbClr val="1B1E23"/>
                </a:solidFill>
                <a:latin typeface="MiSans"/>
                <a:ea typeface="MiSans"/>
              </a:rPr>
              <a:t>openclaw: o "tracer bullet" simulate-grade das 5 fases</a:t>
            </a:r>
            <a:endParaRPr lang="en-US" sz="2600"/>
          </a:p>
        </p:txBody>
      </p:sp>
      <p:sp>
        <p:nvSpPr>
          <p:cNvPr id="4" name="title-rule"/>
          <p:cNvSpPr/>
          <p:nvPr/>
        </p:nvSpPr>
        <p:spPr>
          <a:xfrm>
            <a:off x="711200" y="1295400"/>
            <a:ext cx="711200" cy="38100"/>
          </a:xfrm>
          <a:prstGeom prst="rect">
            <a:avLst/>
          </a:prstGeom>
          <a:solidFill>
            <a:srgbClr val="BC5327"/>
          </a:solidFill>
          <a:ln>
            <a:noFill/>
          </a:ln>
        </p:spPr>
      </p:sp>
      <p:sp>
        <p:nvSpPr>
          <p:cNvPr id="5" name="l-body"/>
          <p:cNvSpPr txBox="1"/>
          <p:nvPr/>
        </p:nvSpPr>
        <p:spPr>
          <a:xfrm>
            <a:off x="711200" y="1574800"/>
            <a:ext cx="50800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5000"/>
              </a:lnSpc>
            </a:pPr>
            <a:r>
              <a:rPr lang="en-US" sz="1050">
                <a:solidFill>
                  <a:srgbClr val="454A51"/>
                </a:solidFill>
                <a:latin typeface="MiSans"/>
                <a:ea typeface="MiSans"/>
              </a:rPr>
              <a:t>Runner de checklist </a:t>
            </a:r>
            <a:r>
              <a:rPr lang="en-US" sz="1050" b="1">
                <a:solidFill>
                  <a:srgbClr val="454A51"/>
                </a:solidFill>
                <a:latin typeface="MiSans"/>
                <a:ea typeface="MiSans"/>
              </a:rPr>
              <a:t>baseado em arquivos</a:t>
            </a:r>
            <a:r>
              <a:rPr lang="en-US" sz="1050">
                <a:solidFill>
                  <a:srgbClr val="454A51"/>
                </a:solidFill>
                <a:latin typeface="MiSans"/>
                <a:ea typeface="MiSans"/>
              </a:rPr>
              <a:t>: avança </a:t>
            </a:r>
            <a:r>
              <a:rPr lang="en-US" sz="1050">
                <a:solidFill>
                  <a:srgbClr val="96401E"/>
                </a:solidFill>
                <a:latin typeface="MiSans"/>
                <a:ea typeface="MiSans"/>
              </a:rPr>
              <a:t>learner/pipeline_status.yaml</a:t>
            </a:r>
            <a:r>
              <a:rPr lang="en-US" sz="1050">
                <a:solidFill>
                  <a:srgbClr val="454A51"/>
                </a:solidFill>
                <a:latin typeface="MiSans"/>
                <a:ea typeface="MiSans"/>
              </a:rPr>
              <a:t> quando os artefatos exigidos </a:t>
            </a:r>
            <a:r>
              <a:rPr lang="en-US" sz="1050" b="1">
                <a:solidFill>
                  <a:srgbClr val="454A51"/>
                </a:solidFill>
                <a:latin typeface="MiSans"/>
                <a:ea typeface="MiSans"/>
              </a:rPr>
              <a:t>existem e passam pisos mínimos de tamanho</a:t>
            </a:r>
            <a:r>
              <a:rPr lang="en-US" sz="1050">
                <a:solidFill>
                  <a:srgbClr val="454A51"/>
                </a:solidFill>
                <a:latin typeface="MiSans"/>
                <a:ea typeface="MiSans"/>
              </a:rPr>
              <a:t> — nada mais.</a:t>
            </a:r>
            <a:endParaRPr lang="en-US" sz="1050"/>
          </a:p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lang="en-US" sz="1050" b="1">
                <a:solidFill>
                  <a:srgbClr val="454A51"/>
                </a:solidFill>
                <a:latin typeface="MiSans"/>
                <a:ea typeface="MiSans"/>
              </a:rPr>
              <a:t>Sem barramento, sem chamadas de IA, sem daemon, sem autoridade de verificação empírica.</a:t>
            </a:r>
            <a:r>
              <a:rPr lang="en-US" sz="1050">
                <a:solidFill>
                  <a:srgbClr val="454A51"/>
                </a:solidFill>
                <a:latin typeface="MiSans"/>
                <a:ea typeface="MiSans"/>
              </a:rPr>
              <a:t> O vocabulário é fixo: "checklist runner", não "verifier/CI pipeline". </a:t>
            </a:r>
            <a:r>
              <a:rPr lang="en-US" sz="1050" b="1">
                <a:solidFill>
                  <a:srgbClr val="454A51"/>
                </a:solidFill>
                <a:latin typeface="MiSans"/>
                <a:ea typeface="MiSans"/>
              </a:rPr>
              <a:t>Simulate grade prova existência — nunca correção ou maestria.</a:t>
            </a:r>
            <a:endParaRPr lang="en-US" sz="1050"/>
          </a:p>
        </p:txBody>
      </p:sp>
      <p:sp>
        <p:nvSpPr>
          <p:cNvPr id="6" name="arch-panel"/>
          <p:cNvSpPr/>
          <p:nvPr/>
        </p:nvSpPr>
        <p:spPr>
          <a:xfrm>
            <a:off x="711200" y="3200400"/>
            <a:ext cx="5080000" cy="1219200"/>
          </a:xfrm>
          <a:prstGeom prst="rect">
            <a:avLst/>
          </a:prstGeom>
          <a:solidFill>
            <a:srgbClr val="1B1E23"/>
          </a:solidFill>
          <a:ln>
            <a:noFill/>
          </a:ln>
        </p:spPr>
      </p:sp>
      <p:sp>
        <p:nvSpPr>
          <p:cNvPr id="7" name="arch"/>
          <p:cNvSpPr txBox="1"/>
          <p:nvPr/>
        </p:nvSpPr>
        <p:spPr>
          <a:xfrm>
            <a:off x="889000" y="3327400"/>
            <a:ext cx="4724400" cy="990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55000"/>
              </a:lnSpc>
            </a:pPr>
            <a:r>
              <a:rPr lang="en-US" sz="950">
                <a:solidFill>
                  <a:srgbClr val="F2B794"/>
                </a:solidFill>
                <a:latin typeface="MiSans"/>
                <a:ea typeface="MiSans"/>
              </a:rPr>
              <a:t>$</a:t>
            </a:r>
            <a:r>
              <a:rPr lang="en-US" sz="950">
                <a:solidFill>
                  <a:srgbClr val="D8DDE3"/>
                </a:solidFill>
                <a:latin typeface="MiSans"/>
                <a:ea typeface="MiSans"/>
              </a:rPr>
              <a:t> python3 -m engines.openclaw --phase spec \</a:t>
            </a:r>
            <a:endParaRPr lang="en-US" sz="950"/>
          </a:p>
          <a:p>
            <a:pPr algn="l">
              <a:lnSpc>
                <a:spcPct val="155000"/>
              </a:lnSpc>
            </a:pPr>
            <a:r>
              <a:rPr lang="en-US" sz="950">
                <a:solidFill>
                  <a:srgbClr val="D8DDE3"/>
                </a:solidFill>
                <a:latin typeface="MiSans"/>
                <a:ea typeface="MiSans"/>
              </a:rPr>
              <a:t>    --project curriculum/01_rate_limiter --mode simulate</a:t>
            </a:r>
            <a:endParaRPr lang="en-US" sz="950"/>
          </a:p>
          <a:p>
            <a:pPr algn="l">
              <a:lnSpc>
                <a:spcPct val="155000"/>
              </a:lnSpc>
              <a:spcBef>
                <a:spcPts val="600"/>
              </a:spcBef>
            </a:pPr>
            <a:r>
              <a:rPr lang="en-US" sz="950">
                <a:solidFill>
                  <a:srgbClr val="8B9199"/>
                </a:solidFill>
                <a:latin typeface="MiSans"/>
                <a:ea typeface="MiSans"/>
              </a:rPr>
              <a:t>CLI (__main__.py) → scheduler.step()/run() → checklist por fase → pipeline_status (YAML autoridade; MD nunca sobrescrito)</a:t>
            </a:r>
            <a:endParaRPr lang="en-US" sz="950"/>
          </a:p>
        </p:txBody>
      </p:sp>
      <p:sp>
        <p:nvSpPr>
          <p:cNvPr id="8" name="l-note"/>
          <p:cNvSpPr txBox="1"/>
          <p:nvPr/>
        </p:nvSpPr>
        <p:spPr>
          <a:xfrm>
            <a:off x="711200" y="4597400"/>
            <a:ext cx="5080000" cy="160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5000"/>
              </a:lnSpc>
            </a:pPr>
            <a:r>
              <a:rPr lang="en-US" sz="1000" b="1">
                <a:solidFill>
                  <a:srgbClr val="454A51"/>
                </a:solidFill>
                <a:latin typeface="MiSans"/>
                <a:ea typeface="MiSans"/>
              </a:rPr>
              <a:t>Divisão de papel no ecossistema:</a:t>
            </a:r>
            <a:r>
              <a:rPr lang="en-US" sz="1000">
                <a:solidFill>
                  <a:srgbClr val="454A51"/>
                </a:solidFill>
                <a:latin typeface="MiSans"/>
                <a:ea typeface="MiSans"/>
              </a:rPr>
              <a:t> o ciclo interativo poliglota pertence ao miniMaxEvolutionEngine; a maestria empírica pertence ao verificador (learner.gate) + substrate. O openclaw existe para provar que o pipeline de ponta a ponta </a:t>
            </a:r>
            <a:r>
              <a:rPr lang="en-US" sz="1000" b="1">
                <a:solidFill>
                  <a:srgbClr val="454A51"/>
                </a:solidFill>
                <a:latin typeface="MiSans"/>
                <a:ea typeface="MiSans"/>
              </a:rPr>
              <a:t>flui</a:t>
            </a:r>
            <a:r>
              <a:rPr lang="en-US" sz="1000">
                <a:solidFill>
                  <a:srgbClr val="454A51"/>
                </a:solidFill>
                <a:latin typeface="MiSans"/>
                <a:ea typeface="MiSans"/>
              </a:rPr>
              <a:t> — com escrita transacional: qualquer exceção restaura os dois arquivos aos bytes anteriores.</a:t>
            </a:r>
            <a:endParaRPr lang="en-US" sz="1000"/>
          </a:p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lang="en-US" sz="1000">
                <a:solidFill>
                  <a:srgbClr val="8B9199"/>
                </a:solidFill>
                <a:latin typeface="MiSans"/>
                <a:ea typeface="MiSans"/>
              </a:rPr>
              <a:t>Cobertura de testes: ciclo end-to-end em tmp_path, rollback nos dois sentidos, anti-traversal de path, gate bloqueado, --preview não altera bytes.</a:t>
            </a:r>
            <a:endParaRPr lang="en-US" sz="1000"/>
          </a:p>
        </p:txBody>
      </p:sp>
      <p:sp>
        <p:nvSpPr>
          <p:cNvPr id="9" name="tbl-head"/>
          <p:cNvSpPr txBox="1"/>
          <p:nvPr/>
        </p:nvSpPr>
        <p:spPr>
          <a:xfrm>
            <a:off x="6299200" y="1574800"/>
            <a:ext cx="5181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000" b="1" spc="120" kern="0">
                <a:solidFill>
                  <a:srgbClr val="1B1E23"/>
                </a:solidFill>
                <a:latin typeface="MiSans"/>
                <a:ea typeface="MiSans"/>
              </a:rPr>
              <a:t>O CHECKLIST POR FASE</a:t>
            </a:r>
            <a:endParaRPr lang="en-US" sz="1000"/>
          </a:p>
        </p:txBody>
      </p:sp>
      <p:graphicFrame>
        <p:nvGraphicFramePr>
          <p:cNvPr id="10" name="tbl"/>
          <p:cNvGraphicFramePr>
            <a:graphicFrameLocks noGrp="1"/>
          </p:cNvGraphicFramePr>
          <p:nvPr/>
        </p:nvGraphicFramePr>
        <p:xfrm>
          <a:off x="6299200" y="1854200"/>
          <a:ext cx="5181600" cy="2260600"/>
        </p:xfrm>
        <a:graphic>
          <a:graphicData uri="http://schemas.openxmlformats.org/drawingml/2006/table">
            <a:tbl>
              <a:tblPr/>
              <a:tblGrid>
                <a:gridCol w="1139952"/>
                <a:gridCol w="2694432"/>
                <a:gridCol w="1347216"/>
              </a:tblGrid>
              <a:tr h="384302"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900" b="1">
                          <a:solidFill>
                            <a:srgbClr val="1B1E23"/>
                          </a:solidFill>
                          <a:latin typeface="Times New Roman"/>
                          <a:ea typeface="Times New Roman"/>
                        </a:rPr>
                        <a:t>Fase</a:t>
                      </a:r>
                      <a:endParaRPr lang="en-US" sz="90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900" b="1">
                          <a:solidFill>
                            <a:srgbClr val="1B1E23"/>
                          </a:solidFill>
                          <a:latin typeface="Times New Roman"/>
                          <a:ea typeface="Times New Roman"/>
                        </a:rPr>
                        <a:t>Artefato exigido</a:t>
                      </a:r>
                      <a:endParaRPr lang="en-US" sz="90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900" b="1">
                          <a:solidFill>
                            <a:srgbClr val="1B1E23"/>
                          </a:solidFill>
                          <a:latin typeface="Times New Roman"/>
                          <a:ea typeface="Times New Roman"/>
                        </a:rPr>
                        <a:t>Piso mínimo</a:t>
                      </a:r>
                      <a:endParaRPr lang="en-US" sz="90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solidFill>
                      <a:srgbClr val="F7F5F0"/>
                    </a:solidFill>
                  </a:tcPr>
                </a:tc>
              </a:tr>
              <a:tr h="375260"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900">
                          <a:solidFill>
                            <a:srgbClr val="454A51"/>
                          </a:solidFill>
                          <a:latin typeface="Times New Roman"/>
                          <a:ea typeface="Times New Roman"/>
                        </a:rPr>
                        <a:t>spec</a:t>
                      </a:r>
                      <a:endParaRPr lang="en-US" sz="90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900">
                          <a:solidFill>
                            <a:srgbClr val="454A51"/>
                          </a:solidFill>
                          <a:latin typeface="Times New Roman"/>
                          <a:ea typeface="Times New Roman"/>
                        </a:rPr>
                        <a:t>docs/spec.md</a:t>
                      </a:r>
                      <a:endParaRPr lang="en-US" sz="90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900">
                          <a:solidFill>
                            <a:srgbClr val="454A51"/>
                          </a:solidFill>
                          <a:latin typeface="Times New Roman"/>
                          <a:ea typeface="Times New Roman"/>
                        </a:rPr>
                        <a:t>≥ 100 bytes</a:t>
                      </a:r>
                      <a:endParaRPr lang="en-US" sz="90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noFill/>
                  </a:tcPr>
                </a:tc>
              </a:tr>
              <a:tr h="375260"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900">
                          <a:solidFill>
                            <a:srgbClr val="454A51"/>
                          </a:solidFill>
                          <a:latin typeface="Times New Roman"/>
                          <a:ea typeface="Times New Roman"/>
                        </a:rPr>
                        <a:t>impl</a:t>
                      </a:r>
                      <a:endParaRPr lang="en-US" sz="90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900">
                          <a:solidFill>
                            <a:srgbClr val="454A51"/>
                          </a:solidFill>
                          <a:latin typeface="Times New Roman"/>
                          <a:ea typeface="Times New Roman"/>
                        </a:rPr>
                        <a:t>go-impl/ + rust-impl/ + node-impl/</a:t>
                      </a:r>
                      <a:endParaRPr lang="en-US" sz="90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900">
                          <a:solidFill>
                            <a:srgbClr val="454A51"/>
                          </a:solidFill>
                          <a:latin typeface="Times New Roman"/>
                          <a:ea typeface="Times New Roman"/>
                        </a:rPr>
                        <a:t>dirs não-vazios</a:t>
                      </a:r>
                      <a:endParaRPr lang="en-US" sz="90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noFill/>
                  </a:tcPr>
                </a:tc>
              </a:tr>
              <a:tr h="375260"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900">
                          <a:solidFill>
                            <a:srgbClr val="454A51"/>
                          </a:solidFill>
                          <a:latin typeface="Times New Roman"/>
                          <a:ea typeface="Times New Roman"/>
                        </a:rPr>
                        <a:t>review</a:t>
                      </a:r>
                      <a:endParaRPr lang="en-US" sz="90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900">
                          <a:solidFill>
                            <a:srgbClr val="454A51"/>
                          </a:solidFill>
                          <a:latin typeface="Times New Roman"/>
                          <a:ea typeface="Times New Roman"/>
                        </a:rPr>
                        <a:t>docs/code_review.md</a:t>
                      </a:r>
                      <a:endParaRPr lang="en-US" sz="90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900">
                          <a:solidFill>
                            <a:srgbClr val="454A51"/>
                          </a:solidFill>
                          <a:latin typeface="Times New Roman"/>
                          <a:ea typeface="Times New Roman"/>
                        </a:rPr>
                        <a:t>≥ 100 bytes</a:t>
                      </a:r>
                      <a:endParaRPr lang="en-US" sz="90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noFill/>
                  </a:tcPr>
                </a:tc>
              </a:tr>
              <a:tr h="375260"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900">
                          <a:solidFill>
                            <a:srgbClr val="454A51"/>
                          </a:solidFill>
                          <a:latin typeface="Times New Roman"/>
                          <a:ea typeface="Times New Roman"/>
                        </a:rPr>
                        <a:t>benchmark</a:t>
                      </a:r>
                      <a:endParaRPr lang="en-US" sz="90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900">
                          <a:solidFill>
                            <a:srgbClr val="454A51"/>
                          </a:solidFill>
                          <a:latin typeface="Times New Roman"/>
                          <a:ea typeface="Times New Roman"/>
                        </a:rPr>
                        <a:t>docs/benchmark_results.md</a:t>
                      </a:r>
                      <a:endParaRPr lang="en-US" sz="90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900">
                          <a:solidFill>
                            <a:srgbClr val="454A51"/>
                          </a:solidFill>
                          <a:latin typeface="Times New Roman"/>
                          <a:ea typeface="Times New Roman"/>
                        </a:rPr>
                        <a:t>≥ 50 bytes</a:t>
                      </a:r>
                      <a:endParaRPr lang="en-US" sz="90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noFill/>
                  </a:tcPr>
                </a:tc>
              </a:tr>
              <a:tr h="375260"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900">
                          <a:solidFill>
                            <a:srgbClr val="454A51"/>
                          </a:solidFill>
                          <a:latin typeface="Times New Roman"/>
                          <a:ea typeface="Times New Roman"/>
                        </a:rPr>
                        <a:t>optimize</a:t>
                      </a:r>
                      <a:endParaRPr lang="en-US" sz="90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900">
                          <a:solidFill>
                            <a:srgbClr val="454A51"/>
                          </a:solidFill>
                          <a:latin typeface="Times New Roman"/>
                          <a:ea typeface="Times New Roman"/>
                        </a:rPr>
                        <a:t>docs/evolution_report.md</a:t>
                      </a:r>
                      <a:endParaRPr lang="en-US" sz="90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900">
                          <a:solidFill>
                            <a:srgbClr val="454A51"/>
                          </a:solidFill>
                          <a:latin typeface="Times New Roman"/>
                          <a:ea typeface="Times New Roman"/>
                        </a:rPr>
                        <a:t>≥ 100 bytes</a:t>
                      </a:r>
                      <a:endParaRPr lang="en-US" sz="90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halt-head"/>
          <p:cNvSpPr txBox="1"/>
          <p:nvPr/>
        </p:nvSpPr>
        <p:spPr>
          <a:xfrm>
            <a:off x="6299200" y="4318000"/>
            <a:ext cx="5181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000" b="1" spc="120" kern="0">
                <a:solidFill>
                  <a:srgbClr val="1B1E23"/>
                </a:solidFill>
                <a:latin typeface="MiSans"/>
                <a:ea typeface="MiSans"/>
              </a:rPr>
              <a:t>QUANDO ELE PARA (HALT)</a:t>
            </a:r>
            <a:endParaRPr lang="en-US" sz="1000"/>
          </a:p>
        </p:txBody>
      </p:sp>
      <p:sp>
        <p:nvSpPr>
          <p:cNvPr id="12" name="halt-body"/>
          <p:cNvSpPr txBox="1"/>
          <p:nvPr/>
        </p:nvSpPr>
        <p:spPr>
          <a:xfrm>
            <a:off x="6299200" y="4597400"/>
            <a:ext cx="5181600" cy="160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5000"/>
              </a:lnSpc>
            </a:pPr>
            <a:r>
              <a:rPr lang="en-US" sz="1000">
                <a:solidFill>
                  <a:srgbClr val="454A51"/>
                </a:solidFill>
                <a:latin typeface="MiSans"/>
                <a:ea typeface="MiSans"/>
              </a:rPr>
              <a:t>· </a:t>
            </a:r>
            <a:r>
              <a:rPr lang="en-US" sz="1000" b="1">
                <a:solidFill>
                  <a:srgbClr val="454A51"/>
                </a:solidFill>
                <a:latin typeface="MiSans"/>
                <a:ea typeface="MiSans"/>
              </a:rPr>
              <a:t>cycle-complete</a:t>
            </a:r>
            <a:r>
              <a:rPr lang="en-US" sz="1000">
                <a:solidFill>
                  <a:srgbClr val="454A51"/>
                </a:solidFill>
                <a:latin typeface="MiSans"/>
                <a:ea typeface="MiSans"/>
              </a:rPr>
              <a:t> — ciclo encerrado, aguardando próximo curator;</a:t>
            </a:r>
            <a:endParaRPr lang="en-US" sz="1000"/>
          </a:p>
          <a:p>
            <a:pPr algn="l">
              <a:lnSpc>
                <a:spcPct val="145000"/>
              </a:lnSpc>
              <a:spcBef>
                <a:spcPts val="500"/>
              </a:spcBef>
            </a:pPr>
            <a:r>
              <a:rPr lang="en-US" sz="1000">
                <a:solidFill>
                  <a:srgbClr val="454A51"/>
                </a:solidFill>
                <a:latin typeface="MiSans"/>
                <a:ea typeface="MiSans"/>
              </a:rPr>
              <a:t>· </a:t>
            </a:r>
            <a:r>
              <a:rPr lang="en-US" sz="1000" b="1">
                <a:solidFill>
                  <a:srgbClr val="454A51"/>
                </a:solidFill>
                <a:latin typeface="MiSans"/>
                <a:ea typeface="MiSans"/>
              </a:rPr>
              <a:t>blockers</a:t>
            </a:r>
            <a:r>
              <a:rPr lang="en-US" sz="1000">
                <a:solidFill>
                  <a:srgbClr val="454A51"/>
                </a:solidFill>
                <a:latin typeface="MiSans"/>
                <a:ea typeface="MiSans"/>
              </a:rPr>
              <a:t> presentes no pipeline_status.yaml;</a:t>
            </a:r>
            <a:endParaRPr lang="en-US" sz="1000"/>
          </a:p>
          <a:p>
            <a:pPr algn="l">
              <a:lnSpc>
                <a:spcPct val="145000"/>
              </a:lnSpc>
              <a:spcBef>
                <a:spcPts val="500"/>
              </a:spcBef>
            </a:pPr>
            <a:r>
              <a:rPr lang="en-US" sz="1000">
                <a:solidFill>
                  <a:srgbClr val="454A51"/>
                </a:solidFill>
                <a:latin typeface="MiSans"/>
                <a:ea typeface="MiSans"/>
              </a:rPr>
              <a:t>· </a:t>
            </a:r>
            <a:r>
              <a:rPr lang="en-US" sz="1000" b="1">
                <a:solidFill>
                  <a:srgbClr val="454A51"/>
                </a:solidFill>
                <a:latin typeface="MiSans"/>
                <a:ea typeface="MiSans"/>
              </a:rPr>
              <a:t>learning gate bloqueado</a:t>
            </a:r>
            <a:r>
              <a:rPr lang="en-US" sz="1000">
                <a:solidFill>
                  <a:srgbClr val="454A51"/>
                </a:solidFill>
                <a:latin typeface="MiSans"/>
                <a:ea typeface="MiSans"/>
              </a:rPr>
              <a:t> — lê learning_state.yaml e para com a mensagem "run /devschool-diagnose or wait for learner attempt";</a:t>
            </a:r>
            <a:endParaRPr lang="en-US" sz="1000"/>
          </a:p>
          <a:p>
            <a:pPr algn="l">
              <a:lnSpc>
                <a:spcPct val="145000"/>
              </a:lnSpc>
              <a:spcBef>
                <a:spcPts val="500"/>
              </a:spcBef>
            </a:pPr>
            <a:r>
              <a:rPr lang="en-US" sz="1000">
                <a:solidFill>
                  <a:srgbClr val="454A51"/>
                </a:solidFill>
                <a:latin typeface="MiSans"/>
                <a:ea typeface="MiSans"/>
              </a:rPr>
              <a:t>· path traversal ou estado corrompido → StateCorruptionError (exit 2).</a:t>
            </a:r>
            <a:endParaRPr lang="en-US" sz="1000"/>
          </a:p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lang="en-US" sz="1000">
                <a:solidFill>
                  <a:srgbClr val="8B9199"/>
                </a:solidFill>
                <a:latin typeface="MiSans"/>
                <a:ea typeface="MiSans"/>
              </a:rPr>
              <a:t>--preview: recibo read-only com fonte YAML, gate e próximo checklist — sem escrever nada.</a:t>
            </a:r>
            <a:endParaRPr lang="en-US" sz="1000"/>
          </a:p>
        </p:txBody>
      </p:sp>
      <p:sp>
        <p:nvSpPr>
          <p:cNvPr id="13" name="footer-lin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E3E6EA"/>
          </a:solidFill>
          <a:ln>
            <a:noFill/>
          </a:ln>
        </p:spPr>
      </p:sp>
      <p:sp>
        <p:nvSpPr>
          <p:cNvPr id="14" name="footer-left"/>
          <p:cNvSpPr txBox="1"/>
          <p:nvPr/>
        </p:nvSpPr>
        <p:spPr>
          <a:xfrm>
            <a:off x="711200" y="6553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35000"/>
              </a:lnSpc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AI DEVSCHOOL — COMO FUNCIONA</a:t>
            </a:r>
            <a:endParaRPr lang="en-US" sz="900"/>
          </a:p>
        </p:txBody>
      </p:sp>
      <p:sp>
        <p:nvSpPr>
          <p:cNvPr id="15" name="footer-page"/>
          <p:cNvSpPr txBox="1"/>
          <p:nvPr/>
        </p:nvSpPr>
        <p:spPr>
          <a:xfrm>
            <a:off x="10414000" y="6553200"/>
            <a:ext cx="106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35000"/>
              </a:lnSpc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16</a:t>
            </a:r>
            <a:endParaRPr lang="en-US" sz="9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 b="1" spc="250" kern="0">
                <a:solidFill>
                  <a:srgbClr val="BC5327"/>
                </a:solidFill>
                <a:latin typeface="MiSans"/>
                <a:ea typeface="MiSans"/>
              </a:rPr>
              <a:t>16 · CONTRATO DE JOGOS DE ENSINO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11200" y="7112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15000"/>
              </a:lnSpc>
            </a:pPr>
            <a:r>
              <a:rPr lang="en-US" sz="2600" b="1">
                <a:solidFill>
                  <a:srgbClr val="1B1E23"/>
                </a:solidFill>
                <a:latin typeface="MiSans"/>
                <a:ea typeface="MiSans"/>
              </a:rPr>
              <a:t>O jogo é uma superfície de tentativa — nada mais</a:t>
            </a:r>
            <a:endParaRPr lang="en-US" sz="2600"/>
          </a:p>
        </p:txBody>
      </p:sp>
      <p:sp>
        <p:nvSpPr>
          <p:cNvPr id="4" name="title-rule"/>
          <p:cNvSpPr/>
          <p:nvPr/>
        </p:nvSpPr>
        <p:spPr>
          <a:xfrm>
            <a:off x="711200" y="1295400"/>
            <a:ext cx="711200" cy="38100"/>
          </a:xfrm>
          <a:prstGeom prst="rect">
            <a:avLst/>
          </a:prstGeom>
          <a:solidFill>
            <a:srgbClr val="BC5327"/>
          </a:solidFill>
          <a:ln>
            <a:noFill/>
          </a:ln>
        </p:spPr>
      </p:sp>
      <p:sp>
        <p:nvSpPr>
          <p:cNvPr id="5" name="rules"/>
          <p:cNvSpPr txBox="1"/>
          <p:nvPr/>
        </p:nvSpPr>
        <p:spPr>
          <a:xfrm>
            <a:off x="711200" y="1574800"/>
            <a:ext cx="5537200" cy="457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5000"/>
              </a:lnSpc>
            </a:pPr>
            <a:r>
              <a:rPr lang="en-US" sz="1000" b="1">
                <a:solidFill>
                  <a:srgbClr val="454A51"/>
                </a:solidFill>
                <a:latin typeface="MiSans"/>
                <a:ea typeface="MiSans"/>
              </a:rPr>
              <a:t>1 · Um jogo = um conceito.</a:t>
            </a:r>
            <a:r>
              <a:rPr lang="en-US" sz="1000">
                <a:solidFill>
                  <a:srgbClr val="454A51"/>
                </a:solidFill>
                <a:latin typeface="MiSans"/>
                <a:ea typeface="MiSans"/>
              </a:rPr>
              <a:t> Ids são lidos de catalog.md / learning_state.yaml — nunca inventados.</a:t>
            </a:r>
            <a:endParaRPr lang="en-US" sz="1000"/>
          </a:p>
          <a:p>
            <a:pPr algn="l">
              <a:lnSpc>
                <a:spcPct val="145000"/>
              </a:lnSpc>
              <a:spcBef>
                <a:spcPts val="700"/>
              </a:spcBef>
            </a:pPr>
            <a:r>
              <a:rPr lang="en-US" sz="1000" b="1">
                <a:solidFill>
                  <a:srgbClr val="454A51"/>
                </a:solidFill>
                <a:latin typeface="MiSans"/>
                <a:ea typeface="MiSans"/>
              </a:rPr>
              <a:t>2 · Apenas attempt surface.</a:t>
            </a:r>
            <a:r>
              <a:rPr lang="en-US" sz="1000">
                <a:solidFill>
                  <a:srgbClr val="454A51"/>
                </a:solidFill>
                <a:latin typeface="MiSans"/>
                <a:ea typeface="MiSans"/>
              </a:rPr>
              <a:t> Nunca escreve </a:t>
            </a:r>
            <a:r>
              <a:rPr lang="en-US" sz="1000">
                <a:solidFill>
                  <a:srgbClr val="96401E"/>
                </a:solidFill>
                <a:latin typeface="MiSans"/>
                <a:ea typeface="MiSans"/>
              </a:rPr>
              <a:t>mastered</a:t>
            </a:r>
            <a:r>
              <a:rPr lang="en-US" sz="1000">
                <a:solidFill>
                  <a:srgbClr val="454A51"/>
                </a:solidFill>
                <a:latin typeface="MiSans"/>
                <a:ea typeface="MiSans"/>
              </a:rPr>
              <a:t>, nunca anexa ao units_log, nunca edita learner/.</a:t>
            </a:r>
            <a:endParaRPr lang="en-US" sz="1000"/>
          </a:p>
          <a:p>
            <a:pPr algn="l">
              <a:lnSpc>
                <a:spcPct val="145000"/>
              </a:lnSpc>
              <a:spcBef>
                <a:spcPts val="700"/>
              </a:spcBef>
            </a:pPr>
            <a:r>
              <a:rPr lang="en-US" sz="1000" b="1">
                <a:solidFill>
                  <a:srgbClr val="454A51"/>
                </a:solidFill>
                <a:latin typeface="MiSans"/>
                <a:ea typeface="MiSans"/>
              </a:rPr>
              <a:t>3 · Evidência bruta, em dobro.</a:t>
            </a:r>
            <a:r>
              <a:rPr lang="en-US" sz="1000">
                <a:solidFill>
                  <a:srgbClr val="454A51"/>
                </a:solidFill>
                <a:latin typeface="MiSans"/>
                <a:ea typeface="MiSans"/>
              </a:rPr>
              <a:t> Um registro JSON por onda → global do browser </a:t>
            </a:r>
            <a:r>
              <a:rPr lang="en-US" sz="1000" b="1">
                <a:solidFill>
                  <a:srgbClr val="454A51"/>
                </a:solidFill>
                <a:latin typeface="MiSans"/>
                <a:ea typeface="MiSans"/>
              </a:rPr>
              <a:t>e</a:t>
            </a:r>
            <a:r>
              <a:rPr lang="en-US" sz="1000">
                <a:solidFill>
                  <a:srgbClr val="454A51"/>
                </a:solidFill>
                <a:latin typeface="MiSans"/>
                <a:ea typeface="MiSans"/>
              </a:rPr>
              <a:t> console "EVIDENCE &lt;json&gt;". Registros append-only e imutáveis; localStorage nunca é evidência.</a:t>
            </a:r>
            <a:endParaRPr lang="en-US" sz="1000"/>
          </a:p>
          <a:p>
            <a:pPr algn="l">
              <a:lnSpc>
                <a:spcPct val="145000"/>
              </a:lnSpc>
              <a:spcBef>
                <a:spcPts val="700"/>
              </a:spcBef>
            </a:pPr>
            <a:r>
              <a:rPr lang="en-US" sz="1000" b="1">
                <a:solidFill>
                  <a:srgbClr val="454A51"/>
                </a:solidFill>
                <a:latin typeface="MiSans"/>
                <a:ea typeface="MiSans"/>
              </a:rPr>
              <a:t>4 · Agendamento flui num sentido:</a:t>
            </a:r>
            <a:r>
              <a:rPr lang="en-US" sz="1000">
                <a:solidFill>
                  <a:srgbClr val="454A51"/>
                </a:solidFill>
                <a:latin typeface="MiSans"/>
                <a:ea typeface="MiSans"/>
              </a:rPr>
              <a:t> substrate → jogo. O review slice é read-only; o jogo só renderiza, nunca computa scheduling.</a:t>
            </a:r>
            <a:endParaRPr lang="en-US" sz="1000"/>
          </a:p>
          <a:p>
            <a:pPr algn="l">
              <a:lnSpc>
                <a:spcPct val="145000"/>
              </a:lnSpc>
              <a:spcBef>
                <a:spcPts val="700"/>
              </a:spcBef>
            </a:pPr>
            <a:r>
              <a:rPr lang="en-US" sz="1000" b="1">
                <a:solidFill>
                  <a:srgbClr val="454A51"/>
                </a:solidFill>
                <a:latin typeface="MiSans"/>
                <a:ea typeface="MiSans"/>
              </a:rPr>
              <a:t>5 · Conteúdo é dado, mecânica é código.</a:t>
            </a:r>
            <a:r>
              <a:rPr lang="en-US" sz="1000">
                <a:solidFill>
                  <a:srgbClr val="454A51"/>
                </a:solidFill>
                <a:latin typeface="MiSans"/>
                <a:ea typeface="MiSans"/>
              </a:rPr>
              <a:t> Packs tipados e validados; mecânica nova exige tipo + validador + registry aprovado.</a:t>
            </a:r>
            <a:endParaRPr lang="en-US" sz="1000"/>
          </a:p>
          <a:p>
            <a:pPr algn="l">
              <a:lnSpc>
                <a:spcPct val="145000"/>
              </a:lnSpc>
              <a:spcBef>
                <a:spcPts val="700"/>
              </a:spcBef>
            </a:pPr>
            <a:r>
              <a:rPr lang="en-US" sz="1000" b="1">
                <a:solidFill>
                  <a:srgbClr val="454A51"/>
                </a:solidFill>
                <a:latin typeface="MiSans"/>
                <a:ea typeface="MiSans"/>
              </a:rPr>
              <a:t>6 · Sem claim sem playthrough.</a:t>
            </a:r>
            <a:r>
              <a:rPr lang="en-US" sz="1000">
                <a:solidFill>
                  <a:srgbClr val="454A51"/>
                </a:solidFill>
                <a:latin typeface="MiSans"/>
                <a:ea typeface="MiSans"/>
              </a:rPr>
              <a:t> Vitest prova a matemática do conceito no core headless; Playwright joga e emite a evidência.</a:t>
            </a:r>
            <a:endParaRPr lang="en-US" sz="1000"/>
          </a:p>
          <a:p>
            <a:pPr algn="l">
              <a:lnSpc>
                <a:spcPct val="145000"/>
              </a:lnSpc>
              <a:spcBef>
                <a:spcPts val="700"/>
              </a:spcBef>
            </a:pPr>
            <a:r>
              <a:rPr lang="en-US" sz="1000" b="1">
                <a:solidFill>
                  <a:srgbClr val="454A51"/>
                </a:solidFill>
                <a:latin typeface="MiSans"/>
                <a:ea typeface="MiSans"/>
              </a:rPr>
              <a:t>7 · Substrato fica na raiz.</a:t>
            </a:r>
            <a:r>
              <a:rPr lang="en-US" sz="1000">
                <a:solidFill>
                  <a:srgbClr val="454A51"/>
                </a:solidFill>
                <a:latin typeface="MiSans"/>
                <a:ea typeface="MiSans"/>
              </a:rPr>
              <a:t> curriculum/ e learner/ por paths relativos — nunca copiados para dentro de um engine.</a:t>
            </a:r>
            <a:endParaRPr lang="en-US" sz="1000"/>
          </a:p>
          <a:p>
            <a:pPr algn="l">
              <a:lnSpc>
                <a:spcPct val="145000"/>
              </a:lnSpc>
              <a:spcBef>
                <a:spcPts val="700"/>
              </a:spcBef>
            </a:pPr>
            <a:r>
              <a:rPr lang="en-US" sz="1000" b="1">
                <a:solidFill>
                  <a:srgbClr val="454A51"/>
                </a:solidFill>
                <a:latin typeface="MiSans"/>
                <a:ea typeface="MiSans"/>
              </a:rPr>
              <a:t>8 · Single-player, sem backend.</a:t>
            </a:r>
            <a:r>
              <a:rPr lang="en-US" sz="1000">
                <a:solidFill>
                  <a:srgbClr val="454A51"/>
                </a:solidFill>
                <a:latin typeface="MiSans"/>
                <a:ea typeface="MiSans"/>
              </a:rPr>
              <a:t> Sem banco, netcode ou servidor.</a:t>
            </a:r>
            <a:endParaRPr lang="en-US" sz="1000"/>
          </a:p>
          <a:p>
            <a:pPr algn="l">
              <a:lnSpc>
                <a:spcPct val="145000"/>
              </a:lnSpc>
              <a:spcBef>
                <a:spcPts val="1000"/>
              </a:spcBef>
            </a:pPr>
            <a:r>
              <a:rPr lang="en-US" sz="1000">
                <a:solidFill>
                  <a:srgbClr val="8B9199"/>
                </a:solidFill>
                <a:latin typeface="MiSans"/>
                <a:ea typeface="MiSans"/>
              </a:rPr>
              <a:t>docs/design/teaching-game-contract.md — em conflito com docs de engine, este arquivo vence.</a:t>
            </a:r>
            <a:endParaRPr lang="en-US" sz="1000"/>
          </a:p>
        </p:txBody>
      </p:sp>
      <p:sp>
        <p:nvSpPr>
          <p:cNvPr id="6" name="env-panel"/>
          <p:cNvSpPr/>
          <p:nvPr/>
        </p:nvSpPr>
        <p:spPr>
          <a:xfrm>
            <a:off x="6807200" y="1574800"/>
            <a:ext cx="4673600" cy="2413000"/>
          </a:xfrm>
          <a:prstGeom prst="rect">
            <a:avLst/>
          </a:prstGeom>
          <a:solidFill>
            <a:srgbClr val="1B1E23"/>
          </a:solidFill>
          <a:ln>
            <a:noFill/>
          </a:ln>
        </p:spPr>
      </p:sp>
      <p:sp>
        <p:nvSpPr>
          <p:cNvPr id="7" name="env-head"/>
          <p:cNvSpPr txBox="1"/>
          <p:nvPr/>
        </p:nvSpPr>
        <p:spPr>
          <a:xfrm>
            <a:off x="6985000" y="1701800"/>
            <a:ext cx="431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850" spc="150" kern="0">
                <a:solidFill>
                  <a:srgbClr val="8B9199"/>
                </a:solidFill>
                <a:latin typeface="MiSans"/>
                <a:ea typeface="MiSans"/>
              </a:rPr>
              <a:t>ENVELOPE DE EVIDÊNCIA (um registro por onda)</a:t>
            </a:r>
            <a:endParaRPr lang="en-US" sz="850"/>
          </a:p>
        </p:txBody>
      </p:sp>
      <p:sp>
        <p:nvSpPr>
          <p:cNvPr id="8" name="env"/>
          <p:cNvSpPr txBox="1"/>
          <p:nvPr/>
        </p:nvSpPr>
        <p:spPr>
          <a:xfrm>
            <a:off x="6985000" y="1930400"/>
            <a:ext cx="4343400" cy="195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50000"/>
              </a:lnSpc>
            </a:pPr>
            <a:r>
              <a:rPr lang="en-US" sz="900">
                <a:solidFill>
                  <a:srgbClr val="D8DDE3"/>
                </a:solidFill>
                <a:latin typeface="MiSans"/>
                <a:ea typeface="MiSans"/>
              </a:rPr>
              <a:t>{ source: </a:t>
            </a:r>
            <a:r>
              <a:rPr lang="en-US" sz="900">
                <a:solidFill>
                  <a:srgbClr val="F2B794"/>
                </a:solidFill>
                <a:latin typeface="MiSans"/>
                <a:ea typeface="MiSans"/>
              </a:rPr>
              <a:t>"pixelquest" | "voxeldojo"</a:t>
            </a:r>
            <a:r>
              <a:rPr lang="en-US" sz="900">
                <a:solidFill>
                  <a:srgbClr val="D8DDE3"/>
                </a:solidFill>
                <a:latin typeface="MiSans"/>
                <a:ea typeface="MiSans"/>
              </a:rPr>
              <a:t>,</a:t>
            </a:r>
            <a:endParaRPr lang="en-US" sz="900"/>
          </a:p>
          <a:p>
            <a:pPr algn="l">
              <a:lnSpc>
                <a:spcPct val="150000"/>
              </a:lnSpc>
            </a:pPr>
            <a:r>
              <a:rPr lang="en-US" sz="900">
                <a:solidFill>
                  <a:srgbClr val="D8DDE3"/>
                </a:solidFill>
                <a:latin typeface="MiSans"/>
                <a:ea typeface="MiSans"/>
              </a:rPr>
              <a:t>  unit_id, project, game, scenario_id,</a:t>
            </a:r>
            <a:endParaRPr lang="en-US" sz="900"/>
          </a:p>
          <a:p>
            <a:pPr algn="l">
              <a:lnSpc>
                <a:spcPct val="150000"/>
              </a:lnSpc>
            </a:pPr>
            <a:r>
              <a:rPr lang="en-US" sz="900">
                <a:solidFill>
                  <a:srgbClr val="D8DDE3"/>
                </a:solidFill>
                <a:latin typeface="MiSans"/>
                <a:ea typeface="MiSans"/>
              </a:rPr>
              <a:t>  ts, pass: boolean,</a:t>
            </a:r>
            <a:endParaRPr lang="en-US" sz="900"/>
          </a:p>
          <a:p>
            <a:pPr algn="l">
              <a:lnSpc>
                <a:spcPct val="150000"/>
              </a:lnSpc>
            </a:pPr>
            <a:r>
              <a:rPr lang="en-US" sz="900">
                <a:solidFill>
                  <a:srgbClr val="D8DDE3"/>
                </a:solidFill>
                <a:latin typeface="MiSans"/>
                <a:ea typeface="MiSans"/>
              </a:rPr>
              <a:t>  metrics: { kind, …quantidades do julgamento },</a:t>
            </a:r>
            <a:endParaRPr lang="en-US" sz="900"/>
          </a:p>
          <a:p>
            <a:pPr algn="l">
              <a:lnSpc>
                <a:spcPct val="150000"/>
              </a:lnSpc>
            </a:pPr>
            <a:r>
              <a:rPr lang="en-US" sz="900">
                <a:solidFill>
                  <a:srgbClr val="D8DDE3"/>
                </a:solidFill>
                <a:latin typeface="MiSans"/>
                <a:ea typeface="MiSans"/>
              </a:rPr>
              <a:t>  review_context: { scheduled_review, review_reason,</a:t>
            </a:r>
            <a:endParaRPr lang="en-US" sz="900"/>
          </a:p>
          <a:p>
            <a:pPr algn="l">
              <a:lnSpc>
                <a:spcPct val="150000"/>
              </a:lnSpc>
            </a:pPr>
            <a:r>
              <a:rPr lang="en-US" sz="900">
                <a:solidFill>
                  <a:srgbClr val="D8DDE3"/>
                </a:solidFill>
                <a:latin typeface="MiSans"/>
                <a:ea typeface="MiSans"/>
              </a:rPr>
              <a:t>    scheduler_source: </a:t>
            </a:r>
            <a:r>
              <a:rPr lang="en-US" sz="900">
                <a:solidFill>
                  <a:srgbClr val="F2B794"/>
                </a:solidFill>
                <a:latin typeface="MiSans"/>
                <a:ea typeface="MiSans"/>
              </a:rPr>
              <a:t>"learner-substrate"</a:t>
            </a:r>
            <a:r>
              <a:rPr lang="en-US" sz="900">
                <a:solidFill>
                  <a:srgbClr val="D8DDE3"/>
                </a:solidFill>
                <a:latin typeface="MiSans"/>
                <a:ea typeface="MiSans"/>
              </a:rPr>
              <a:t>,</a:t>
            </a:r>
            <a:endParaRPr lang="en-US" sz="900"/>
          </a:p>
          <a:p>
            <a:pPr algn="l">
              <a:lnSpc>
                <a:spcPct val="150000"/>
              </a:lnSpc>
            </a:pPr>
            <a:r>
              <a:rPr lang="en-US" sz="900">
                <a:solidFill>
                  <a:srgbClr val="D8DDE3"/>
                </a:solidFill>
                <a:latin typeface="MiSans"/>
                <a:ea typeface="MiSans"/>
              </a:rPr>
              <a:t>    verifier_required: </a:t>
            </a:r>
            <a:r>
              <a:rPr lang="en-US" sz="900">
                <a:solidFill>
                  <a:srgbClr val="F2B794"/>
                </a:solidFill>
                <a:latin typeface="MiSans"/>
                <a:ea typeface="MiSans"/>
              </a:rPr>
              <a:t>true</a:t>
            </a:r>
            <a:r>
              <a:rPr lang="en-US" sz="900">
                <a:solidFill>
                  <a:srgbClr val="D8DDE3"/>
                </a:solidFill>
                <a:latin typeface="MiSans"/>
                <a:ea typeface="MiSans"/>
              </a:rPr>
              <a:t> },</a:t>
            </a:r>
            <a:endParaRPr lang="en-US" sz="900"/>
          </a:p>
          <a:p>
            <a:pPr algn="l">
              <a:lnSpc>
                <a:spcPct val="150000"/>
              </a:lnSpc>
            </a:pPr>
            <a:r>
              <a:rPr lang="en-US" sz="900">
                <a:solidFill>
                  <a:srgbClr val="D8DDE3"/>
                </a:solidFill>
                <a:latin typeface="MiSans"/>
                <a:ea typeface="MiSans"/>
              </a:rPr>
              <a:t>  curriculum_context: { concept, mechanic,</a:t>
            </a:r>
            <a:endParaRPr lang="en-US" sz="900"/>
          </a:p>
          <a:p>
            <a:pPr algn="l">
              <a:lnSpc>
                <a:spcPct val="150000"/>
              </a:lnSpc>
            </a:pPr>
            <a:r>
              <a:rPr lang="en-US" sz="900">
                <a:solidFill>
                  <a:srgbClr val="D8DDE3"/>
                </a:solidFill>
                <a:latin typeface="MiSans"/>
                <a:ea typeface="MiSans"/>
              </a:rPr>
              <a:t>    accepted_signal, rejected_trap } }</a:t>
            </a:r>
            <a:endParaRPr lang="en-US" sz="900"/>
          </a:p>
        </p:txBody>
      </p:sp>
      <p:sp>
        <p:nvSpPr>
          <p:cNvPr id="9" name="ch-title"/>
          <p:cNvSpPr txBox="1"/>
          <p:nvPr/>
        </p:nvSpPr>
        <p:spPr>
          <a:xfrm>
            <a:off x="6807200" y="4191000"/>
            <a:ext cx="4673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000" b="1" spc="120" kern="0">
                <a:solidFill>
                  <a:srgbClr val="1B1E23"/>
                </a:solidFill>
                <a:latin typeface="MiSans"/>
                <a:ea typeface="MiSans"/>
              </a:rPr>
              <a:t>EMISSÃO DUAL-CHANNEL</a:t>
            </a:r>
            <a:endParaRPr lang="en-US" sz="1000"/>
          </a:p>
        </p:txBody>
      </p:sp>
      <p:sp>
        <p:nvSpPr>
          <p:cNvPr id="10" name="ch1"/>
          <p:cNvSpPr/>
          <p:nvPr/>
        </p:nvSpPr>
        <p:spPr>
          <a:xfrm>
            <a:off x="6807200" y="4470400"/>
            <a:ext cx="2235200" cy="812800"/>
          </a:xfrm>
          <a:prstGeom prst="rect">
            <a:avLst/>
          </a:prstGeom>
          <a:solidFill>
            <a:srgbClr val="EDF1F5"/>
          </a:solidFill>
          <a:ln w="12700">
            <a:solidFill>
              <a:srgbClr val="33506B"/>
            </a:solidFill>
          </a:ln>
        </p:spPr>
      </p:sp>
      <p:sp>
        <p:nvSpPr>
          <p:cNvPr id="11" name="ch1-t"/>
          <p:cNvSpPr txBox="1"/>
          <p:nvPr/>
        </p:nvSpPr>
        <p:spPr>
          <a:xfrm>
            <a:off x="6908800" y="4533900"/>
            <a:ext cx="20320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900" b="1">
                <a:solidFill>
                  <a:srgbClr val="24405A"/>
                </a:solidFill>
                <a:latin typeface="MiSans"/>
                <a:ea typeface="MiSans"/>
              </a:rPr>
              <a:t>Browser global</a:t>
            </a:r>
            <a:endParaRPr lang="en-US" sz="1600"/>
          </a:p>
          <a:p>
            <a:pPr algn="l">
              <a:lnSpc>
                <a:spcPct val="120000"/>
              </a:lnSpc>
            </a:pPr>
            <a:r>
              <a:rPr lang="en-US" sz="800">
                <a:solidFill>
                  <a:srgbClr val="8B9199"/>
                </a:solidFill>
                <a:latin typeface="MiSans"/>
                <a:ea typeface="MiSans"/>
              </a:rPr>
              <a:t>window.__pixelQuestEvidence / __voxelDojoEvidence</a:t>
            </a:r>
            <a:endParaRPr lang="en-US" sz="1600"/>
          </a:p>
        </p:txBody>
      </p:sp>
      <p:sp>
        <p:nvSpPr>
          <p:cNvPr id="12" name="ch2"/>
          <p:cNvSpPr/>
          <p:nvPr/>
        </p:nvSpPr>
        <p:spPr>
          <a:xfrm>
            <a:off x="9245600" y="4470400"/>
            <a:ext cx="2235200" cy="812800"/>
          </a:xfrm>
          <a:prstGeom prst="rect">
            <a:avLst/>
          </a:prstGeom>
          <a:solidFill>
            <a:srgbClr val="EDF1F5"/>
          </a:solidFill>
          <a:ln w="12700">
            <a:solidFill>
              <a:srgbClr val="33506B"/>
            </a:solidFill>
          </a:ln>
        </p:spPr>
      </p:sp>
      <p:sp>
        <p:nvSpPr>
          <p:cNvPr id="13" name="ch2-t"/>
          <p:cNvSpPr txBox="1"/>
          <p:nvPr/>
        </p:nvSpPr>
        <p:spPr>
          <a:xfrm>
            <a:off x="9347200" y="4533900"/>
            <a:ext cx="20320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900" b="1">
                <a:solidFill>
                  <a:srgbClr val="24405A"/>
                </a:solidFill>
                <a:latin typeface="MiSans"/>
                <a:ea typeface="MiSans"/>
              </a:rPr>
              <a:t>Console</a:t>
            </a:r>
            <a:endParaRPr lang="en-US" sz="1600"/>
          </a:p>
          <a:p>
            <a:pPr algn="l">
              <a:lnSpc>
                <a:spcPct val="120000"/>
              </a:lnSpc>
            </a:pPr>
            <a:r>
              <a:rPr lang="en-US" sz="800">
                <a:solidFill>
                  <a:srgbClr val="8B9199"/>
                </a:solidFill>
                <a:latin typeface="MiSans"/>
                <a:ea typeface="MiSans"/>
              </a:rPr>
              <a:t>"EVIDENCE &lt;json&gt;" — raspável pelo Playwright</a:t>
            </a:r>
            <a:endParaRPr lang="en-US" sz="1600"/>
          </a:p>
        </p:txBody>
      </p:sp>
      <p:sp>
        <p:nvSpPr>
          <p:cNvPr id="14" name="ch-note"/>
          <p:cNvSpPr txBox="1"/>
          <p:nvPr/>
        </p:nvSpPr>
        <p:spPr>
          <a:xfrm>
            <a:off x="6807200" y="5435600"/>
            <a:ext cx="46736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0000"/>
              </a:lnSpc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O smoke Playwright persiste em </a:t>
            </a:r>
            <a:r>
              <a:rPr lang="en-US" sz="900">
                <a:solidFill>
                  <a:srgbClr val="96401E"/>
                </a:solidFill>
                <a:latin typeface="MiSans"/>
                <a:ea typeface="MiSans"/>
              </a:rPr>
              <a:t>.logs/evidence.ndjson</a:t>
            </a: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. Embutido no OS, o jogo faz postMessage "aidevschool:teaching-evidence" v1.</a:t>
            </a:r>
            <a:endParaRPr lang="en-US" sz="900"/>
          </a:p>
          <a:p>
            <a:pPr algn="l">
              <a:lnSpc>
                <a:spcPct val="140000"/>
              </a:lnSpc>
              <a:spcBef>
                <a:spcPts val="500"/>
              </a:spcBef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Pacote </a:t>
            </a:r>
            <a:r>
              <a:rPr lang="en-US" sz="900" b="1">
                <a:solidFill>
                  <a:srgbClr val="8B9199"/>
                </a:solidFill>
                <a:latin typeface="MiSans"/>
                <a:ea typeface="MiSans"/>
              </a:rPr>
              <a:t>@aidevschool/evidence</a:t>
            </a: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 (engines/shared): adapters adicionam métricas tipadas, mas </a:t>
            </a:r>
            <a:r>
              <a:rPr lang="en-US" sz="900" b="1">
                <a:solidFill>
                  <a:srgbClr val="8B9199"/>
                </a:solidFill>
                <a:latin typeface="MiSans"/>
                <a:ea typeface="MiSans"/>
              </a:rPr>
              <a:t>não reimplementam</a:t>
            </a: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 validação nem os canais.</a:t>
            </a:r>
            <a:endParaRPr lang="en-US" sz="900"/>
          </a:p>
        </p:txBody>
      </p:sp>
      <p:sp>
        <p:nvSpPr>
          <p:cNvPr id="15" name="footer-lin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E3E6EA"/>
          </a:solidFill>
          <a:ln>
            <a:noFill/>
          </a:ln>
        </p:spPr>
      </p:sp>
      <p:sp>
        <p:nvSpPr>
          <p:cNvPr id="16" name="footer-left"/>
          <p:cNvSpPr txBox="1"/>
          <p:nvPr/>
        </p:nvSpPr>
        <p:spPr>
          <a:xfrm>
            <a:off x="711200" y="6553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35000"/>
              </a:lnSpc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AI DEVSCHOOL — COMO FUNCIONA</a:t>
            </a:r>
            <a:endParaRPr lang="en-US" sz="900"/>
          </a:p>
        </p:txBody>
      </p:sp>
      <p:sp>
        <p:nvSpPr>
          <p:cNvPr id="17" name="footer-page"/>
          <p:cNvSpPr txBox="1"/>
          <p:nvPr/>
        </p:nvSpPr>
        <p:spPr>
          <a:xfrm>
            <a:off x="10414000" y="6553200"/>
            <a:ext cx="106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35000"/>
              </a:lnSpc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17</a:t>
            </a:r>
            <a:endParaRPr lang="en-US" sz="9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 b="1" spc="250" kern="0">
                <a:solidFill>
                  <a:srgbClr val="BC5327"/>
                </a:solidFill>
                <a:latin typeface="MiSans"/>
                <a:ea typeface="MiSans"/>
              </a:rPr>
              <a:t>17 · ENGINE 2D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11200" y="7112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15000"/>
              </a:lnSpc>
            </a:pPr>
            <a:r>
              <a:rPr lang="en-US" sz="2600" b="1">
                <a:solidFill>
                  <a:srgbClr val="1B1E23"/>
                </a:solidFill>
                <a:latin typeface="MiSans"/>
                <a:ea typeface="MiSans"/>
              </a:rPr>
              <a:t>pixelDojo: cada conceito vira uma mecânica arcade</a:t>
            </a:r>
            <a:endParaRPr lang="en-US" sz="2600"/>
          </a:p>
        </p:txBody>
      </p:sp>
      <p:sp>
        <p:nvSpPr>
          <p:cNvPr id="4" name="title-rule"/>
          <p:cNvSpPr/>
          <p:nvPr/>
        </p:nvSpPr>
        <p:spPr>
          <a:xfrm>
            <a:off x="711200" y="1295400"/>
            <a:ext cx="711200" cy="38100"/>
          </a:xfrm>
          <a:prstGeom prst="rect">
            <a:avLst/>
          </a:prstGeom>
          <a:solidFill>
            <a:srgbClr val="BC5327"/>
          </a:solidFill>
          <a:ln>
            <a:noFill/>
          </a:ln>
        </p:spPr>
      </p:sp>
      <p:sp>
        <p:nvSpPr>
          <p:cNvPr id="5" name="intro"/>
          <p:cNvSpPr txBox="1"/>
          <p:nvPr/>
        </p:nvSpPr>
        <p:spPr>
          <a:xfrm>
            <a:off x="711200" y="1524000"/>
            <a:ext cx="6604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5000"/>
              </a:lnSpc>
            </a:pPr>
            <a:r>
              <a:rPr lang="en-US" sz="1050">
                <a:solidFill>
                  <a:srgbClr val="454A51"/>
                </a:solidFill>
                <a:latin typeface="MiSans"/>
                <a:ea typeface="MiSans"/>
              </a:rPr>
              <a:t>O app canônico </a:t>
            </a:r>
            <a:r>
              <a:rPr lang="en-US" sz="1050" b="1">
                <a:solidFill>
                  <a:srgbClr val="454A51"/>
                </a:solidFill>
                <a:latin typeface="MiSans"/>
                <a:ea typeface="MiSans"/>
              </a:rPr>
              <a:t>pixel-quest</a:t>
            </a:r>
            <a:r>
              <a:rPr lang="en-US" sz="1050">
                <a:solidFill>
                  <a:srgbClr val="454A51"/>
                </a:solidFill>
                <a:latin typeface="MiSans"/>
                <a:ea typeface="MiSans"/>
              </a:rPr>
              <a:t> (Vite + TS estrito + Three.js) transforma projetos do currículo em "labs" jogáveis — 5 mecânicas aprovadas, puras e testáveis, num registry tipado.</a:t>
            </a:r>
            <a:endParaRPr lang="en-US" sz="1050"/>
          </a:p>
        </p:txBody>
      </p:sp>
      <p:graphicFrame>
        <p:nvGraphicFramePr>
          <p:cNvPr id="6" name="tbl"/>
          <p:cNvGraphicFramePr>
            <a:graphicFrameLocks noGrp="1"/>
          </p:cNvGraphicFramePr>
          <p:nvPr/>
        </p:nvGraphicFramePr>
        <p:xfrm>
          <a:off x="711200" y="2057400"/>
          <a:ext cx="6604000" cy="2743200"/>
        </p:xfrm>
        <a:graphic>
          <a:graphicData uri="http://schemas.openxmlformats.org/drawingml/2006/table">
            <a:tbl>
              <a:tblPr/>
              <a:tblGrid>
                <a:gridCol w="1584960"/>
                <a:gridCol w="3037840"/>
                <a:gridCol w="1981200"/>
              </a:tblGrid>
              <a:tr h="411480"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850" b="1">
                          <a:solidFill>
                            <a:srgbClr val="24405A"/>
                          </a:solidFill>
                          <a:latin typeface="Times New Roman"/>
                          <a:ea typeface="Times New Roman"/>
                        </a:rPr>
                        <a:t>Mecânica</a:t>
                      </a:r>
                      <a:endParaRPr lang="en-US" sz="85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850" b="1">
                          <a:solidFill>
                            <a:srgbClr val="1B1E23"/>
                          </a:solidFill>
                          <a:latin typeface="Times New Roman"/>
                          <a:ea typeface="Times New Roman"/>
                        </a:rPr>
                        <a:t>Conceito ensinado</a:t>
                      </a:r>
                      <a:endParaRPr lang="en-US" sz="85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850" b="1">
                          <a:solidFill>
                            <a:srgbClr val="1B1E23"/>
                          </a:solidFill>
                          <a:latin typeface="Times New Roman"/>
                          <a:ea typeface="Times New Roman"/>
                        </a:rPr>
                        <a:t>Labs / projetos</a:t>
                      </a:r>
                      <a:endParaRPr lang="en-US" sz="85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solidFill>
                      <a:srgbClr val="F7F5F0"/>
                    </a:solidFill>
                  </a:tcPr>
                </a:tc>
              </a:tr>
              <a:tr h="466344"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850" b="1">
                          <a:solidFill>
                            <a:srgbClr val="24405A"/>
                          </a:solidFill>
                          <a:latin typeface="Times New Roman"/>
                          <a:ea typeface="Times New Roman"/>
                        </a:rPr>
                        <a:t>token_bucket</a:t>
                      </a:r>
                      <a:endParaRPr lang="en-US" sz="85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850">
                          <a:solidFill>
                            <a:srgbClr val="454A51"/>
                          </a:solidFill>
                          <a:latin typeface="Times New Roman"/>
                          <a:ea typeface="Times New Roman"/>
                        </a:rPr>
                        <a:t>capacidade vs refill: admitir tráfego legítimo, rejeitar rajada abusiva</a:t>
                      </a:r>
                      <a:endParaRPr lang="en-US" sz="85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850">
                          <a:solidFill>
                            <a:srgbClr val="454A51"/>
                          </a:solidFill>
                          <a:latin typeface="Times New Roman"/>
                          <a:ea typeface="Times New Roman"/>
                        </a:rPr>
                        <a:t>01 rate limiter (GATEKEEPER)</a:t>
                      </a:r>
                      <a:endParaRPr lang="en-US" sz="85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noFill/>
                  </a:tcPr>
                </a:tc>
              </a:tr>
              <a:tr h="466344"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850" b="1">
                          <a:solidFill>
                            <a:srgbClr val="24405A"/>
                          </a:solidFill>
                          <a:latin typeface="Times New Roman"/>
                          <a:ea typeface="Times New Roman"/>
                        </a:rPr>
                        <a:t>sequence_flow</a:t>
                      </a:r>
                      <a:endParaRPr lang="en-US" sz="85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850">
                          <a:solidFill>
                            <a:srgbClr val="454A51"/>
                          </a:solidFill>
                          <a:latin typeface="Times New Roman"/>
                          <a:ea typeface="Times New Roman"/>
                        </a:rPr>
                        <a:t>passos válidos em ordem; segurar/guardar inválidos (ex.: TTL cache)</a:t>
                      </a:r>
                      <a:endParaRPr lang="en-US" sz="85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850">
                          <a:solidFill>
                            <a:srgbClr val="454A51"/>
                          </a:solidFill>
                          <a:latin typeface="Times New Roman"/>
                          <a:ea typeface="Times New Roman"/>
                        </a:rPr>
                        <a:t>02 KV store, 06, 08, 12, 16–18…</a:t>
                      </a:r>
                      <a:endParaRPr lang="en-US" sz="85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noFill/>
                  </a:tcPr>
                </a:tc>
              </a:tr>
              <a:tr h="466344"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850" b="1">
                          <a:solidFill>
                            <a:srgbClr val="24405A"/>
                          </a:solidFill>
                          <a:latin typeface="Times New Roman"/>
                          <a:ea typeface="Times New Roman"/>
                        </a:rPr>
                        <a:t>route_health</a:t>
                      </a:r>
                      <a:endParaRPr lang="en-US" sz="85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850">
                          <a:solidFill>
                            <a:srgbClr val="454A51"/>
                          </a:solidFill>
                          <a:latin typeface="Times New Roman"/>
                          <a:ea typeface="Times New Roman"/>
                        </a:rPr>
                        <a:t>rotear para alvos saudáveis, isolar degradados antes do cascatear</a:t>
                      </a:r>
                      <a:endParaRPr lang="en-US" sz="85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850">
                          <a:solidFill>
                            <a:srgbClr val="454A51"/>
                          </a:solidFill>
                          <a:latin typeface="Times New Roman"/>
                          <a:ea typeface="Times New Roman"/>
                        </a:rPr>
                        <a:t>11 load balancer, 13 circuit breaker</a:t>
                      </a:r>
                      <a:endParaRPr lang="en-US" sz="85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noFill/>
                  </a:tcPr>
                </a:tc>
              </a:tr>
              <a:tr h="466344"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850" b="1">
                          <a:solidFill>
                            <a:srgbClr val="24405A"/>
                          </a:solidFill>
                          <a:latin typeface="Times New Roman"/>
                          <a:ea typeface="Times New Roman"/>
                        </a:rPr>
                        <a:t>policy_gate</a:t>
                      </a:r>
                      <a:endParaRPr lang="en-US" sz="85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850">
                          <a:solidFill>
                            <a:srgbClr val="454A51"/>
                          </a:solidFill>
                          <a:latin typeface="Times New Roman"/>
                          <a:ea typeface="Times New Roman"/>
                        </a:rPr>
                        <a:t>autorização: permitir escopos válidos, negar violações</a:t>
                      </a:r>
                      <a:endParaRPr lang="en-US" sz="85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850">
                          <a:solidFill>
                            <a:srgbClr val="454A51"/>
                          </a:solidFill>
                          <a:latin typeface="Times New Roman"/>
                          <a:ea typeface="Times New Roman"/>
                        </a:rPr>
                        <a:t>07 REST auth, 09 plugin system</a:t>
                      </a:r>
                      <a:endParaRPr lang="en-US" sz="85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noFill/>
                  </a:tcPr>
                </a:tc>
              </a:tr>
              <a:tr h="466344"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850" b="1">
                          <a:solidFill>
                            <a:srgbClr val="24405A"/>
                          </a:solidFill>
                          <a:latin typeface="Times New Roman"/>
                          <a:ea typeface="Times New Roman"/>
                        </a:rPr>
                        <a:t>task_queue</a:t>
                      </a:r>
                      <a:endParaRPr lang="en-US" sz="85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850">
                          <a:solidFill>
                            <a:srgbClr val="454A51"/>
                          </a:solidFill>
                          <a:latin typeface="Times New Roman"/>
                          <a:ea typeface="Times New Roman"/>
                        </a:rPr>
                        <a:t>retry, backpressure, DLQ: processar jobs legítimos, dead-letter poison</a:t>
                      </a:r>
                      <a:endParaRPr lang="en-US" sz="85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850">
                          <a:solidFill>
                            <a:srgbClr val="454A51"/>
                          </a:solidFill>
                          <a:latin typeface="Times New Roman"/>
                          <a:ea typeface="Times New Roman"/>
                        </a:rPr>
                        <a:t>04 concurrent task queue</a:t>
                      </a:r>
                      <a:endParaRPr lang="en-US" sz="85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d10"/>
          <p:cNvSpPr txBox="1"/>
          <p:nvPr/>
        </p:nvSpPr>
        <p:spPr>
          <a:xfrm>
            <a:off x="711200" y="4978400"/>
            <a:ext cx="6604000" cy="116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5000"/>
              </a:lnSpc>
            </a:pPr>
            <a:r>
              <a:rPr lang="en-US" sz="1000" b="1">
                <a:solidFill>
                  <a:srgbClr val="454A51"/>
                </a:solidFill>
                <a:latin typeface="MiSans"/>
                <a:ea typeface="MiSans"/>
              </a:rPr>
              <a:t>Thresholds de PASS centralizados (invariante anti-drift D10):</a:t>
            </a:r>
            <a:r>
              <a:rPr lang="en-US" sz="1000">
                <a:solidFill>
                  <a:srgbClr val="454A51"/>
                </a:solidFill>
                <a:latin typeface="MiSans"/>
                <a:ea typeface="MiSans"/>
              </a:rPr>
              <a:t> ex.: token_bucket exige good_admits ≥ 8, abusive_admitted = 0, taxa observada ≤ 1,35×. O contrato declarado por unidade e a regra de pass em runtime usam </a:t>
            </a:r>
            <a:r>
              <a:rPr lang="en-US" sz="1000" b="1">
                <a:solidFill>
                  <a:srgbClr val="454A51"/>
                </a:solidFill>
                <a:latin typeface="MiSans"/>
                <a:ea typeface="MiSans"/>
              </a:rPr>
              <a:t>as mesmas constantes</a:t>
            </a:r>
            <a:r>
              <a:rPr lang="en-US" sz="1000">
                <a:solidFill>
                  <a:srgbClr val="454A51"/>
                </a:solidFill>
                <a:latin typeface="MiSans"/>
                <a:ea typeface="MiSans"/>
              </a:rPr>
              <a:t> — impossível divergir.</a:t>
            </a:r>
            <a:endParaRPr lang="en-US" sz="1000"/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lang="en-US" sz="1000">
                <a:solidFill>
                  <a:srgbClr val="8B9199"/>
                </a:solidFill>
                <a:latin typeface="MiSans"/>
                <a:ea typeface="MiSans"/>
              </a:rPr>
              <a:t>Content packs são dados puros (pack.json com regions/units/encounters); mecânica nova exige alterar 4 pontos: types, packValidator, registry e a variante de métricas da evidência.</a:t>
            </a:r>
            <a:endParaRPr lang="en-US" sz="1000"/>
          </a:p>
        </p:txBody>
      </p:sp>
      <p:sp>
        <p:nvSpPr>
          <p:cNvPr id="8" name="fl-head"/>
          <p:cNvSpPr txBox="1"/>
          <p:nvPr/>
        </p:nvSpPr>
        <p:spPr>
          <a:xfrm>
            <a:off x="7823200" y="1524000"/>
            <a:ext cx="3657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000" b="1" spc="120" kern="0">
                <a:solidFill>
                  <a:srgbClr val="1B1E23"/>
                </a:solidFill>
                <a:latin typeface="MiSans"/>
                <a:ea typeface="MiSans"/>
              </a:rPr>
              <a:t>DA JOGADA AO GATE</a:t>
            </a:r>
            <a:endParaRPr lang="en-US" sz="1000"/>
          </a:p>
        </p:txBody>
      </p:sp>
      <p:sp>
        <p:nvSpPr>
          <p:cNvPr id="9" name="fl1"/>
          <p:cNvSpPr/>
          <p:nvPr/>
        </p:nvSpPr>
        <p:spPr>
          <a:xfrm>
            <a:off x="7823200" y="1803400"/>
            <a:ext cx="3657600" cy="584200"/>
          </a:xfrm>
          <a:prstGeom prst="rect">
            <a:avLst/>
          </a:prstGeom>
          <a:solidFill>
            <a:srgbClr val="EDF1F5"/>
          </a:solidFill>
          <a:ln w="12700">
            <a:solidFill>
              <a:srgbClr val="33506B"/>
            </a:solidFill>
          </a:ln>
        </p:spPr>
      </p:sp>
      <p:sp>
        <p:nvSpPr>
          <p:cNvPr id="10" name="fl1-t"/>
          <p:cNvSpPr txBox="1"/>
          <p:nvPr/>
        </p:nvSpPr>
        <p:spPr>
          <a:xfrm>
            <a:off x="7950200" y="1854200"/>
            <a:ext cx="3403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900" b="1">
                <a:solidFill>
                  <a:srgbClr val="24405A"/>
                </a:solidFill>
                <a:latin typeface="MiSans"/>
                <a:ea typeface="MiSans"/>
              </a:rPr>
              <a:t>buildEncounterEvidence → validate → dualEmit</a:t>
            </a:r>
            <a:endParaRPr lang="en-US" sz="1600"/>
          </a:p>
          <a:p>
            <a:pPr algn="l">
              <a:lnSpc>
                <a:spcPct val="120000"/>
              </a:lnSpc>
            </a:pPr>
            <a:r>
              <a:rPr lang="en-US" sz="800">
                <a:solidFill>
                  <a:srgbClr val="8B9199"/>
                </a:solidFill>
                <a:latin typeface="MiSans"/>
                <a:ea typeface="MiSans"/>
              </a:rPr>
              <a:t>registros malformados nunca são escritos</a:t>
            </a:r>
            <a:endParaRPr lang="en-US" sz="1600"/>
          </a:p>
        </p:txBody>
      </p:sp>
      <p:sp>
        <p:nvSpPr>
          <p:cNvPr id="11" name="fla1"/>
          <p:cNvSpPr/>
          <p:nvPr>
            <p:extLst>
              <p:ext uri="{F5677B7D-0D2A-4D9B-9A5C-6D8D7D0E5A5D}">
                <pptd:line encoding="base64url">eyJjdXJ2ZSI6InJvdW5kIiwicG9pbnRzIjoiNiwwIDYsMTQiLCJ2aWV3Qm94IjpbMTIsMTRdfQ</pptd:line>
              </p:ext>
            </p:extLst>
          </p:nvPr>
        </p:nvSpPr>
        <p:spPr>
          <a:xfrm>
            <a:off x="9575800" y="2387600"/>
            <a:ext cx="152400" cy="177800"/>
          </a:xfrm>
          <a:custGeom>
            <a:avLst/>
            <a:gdLst/>
            <a:ahLst/>
            <a:cxnLst/>
            <a:rect l="l" t="t" r="r" b="b"/>
            <a:pathLst>
              <a:path w="12" h="14">
                <a:moveTo>
                  <a:pt x="6" y="0"/>
                </a:moveTo>
                <a:lnTo>
                  <a:pt x="6" y="14"/>
                </a:lnTo>
              </a:path>
            </a:pathLst>
          </a:custGeom>
          <a:noFill/>
          <a:ln w="19050" cap="rnd">
            <a:solidFill>
              <a:srgbClr val="8B9199"/>
            </a:solidFill>
            <a:round/>
            <a:tailEnd type="stealth"/>
          </a:ln>
        </p:spPr>
      </p:sp>
      <p:sp>
        <p:nvSpPr>
          <p:cNvPr id="12" name="fl2"/>
          <p:cNvSpPr/>
          <p:nvPr/>
        </p:nvSpPr>
        <p:spPr>
          <a:xfrm>
            <a:off x="7823200" y="2565400"/>
            <a:ext cx="3657600" cy="584200"/>
          </a:xfrm>
          <a:prstGeom prst="rect">
            <a:avLst/>
          </a:prstGeom>
          <a:solidFill>
            <a:srgbClr val="EDF1F5"/>
          </a:solidFill>
          <a:ln w="12700">
            <a:solidFill>
              <a:srgbClr val="33506B"/>
            </a:solidFill>
          </a:ln>
        </p:spPr>
      </p:sp>
      <p:sp>
        <p:nvSpPr>
          <p:cNvPr id="13" name="fl2-t"/>
          <p:cNvSpPr txBox="1"/>
          <p:nvPr/>
        </p:nvSpPr>
        <p:spPr>
          <a:xfrm>
            <a:off x="7950200" y="2616200"/>
            <a:ext cx="3403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900" b="1">
                <a:solidFill>
                  <a:srgbClr val="24405A"/>
                </a:solidFill>
                <a:latin typeface="MiSans"/>
                <a:ea typeface="MiSans"/>
              </a:rPr>
              <a:t>Playwright captura → .logs/evidence.ndjson</a:t>
            </a:r>
            <a:endParaRPr lang="en-US" sz="1600"/>
          </a:p>
          <a:p>
            <a:pPr algn="l">
              <a:lnSpc>
                <a:spcPct val="120000"/>
              </a:lnSpc>
            </a:pPr>
            <a:r>
              <a:rPr lang="en-US" sz="800">
                <a:solidFill>
                  <a:srgbClr val="8B9199"/>
                </a:solidFill>
                <a:latin typeface="MiSans"/>
                <a:ea typeface="MiSans"/>
              </a:rPr>
              <a:t>1 linha JSON por tentativa, em ordem de jogo</a:t>
            </a:r>
            <a:endParaRPr lang="en-US" sz="1600"/>
          </a:p>
        </p:txBody>
      </p:sp>
      <p:sp>
        <p:nvSpPr>
          <p:cNvPr id="14" name="fla2"/>
          <p:cNvSpPr/>
          <p:nvPr>
            <p:extLst>
              <p:ext uri="{F5677B7D-0D2A-4D9B-9A5C-6D8D7D0E5A5D}">
                <pptd:line encoding="base64url">eyJjdXJ2ZSI6InJvdW5kIiwicG9pbnRzIjoiNiwwIDYsMTQiLCJ2aWV3Qm94IjpbMTIsMTRdfQ</pptd:line>
              </p:ext>
            </p:extLst>
          </p:nvPr>
        </p:nvSpPr>
        <p:spPr>
          <a:xfrm>
            <a:off x="9575800" y="3149600"/>
            <a:ext cx="152400" cy="177800"/>
          </a:xfrm>
          <a:custGeom>
            <a:avLst/>
            <a:gdLst/>
            <a:ahLst/>
            <a:cxnLst/>
            <a:rect l="l" t="t" r="r" b="b"/>
            <a:pathLst>
              <a:path w="12" h="14">
                <a:moveTo>
                  <a:pt x="6" y="0"/>
                </a:moveTo>
                <a:lnTo>
                  <a:pt x="6" y="14"/>
                </a:lnTo>
              </a:path>
            </a:pathLst>
          </a:custGeom>
          <a:noFill/>
          <a:ln w="19050" cap="rnd">
            <a:solidFill>
              <a:srgbClr val="8B9199"/>
            </a:solidFill>
            <a:round/>
            <a:tailEnd type="stealth"/>
          </a:ln>
        </p:spPr>
      </p:sp>
      <p:sp>
        <p:nvSpPr>
          <p:cNvPr id="15" name="fl3"/>
          <p:cNvSpPr/>
          <p:nvPr/>
        </p:nvSpPr>
        <p:spPr>
          <a:xfrm>
            <a:off x="7823200" y="3327400"/>
            <a:ext cx="3657600" cy="584200"/>
          </a:xfrm>
          <a:prstGeom prst="rect">
            <a:avLst/>
          </a:prstGeom>
          <a:solidFill>
            <a:srgbClr val="F8EAE1"/>
          </a:solidFill>
          <a:ln w="19050">
            <a:solidFill>
              <a:srgbClr val="BC5327"/>
            </a:solidFill>
          </a:ln>
        </p:spPr>
      </p:sp>
      <p:sp>
        <p:nvSpPr>
          <p:cNvPr id="16" name="fl3-t"/>
          <p:cNvSpPr txBox="1"/>
          <p:nvPr/>
        </p:nvSpPr>
        <p:spPr>
          <a:xfrm>
            <a:off x="7950200" y="3378200"/>
            <a:ext cx="3403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900" b="1">
                <a:solidFill>
                  <a:srgbClr val="96401E"/>
                </a:solidFill>
                <a:latin typeface="MiSans"/>
                <a:ea typeface="MiSans"/>
              </a:rPr>
              <a:t>learner.gate avalia só o último registro do active_unit</a:t>
            </a:r>
            <a:endParaRPr lang="en-US" sz="1600"/>
          </a:p>
          <a:p>
            <a:pPr algn="l">
              <a:lnSpc>
                <a:spcPct val="120000"/>
              </a:lnSpc>
            </a:pPr>
            <a:r>
              <a:rPr lang="en-US" sz="800">
                <a:solidFill>
                  <a:srgbClr val="96401E"/>
                </a:solidFill>
                <a:latin typeface="MiSans"/>
                <a:ea typeface="MiSans"/>
              </a:rPr>
              <a:t>parsing estrito: 1 linha malformada rejeita o arquivo inteiro</a:t>
            </a:r>
            <a:endParaRPr lang="en-US" sz="1600"/>
          </a:p>
        </p:txBody>
      </p:sp>
      <p:sp>
        <p:nvSpPr>
          <p:cNvPr id="17" name="pw-head"/>
          <p:cNvSpPr txBox="1"/>
          <p:nvPr/>
        </p:nvSpPr>
        <p:spPr>
          <a:xfrm>
            <a:off x="7823200" y="4114800"/>
            <a:ext cx="3657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000" b="1" spc="120" kern="0">
                <a:solidFill>
                  <a:srgbClr val="1B1E23"/>
                </a:solidFill>
                <a:latin typeface="MiSans"/>
                <a:ea typeface="MiSans"/>
              </a:rPr>
              <a:t>O SMOKE QUE JOGA DE VERDADE</a:t>
            </a:r>
            <a:endParaRPr lang="en-US" sz="1000"/>
          </a:p>
        </p:txBody>
      </p:sp>
      <p:sp>
        <p:nvSpPr>
          <p:cNvPr id="18" name="pw"/>
          <p:cNvSpPr txBox="1"/>
          <p:nvPr/>
        </p:nvSpPr>
        <p:spPr>
          <a:xfrm>
            <a:off x="7823200" y="4394200"/>
            <a:ext cx="3657600" cy="177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0000"/>
              </a:lnSpc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O spec Playwright pressiona teclas (z admitir / x rejeitar) em 6 labs e verifica </a:t>
            </a:r>
            <a:r>
              <a:rPr lang="en-US" sz="900" b="1">
                <a:solidFill>
                  <a:srgbClr val="8B9199"/>
                </a:solidFill>
                <a:latin typeface="MiSans"/>
                <a:ea typeface="MiSans"/>
              </a:rPr>
              <a:t>6 registros PASS com métricas exatas</a:t>
            </a: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 (ex.: good_admits: 8, abusive_admitted: 0).</a:t>
            </a:r>
            <a:endParaRPr lang="en-US" sz="900"/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E, crucialmente, </a:t>
            </a:r>
            <a:r>
              <a:rPr lang="en-US" sz="900" b="1">
                <a:solidFill>
                  <a:srgbClr val="8B9199"/>
                </a:solidFill>
                <a:latin typeface="MiSans"/>
                <a:ea typeface="MiSans"/>
              </a:rPr>
              <a:t>asseriva as ausências</a:t>
            </a: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: nenhum __pixelQuestLearningState no window, nenhuma chave learning_state / units_log / mastered no localStorage — prova de que o jogo não vaza estado de aprendizagem.</a:t>
            </a:r>
            <a:endParaRPr lang="en-US" sz="900"/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Fato histórico: U0 foi gated em 2026-07-05 a partir de evidência GATEKEEPER — a primeira unidade honestamente dominada.</a:t>
            </a:r>
            <a:endParaRPr lang="en-US" sz="900"/>
          </a:p>
        </p:txBody>
      </p:sp>
      <p:sp>
        <p:nvSpPr>
          <p:cNvPr id="19" name="footer-lin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E3E6EA"/>
          </a:solidFill>
          <a:ln>
            <a:noFill/>
          </a:ln>
        </p:spPr>
      </p:sp>
      <p:sp>
        <p:nvSpPr>
          <p:cNvPr id="20" name="footer-left"/>
          <p:cNvSpPr txBox="1"/>
          <p:nvPr/>
        </p:nvSpPr>
        <p:spPr>
          <a:xfrm>
            <a:off x="711200" y="6553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35000"/>
              </a:lnSpc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AI DEVSCHOOL — COMO FUNCIONA</a:t>
            </a:r>
            <a:endParaRPr lang="en-US" sz="900"/>
          </a:p>
        </p:txBody>
      </p:sp>
      <p:sp>
        <p:nvSpPr>
          <p:cNvPr id="21" name="footer-page"/>
          <p:cNvSpPr txBox="1"/>
          <p:nvPr/>
        </p:nvSpPr>
        <p:spPr>
          <a:xfrm>
            <a:off x="10414000" y="6553200"/>
            <a:ext cx="106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35000"/>
              </a:lnSpc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18</a:t>
            </a:r>
            <a:endParaRPr lang="en-US" sz="9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 b="1" spc="250" kern="0">
                <a:solidFill>
                  <a:srgbClr val="BC5327"/>
                </a:solidFill>
                <a:latin typeface="MiSans"/>
                <a:ea typeface="MiSans"/>
              </a:rPr>
              <a:t>18 · ENGINE 3D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11200" y="7112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15000"/>
              </a:lnSpc>
            </a:pPr>
            <a:r>
              <a:rPr lang="en-US" sz="2600" b="1">
                <a:solidFill>
                  <a:srgbClr val="1B1E23"/>
                </a:solidFill>
                <a:latin typeface="MiSans"/>
                <a:ea typeface="MiSans"/>
              </a:rPr>
              <a:t>voxelDojo: a cena é projeção; a verdade é o sim</a:t>
            </a:r>
            <a:endParaRPr lang="en-US" sz="2600"/>
          </a:p>
        </p:txBody>
      </p:sp>
      <p:sp>
        <p:nvSpPr>
          <p:cNvPr id="4" name="title-rule"/>
          <p:cNvSpPr/>
          <p:nvPr/>
        </p:nvSpPr>
        <p:spPr>
          <a:xfrm>
            <a:off x="711200" y="1295400"/>
            <a:ext cx="711200" cy="38100"/>
          </a:xfrm>
          <a:prstGeom prst="rect">
            <a:avLst/>
          </a:prstGeom>
          <a:solidFill>
            <a:srgbClr val="BC5327"/>
          </a:solidFill>
          <a:ln>
            <a:noFill/>
          </a:ln>
        </p:spPr>
      </p:sp>
      <p:sp>
        <p:nvSpPr>
          <p:cNvPr id="5" name="intro"/>
          <p:cNvSpPr txBox="1"/>
          <p:nvPr/>
        </p:nvSpPr>
        <p:spPr>
          <a:xfrm>
            <a:off x="711200" y="1524000"/>
            <a:ext cx="53848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5000"/>
              </a:lnSpc>
            </a:pPr>
            <a:r>
              <a:rPr lang="en-US" sz="1050">
                <a:solidFill>
                  <a:srgbClr val="454A51"/>
                </a:solidFill>
                <a:latin typeface="MiSans"/>
                <a:ea typeface="MiSans"/>
              </a:rPr>
              <a:t>Onde o pixelDojo gamifica a </a:t>
            </a:r>
            <a:r>
              <a:rPr lang="en-US" sz="1050" b="1">
                <a:solidFill>
                  <a:srgbClr val="454A51"/>
                </a:solidFill>
                <a:latin typeface="MiSans"/>
                <a:ea typeface="MiSans"/>
              </a:rPr>
              <a:t>regra</a:t>
            </a:r>
            <a:r>
              <a:rPr lang="en-US" sz="1050">
                <a:solidFill>
                  <a:srgbClr val="454A51"/>
                </a:solidFill>
                <a:latin typeface="MiSans"/>
                <a:ea typeface="MiSans"/>
              </a:rPr>
              <a:t> ("gaste um token por request"), o voxelDojo torna a </a:t>
            </a:r>
            <a:r>
              <a:rPr lang="en-US" sz="1050" b="1">
                <a:solidFill>
                  <a:srgbClr val="454A51"/>
                </a:solidFill>
                <a:latin typeface="MiSans"/>
                <a:ea typeface="MiSans"/>
              </a:rPr>
              <a:t>estrutura</a:t>
            </a:r>
            <a:r>
              <a:rPr lang="en-US" sz="1050">
                <a:solidFill>
                  <a:srgbClr val="454A51"/>
                </a:solidFill>
                <a:latin typeface="MiSans"/>
                <a:ea typeface="MiSans"/>
              </a:rPr>
              <a:t> tangível ("veja as chaves migrarem quando um nó sai do anel"). 16 pacotes game-*; 15 de 18 conceitos espaciais implementados.</a:t>
            </a:r>
            <a:endParaRPr lang="en-US" sz="1050"/>
          </a:p>
        </p:txBody>
      </p:sp>
      <p:sp>
        <p:nvSpPr>
          <p:cNvPr id="6" name="lay1"/>
          <p:cNvSpPr/>
          <p:nvPr/>
        </p:nvSpPr>
        <p:spPr>
          <a:xfrm>
            <a:off x="711200" y="2311400"/>
            <a:ext cx="2540000" cy="990600"/>
          </a:xfrm>
          <a:prstGeom prst="rect">
            <a:avLst/>
          </a:prstGeom>
          <a:solidFill>
            <a:srgbClr val="F8EAE1"/>
          </a:solidFill>
          <a:ln w="19050">
            <a:solidFill>
              <a:srgbClr val="BC5327"/>
            </a:solidFill>
          </a:ln>
        </p:spPr>
      </p:sp>
      <p:sp>
        <p:nvSpPr>
          <p:cNvPr id="7" name="lay1-t"/>
          <p:cNvSpPr txBox="1"/>
          <p:nvPr/>
        </p:nvSpPr>
        <p:spPr>
          <a:xfrm>
            <a:off x="838200" y="2374900"/>
            <a:ext cx="22860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950" b="1">
                <a:solidFill>
                  <a:srgbClr val="96401E"/>
                </a:solidFill>
                <a:latin typeface="MiSans"/>
                <a:ea typeface="MiSans"/>
              </a:rPr>
              <a:t>src/sim/</a:t>
            </a:r>
            <a:endParaRPr lang="en-US" sz="1600"/>
          </a:p>
          <a:p>
            <a:pPr algn="l">
              <a:lnSpc>
                <a:spcPct val="120000"/>
              </a:lnSpc>
            </a:pPr>
            <a:r>
              <a:rPr lang="en-US" sz="800">
                <a:solidFill>
                  <a:srgbClr val="454A51"/>
                </a:solidFill>
                <a:latin typeface="MiSans"/>
                <a:ea typeface="MiSans"/>
              </a:rPr>
              <a:t>núcleo determinístico TS puro — sem three, sem DOM; clock e RNG injetados</a:t>
            </a:r>
            <a:endParaRPr lang="en-US" sz="1600"/>
          </a:p>
        </p:txBody>
      </p:sp>
      <p:sp>
        <p:nvSpPr>
          <p:cNvPr id="8" name="lay2"/>
          <p:cNvSpPr/>
          <p:nvPr/>
        </p:nvSpPr>
        <p:spPr>
          <a:xfrm>
            <a:off x="711200" y="3403600"/>
            <a:ext cx="2540000" cy="787400"/>
          </a:xfrm>
          <a:prstGeom prst="rect">
            <a:avLst/>
          </a:prstGeom>
          <a:solidFill>
            <a:srgbClr val="EDF1F5"/>
          </a:solidFill>
          <a:ln w="12700">
            <a:solidFill>
              <a:srgbClr val="33506B"/>
            </a:solidFill>
          </a:ln>
        </p:spPr>
      </p:sp>
      <p:sp>
        <p:nvSpPr>
          <p:cNvPr id="9" name="lay2-t"/>
          <p:cNvSpPr txBox="1"/>
          <p:nvPr/>
        </p:nvSpPr>
        <p:spPr>
          <a:xfrm>
            <a:off x="838200" y="3467100"/>
            <a:ext cx="2286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950" b="1">
                <a:solidFill>
                  <a:srgbClr val="24405A"/>
                </a:solidFill>
                <a:latin typeface="MiSans"/>
                <a:ea typeface="MiSans"/>
              </a:rPr>
              <a:t>src/game/</a:t>
            </a:r>
            <a:endParaRPr lang="en-US" sz="1600"/>
          </a:p>
          <a:p>
            <a:pPr algn="l">
              <a:lnSpc>
                <a:spcPct val="120000"/>
              </a:lnSpc>
            </a:pPr>
            <a:r>
              <a:rPr lang="en-US" sz="800">
                <a:solidFill>
                  <a:srgbClr val="8B9199"/>
                </a:solidFill>
                <a:latin typeface="MiSans"/>
                <a:ea typeface="MiSans"/>
              </a:rPr>
              <a:t>controller / máquina de níveis (briefing→predicting→resolving)</a:t>
            </a:r>
            <a:endParaRPr lang="en-US" sz="1600"/>
          </a:p>
        </p:txBody>
      </p:sp>
      <p:sp>
        <p:nvSpPr>
          <p:cNvPr id="10" name="lay3"/>
          <p:cNvSpPr/>
          <p:nvPr/>
        </p:nvSpPr>
        <p:spPr>
          <a:xfrm>
            <a:off x="711200" y="4292600"/>
            <a:ext cx="2540000" cy="787400"/>
          </a:xfrm>
          <a:prstGeom prst="rect">
            <a:avLst/>
          </a:prstGeom>
          <a:solidFill>
            <a:srgbClr val="EDF1F5"/>
          </a:solidFill>
          <a:ln w="12700">
            <a:solidFill>
              <a:srgbClr val="33506B"/>
            </a:solidFill>
          </a:ln>
        </p:spPr>
      </p:sp>
      <p:sp>
        <p:nvSpPr>
          <p:cNvPr id="11" name="lay3-t"/>
          <p:cNvSpPr txBox="1"/>
          <p:nvPr/>
        </p:nvSpPr>
        <p:spPr>
          <a:xfrm>
            <a:off x="838200" y="4356100"/>
            <a:ext cx="2286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950" b="1">
                <a:solidFill>
                  <a:srgbClr val="24405A"/>
                </a:solidFill>
                <a:latin typeface="MiSans"/>
                <a:ea typeface="MiSans"/>
              </a:rPr>
              <a:t>src/scene/ + HUD</a:t>
            </a:r>
            <a:endParaRPr lang="en-US" sz="1600"/>
          </a:p>
          <a:p>
            <a:pPr algn="l">
              <a:lnSpc>
                <a:spcPct val="120000"/>
              </a:lnSpc>
            </a:pPr>
            <a:r>
              <a:rPr lang="en-US" sz="800">
                <a:solidFill>
                  <a:srgbClr val="8B9199"/>
                </a:solidFill>
                <a:latin typeface="MiSans"/>
                <a:ea typeface="MiSans"/>
              </a:rPr>
              <a:t>Three.js apenas projeta o estado do sim; input dispara comandos</a:t>
            </a:r>
            <a:endParaRPr lang="en-US" sz="1600"/>
          </a:p>
        </p:txBody>
      </p:sp>
      <p:sp>
        <p:nvSpPr>
          <p:cNvPr id="12" name="lay4"/>
          <p:cNvSpPr/>
          <p:nvPr/>
        </p:nvSpPr>
        <p:spPr>
          <a:xfrm>
            <a:off x="711200" y="5181600"/>
            <a:ext cx="2540000" cy="787400"/>
          </a:xfrm>
          <a:prstGeom prst="rect">
            <a:avLst/>
          </a:prstGeom>
          <a:solidFill>
            <a:srgbClr val="F7F5F0"/>
          </a:solidFill>
          <a:ln w="12700">
            <a:solidFill>
              <a:srgbClr val="8B9199"/>
            </a:solidFill>
            <a:prstDash val="dash"/>
          </a:ln>
        </p:spPr>
      </p:sp>
      <p:sp>
        <p:nvSpPr>
          <p:cNvPr id="13" name="lay4-t"/>
          <p:cNvSpPr txBox="1"/>
          <p:nvPr/>
        </p:nvSpPr>
        <p:spPr>
          <a:xfrm>
            <a:off x="838200" y="5245100"/>
            <a:ext cx="2286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950" b="1">
                <a:solidFill>
                  <a:srgbClr val="1B1E23"/>
                </a:solidFill>
                <a:latin typeface="MiSans"/>
                <a:ea typeface="MiSans"/>
              </a:rPr>
              <a:t>src/content/</a:t>
            </a:r>
            <a:endParaRPr lang="en-US" sz="1600"/>
          </a:p>
          <a:p>
            <a:pPr algn="l">
              <a:lnSpc>
                <a:spcPct val="120000"/>
              </a:lnSpc>
            </a:pPr>
            <a:r>
              <a:rPr lang="en-US" sz="800">
                <a:solidFill>
                  <a:srgbClr val="8B9199"/>
                </a:solidFill>
                <a:latin typeface="MiSans"/>
                <a:ea typeface="MiSans"/>
              </a:rPr>
              <a:t>packs data-only + reviewSlice.ts gerado (fan-out p/ 16 jogos)</a:t>
            </a:r>
            <a:endParaRPr lang="en-US" sz="1600"/>
          </a:p>
        </p:txBody>
      </p:sp>
      <p:sp>
        <p:nvSpPr>
          <p:cNvPr id="14" name="l-facts"/>
          <p:cNvSpPr txBox="1"/>
          <p:nvPr/>
        </p:nvSpPr>
        <p:spPr>
          <a:xfrm>
            <a:off x="3505200" y="2311400"/>
            <a:ext cx="2590800" cy="365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0000"/>
              </a:lnSpc>
            </a:pPr>
            <a:r>
              <a:rPr lang="en-US" sz="900" b="1">
                <a:solidFill>
                  <a:srgbClr val="1B1E23"/>
                </a:solidFill>
                <a:latin typeface="MiSans"/>
                <a:ea typeface="MiSans"/>
              </a:rPr>
              <a:t>Decisões-chave:</a:t>
            </a:r>
            <a:endParaRPr lang="en-US" sz="900"/>
          </a:p>
          <a:p>
            <a:pPr algn="l">
              <a:lnSpc>
                <a:spcPct val="140000"/>
              </a:lnSpc>
              <a:spcBef>
                <a:spcPts val="500"/>
              </a:spcBef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· Vitest prova a matemática do conceito </a:t>
            </a:r>
            <a:r>
              <a:rPr lang="en-US" sz="900" b="1">
                <a:solidFill>
                  <a:srgbClr val="8B9199"/>
                </a:solidFill>
                <a:latin typeface="MiSans"/>
                <a:ea typeface="MiSans"/>
              </a:rPr>
              <a:t>sem GPU</a:t>
            </a: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 — é o que torna "o jogo ensina" um claim evidenciado, não vibes;</a:t>
            </a:r>
            <a:endParaRPr lang="en-US" sz="900"/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· tentativas replayáveis (RNG seedado, clock injetado);</a:t>
            </a:r>
            <a:endParaRPr lang="en-US" sz="900"/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· </a:t>
            </a:r>
            <a:r>
              <a:rPr lang="en-US" sz="900" b="1">
                <a:solidFill>
                  <a:srgbClr val="8B9199"/>
                </a:solidFill>
                <a:latin typeface="MiSans"/>
                <a:ea typeface="MiSans"/>
              </a:rPr>
              <a:t>schema de evidência idêntico ao pixel-quest</a:t>
            </a: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, com source "voxeldojo" — um só caminho de ingestão, dois emissores;</a:t>
            </a:r>
            <a:endParaRPr lang="en-US" sz="900"/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· sceneHarness compartilhado: o bootstrap idêntico dos 16 jogos (main.ts de 30 linhas);</a:t>
            </a:r>
            <a:endParaRPr lang="en-US" sz="900"/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· assets procedurais low-poly (≤8 cores), sem GLTF.</a:t>
            </a:r>
            <a:endParaRPr lang="en-US" sz="900"/>
          </a:p>
        </p:txBody>
      </p:sp>
      <p:sp>
        <p:nvSpPr>
          <p:cNvPr id="15" name="hr-panel"/>
          <p:cNvSpPr/>
          <p:nvPr/>
        </p:nvSpPr>
        <p:spPr>
          <a:xfrm>
            <a:off x="6502400" y="1524000"/>
            <a:ext cx="49784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</a:ln>
        </p:spPr>
      </p:sp>
      <p:sp>
        <p:nvSpPr>
          <p:cNvPr id="16" name="hr-bar"/>
          <p:cNvSpPr/>
          <p:nvPr/>
        </p:nvSpPr>
        <p:spPr>
          <a:xfrm>
            <a:off x="6502400" y="1524000"/>
            <a:ext cx="4978400" cy="50800"/>
          </a:xfrm>
          <a:prstGeom prst="rect">
            <a:avLst/>
          </a:prstGeom>
          <a:solidFill>
            <a:srgbClr val="BC5327"/>
          </a:solidFill>
          <a:ln>
            <a:noFill/>
          </a:ln>
        </p:spPr>
      </p:sp>
      <p:sp>
        <p:nvSpPr>
          <p:cNvPr id="17" name="hr-head"/>
          <p:cNvSpPr txBox="1"/>
          <p:nvPr/>
        </p:nvSpPr>
        <p:spPr>
          <a:xfrm>
            <a:off x="6680200" y="17018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000" b="1" spc="120" kern="0">
                <a:solidFill>
                  <a:srgbClr val="1B1E23"/>
                </a:solidFill>
                <a:latin typeface="MiSans"/>
                <a:ea typeface="MiSans"/>
              </a:rPr>
              <a:t>PACOTE DE REFERÊNCIA: game-10-hash-ring</a:t>
            </a:r>
            <a:endParaRPr lang="en-US" sz="1000"/>
          </a:p>
        </p:txBody>
      </p:sp>
      <p:sp>
        <p:nvSpPr>
          <p:cNvPr id="18" name="hr-body"/>
          <p:cNvSpPr txBox="1"/>
          <p:nvPr/>
        </p:nvSpPr>
        <p:spPr>
          <a:xfrm>
            <a:off x="6680200" y="1981200"/>
            <a:ext cx="46228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5000"/>
              </a:lnSpc>
            </a:pPr>
            <a:r>
              <a:rPr lang="en-US" sz="950">
                <a:solidFill>
                  <a:srgbClr val="454A51"/>
                </a:solidFill>
                <a:latin typeface="MiSans"/>
                <a:ea typeface="MiSans"/>
              </a:rPr>
              <a:t>Ensina </a:t>
            </a:r>
            <a:r>
              <a:rPr lang="en-US" sz="950" b="1">
                <a:solidFill>
                  <a:srgbClr val="454A51"/>
                </a:solidFill>
                <a:latin typeface="MiSans"/>
                <a:ea typeface="MiSans"/>
              </a:rPr>
              <a:t>hashing consistente + rebalanceamento</a:t>
            </a:r>
            <a:r>
              <a:rPr lang="en-US" sz="950">
                <a:solidFill>
                  <a:srgbClr val="454A51"/>
                </a:solidFill>
                <a:latin typeface="MiSans"/>
                <a:ea typeface="MiSans"/>
              </a:rPr>
              <a:t> (projeto 10, unidade U9) em 4 níveis: L1 predizer o dono da chave · L2 predizer quem perde mais chaves num join (pass exige moved_ratio ≤ teórico × 1,75) · L3 dial de vnodes para corrigir skew · L4 contraste consistent-hashing (0,2) vs módulo (0,8).</a:t>
            </a:r>
            <a:endParaRPr lang="en-US" sz="950"/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lang="en-US" sz="950">
                <a:solidFill>
                  <a:srgbClr val="454A51"/>
                </a:solidFill>
                <a:latin typeface="MiSans"/>
                <a:ea typeface="MiSans"/>
              </a:rPr>
              <a:t>Sim com busca binária, vnodes por estação, bound teórico de chaves movidas — </a:t>
            </a:r>
            <a:r>
              <a:rPr lang="en-US" sz="950" b="1">
                <a:solidFill>
                  <a:srgbClr val="454A51"/>
                </a:solidFill>
                <a:latin typeface="MiSans"/>
                <a:ea typeface="MiSans"/>
              </a:rPr>
              <a:t>19 testes Vitest</a:t>
            </a:r>
            <a:r>
              <a:rPr lang="en-US" sz="950">
                <a:solidFill>
                  <a:srgbClr val="454A51"/>
                </a:solidFill>
                <a:latin typeface="MiSans"/>
                <a:ea typeface="MiSans"/>
              </a:rPr>
              <a:t> (determinismo por seed, wrap-around, edge cases).</a:t>
            </a:r>
            <a:endParaRPr lang="en-US" sz="950"/>
          </a:p>
        </p:txBody>
      </p:sp>
      <p:sp>
        <p:nvSpPr>
          <p:cNvPr id="19" name="hr-bug"/>
          <p:cNvSpPr txBox="1"/>
          <p:nvPr/>
        </p:nvSpPr>
        <p:spPr>
          <a:xfrm>
            <a:off x="6680200" y="3708400"/>
            <a:ext cx="46228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0000"/>
              </a:lnSpc>
            </a:pPr>
            <a:r>
              <a:rPr lang="en-US" sz="900" b="1">
                <a:solidFill>
                  <a:srgbClr val="B4443C"/>
                </a:solidFill>
                <a:latin typeface="MiSans"/>
                <a:ea typeface="MiSans"/>
              </a:rPr>
              <a:t>O bug que tornava a lição falsa:</a:t>
            </a:r>
            <a:r>
              <a:rPr lang="en-US" sz="900">
                <a:solidFill>
                  <a:srgbClr val="454A51"/>
                </a:solidFill>
                <a:latin typeface="MiSans"/>
                <a:ea typeface="MiSans"/>
              </a:rPr>
              <a:t> FNV-1a puro tinha avalanche fraca → moved-ratio medido ~0,30 vs teórico 0,20. O fix (fmix32, finalizador murmur3) está pinado por testes e registrado no GAP_ANALYSIS — </a:t>
            </a:r>
            <a:r>
              <a:rPr lang="en-US" sz="900" b="1">
                <a:solidFill>
                  <a:srgbClr val="454A51"/>
                </a:solidFill>
                <a:latin typeface="MiSans"/>
                <a:ea typeface="MiSans"/>
              </a:rPr>
              <a:t>a matemática da lição precisa ser verdadeira</a:t>
            </a:r>
            <a:r>
              <a:rPr lang="en-US" sz="900">
                <a:solidFill>
                  <a:srgbClr val="454A51"/>
                </a:solidFill>
                <a:latin typeface="MiSans"/>
                <a:ea typeface="MiSans"/>
              </a:rPr>
              <a:t>.</a:t>
            </a:r>
            <a:endParaRPr lang="en-US" sz="900"/>
          </a:p>
        </p:txBody>
      </p:sp>
      <p:sp>
        <p:nvSpPr>
          <p:cNvPr id="20" name="bottom"/>
          <p:cNvSpPr txBox="1"/>
          <p:nvPr/>
        </p:nvSpPr>
        <p:spPr>
          <a:xfrm>
            <a:off x="6502400" y="4927600"/>
            <a:ext cx="49784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0000"/>
              </a:lnSpc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Smoke Playwright joga L1 via hook determinístico window.__hashRing.game e verifica 1 registro EVIDENCE com scenario_id "hash-ring-L1" e pass: true — mais prova de que o canvas é WebGL real.</a:t>
            </a:r>
            <a:endParaRPr lang="en-US" sz="900"/>
          </a:p>
        </p:txBody>
      </p:sp>
      <p:sp>
        <p:nvSpPr>
          <p:cNvPr id="21" name="footer-lin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E3E6EA"/>
          </a:solidFill>
          <a:ln>
            <a:noFill/>
          </a:ln>
        </p:spPr>
      </p:sp>
      <p:sp>
        <p:nvSpPr>
          <p:cNvPr id="22" name="footer-left"/>
          <p:cNvSpPr txBox="1"/>
          <p:nvPr/>
        </p:nvSpPr>
        <p:spPr>
          <a:xfrm>
            <a:off x="711200" y="6553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35000"/>
              </a:lnSpc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AI DEVSCHOOL — COMO FUNCIONA</a:t>
            </a:r>
            <a:endParaRPr lang="en-US" sz="900"/>
          </a:p>
        </p:txBody>
      </p:sp>
      <p:sp>
        <p:nvSpPr>
          <p:cNvPr id="23" name="footer-page"/>
          <p:cNvSpPr txBox="1"/>
          <p:nvPr/>
        </p:nvSpPr>
        <p:spPr>
          <a:xfrm>
            <a:off x="10414000" y="6553200"/>
            <a:ext cx="106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35000"/>
              </a:lnSpc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19</a:t>
            </a:r>
            <a:endParaRPr lang="en-US" sz="90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 b="1" spc="250" kern="0">
                <a:solidFill>
                  <a:srgbClr val="BC5327"/>
                </a:solidFill>
                <a:latin typeface="MiSans"/>
                <a:ea typeface="MiSans"/>
              </a:rPr>
              <a:t>19 · SUPERFÍCIES DE INTERFACE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11200" y="7112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15000"/>
              </a:lnSpc>
            </a:pPr>
            <a:r>
              <a:rPr lang="en-US" sz="2600" b="1">
                <a:solidFill>
                  <a:srgbClr val="1B1E23"/>
                </a:solidFill>
                <a:latin typeface="MiSans"/>
                <a:ea typeface="MiSans"/>
              </a:rPr>
              <a:t>Dois dashboards, zero autoridade sobre mastery</a:t>
            </a:r>
            <a:endParaRPr lang="en-US" sz="2600"/>
          </a:p>
        </p:txBody>
      </p:sp>
      <p:sp>
        <p:nvSpPr>
          <p:cNvPr id="4" name="title-rule"/>
          <p:cNvSpPr/>
          <p:nvPr/>
        </p:nvSpPr>
        <p:spPr>
          <a:xfrm>
            <a:off x="711200" y="1295400"/>
            <a:ext cx="711200" cy="38100"/>
          </a:xfrm>
          <a:prstGeom prst="rect">
            <a:avLst/>
          </a:prstGeom>
          <a:solidFill>
            <a:srgbClr val="BC5327"/>
          </a:solidFill>
          <a:ln>
            <a:noFill/>
          </a:ln>
        </p:spPr>
      </p:sp>
      <p:sp>
        <p:nvSpPr>
          <p:cNvPr id="5" name="cd-head"/>
          <p:cNvSpPr txBox="1"/>
          <p:nvPr/>
        </p:nvSpPr>
        <p:spPr>
          <a:xfrm>
            <a:off x="711200" y="1549400"/>
            <a:ext cx="533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 b="1">
                <a:solidFill>
                  <a:srgbClr val="24405A"/>
                </a:solidFill>
                <a:latin typeface="MiSans"/>
                <a:ea typeface="MiSans"/>
              </a:rPr>
              <a:t>codexDojo — painel operacional</a:t>
            </a:r>
            <a:endParaRPr lang="en-US" sz="1100"/>
          </a:p>
        </p:txBody>
      </p:sp>
      <p:sp>
        <p:nvSpPr>
          <p:cNvPr id="6" name="cd-sub"/>
          <p:cNvSpPr txBox="1"/>
          <p:nvPr/>
        </p:nvSpPr>
        <p:spPr>
          <a:xfrm>
            <a:off x="711200" y="1778000"/>
            <a:ext cx="533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850">
                <a:solidFill>
                  <a:srgbClr val="8B9199"/>
                </a:solidFill>
                <a:latin typeface="MiSans"/>
                <a:ea typeface="MiSans"/>
              </a:rPr>
              <a:t>Vite 7 + TS estrito, zero deps de runtime (DOM vanilla) · pnpm</a:t>
            </a:r>
            <a:endParaRPr lang="en-US" sz="850"/>
          </a:p>
        </p:txBody>
      </p:sp>
      <p:sp>
        <p:nvSpPr>
          <p:cNvPr id="7" name="cd-body"/>
          <p:cNvSpPr txBox="1"/>
          <p:nvPr/>
        </p:nvSpPr>
        <p:spPr>
          <a:xfrm>
            <a:off x="711200" y="2082800"/>
            <a:ext cx="5334000" cy="200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5000"/>
              </a:lnSpc>
            </a:pPr>
            <a:r>
              <a:rPr lang="en-US" sz="1000">
                <a:solidFill>
                  <a:srgbClr val="454A51"/>
                </a:solidFill>
                <a:latin typeface="MiSans"/>
                <a:ea typeface="MiSans"/>
              </a:rPr>
              <a:t>· </a:t>
            </a:r>
            <a:r>
              <a:rPr lang="en-US" sz="1000" b="1">
                <a:solidFill>
                  <a:srgbClr val="454A51"/>
                </a:solidFill>
                <a:latin typeface="MiSans"/>
                <a:ea typeface="MiSans"/>
              </a:rPr>
              <a:t>Loop unidirecional estilo Elm</a:t>
            </a:r>
            <a:r>
              <a:rPr lang="en-US" sz="1000">
                <a:solidFill>
                  <a:srgbClr val="454A51"/>
                </a:solidFill>
                <a:latin typeface="MiSans"/>
                <a:ea typeface="MiSans"/>
              </a:rPr>
              <a:t>: mountCodexDojo → buildInitialState → reduceState (puro, com assertNever) → render por views puras; um único listener delegado mapeia data-* → ações;</a:t>
            </a:r>
            <a:endParaRPr lang="en-US" sz="1000"/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lang="en-US" sz="1000">
                <a:solidFill>
                  <a:srgbClr val="454A51"/>
                </a:solidFill>
                <a:latin typeface="MiSans"/>
                <a:ea typeface="MiSans"/>
              </a:rPr>
              <a:t>· </a:t>
            </a:r>
            <a:r>
              <a:rPr lang="en-US" sz="1000" b="1">
                <a:solidFill>
                  <a:srgbClr val="454A51"/>
                </a:solidFill>
                <a:latin typeface="MiSans"/>
                <a:ea typeface="MiSans"/>
              </a:rPr>
              <a:t>Query seams</a:t>
            </a:r>
            <a:r>
              <a:rPr lang="en-US" sz="1000">
                <a:solidFill>
                  <a:srgbClr val="454A51"/>
                </a:solidFill>
                <a:latin typeface="MiSans"/>
                <a:ea typeface="MiSans"/>
              </a:rPr>
              <a:t> (getAgents/getLearnerSnapshot…): render nunca importa data/* direto — a fonte pode mudar sem reescrever views;</a:t>
            </a:r>
            <a:endParaRPr lang="en-US" sz="1000"/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lang="en-US" sz="1000">
                <a:solidFill>
                  <a:srgbClr val="454A51"/>
                </a:solidFill>
                <a:latin typeface="MiSans"/>
                <a:ea typeface="MiSans"/>
              </a:rPr>
              <a:t>· consome </a:t>
            </a:r>
            <a:r>
              <a:rPr lang="en-US" sz="1000" b="1">
                <a:solidFill>
                  <a:srgbClr val="454A51"/>
                </a:solidFill>
                <a:latin typeface="MiSans"/>
                <a:ea typeface="MiSans"/>
              </a:rPr>
              <a:t>learner.ts gerado pelo substrate</a:t>
            </a:r>
            <a:r>
              <a:rPr lang="en-US" sz="1000">
                <a:solidFill>
                  <a:srgbClr val="454A51"/>
                </a:solidFill>
                <a:latin typeface="MiSans"/>
                <a:ea typeface="MiSans"/>
              </a:rPr>
              <a:t> (unidade ativa, gate, Dreyfus×Bloom, AIDI com semáforo, pitfalls, revisões, streak);</a:t>
            </a:r>
            <a:endParaRPr lang="en-US" sz="1000"/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lang="en-US" sz="1000">
                <a:solidFill>
                  <a:srgbClr val="454A51"/>
                </a:solidFill>
                <a:latin typeface="MiSans"/>
                <a:ea typeface="MiSans"/>
              </a:rPr>
              <a:t>· Linux Lab compacto + ponte configurável para o OS; ecosystem/MANIFEST.md mapeia requisito → arquivo.</a:t>
            </a:r>
            <a:endParaRPr lang="en-US" sz="1000"/>
          </a:p>
        </p:txBody>
      </p:sp>
      <p:sp>
        <p:nvSpPr>
          <p:cNvPr id="8" name="os-head"/>
          <p:cNvSpPr txBox="1"/>
          <p:nvPr/>
        </p:nvSpPr>
        <p:spPr>
          <a:xfrm>
            <a:off x="6553200" y="1549400"/>
            <a:ext cx="4927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 b="1">
                <a:solidFill>
                  <a:srgbClr val="24405A"/>
                </a:solidFill>
                <a:latin typeface="MiSans"/>
                <a:ea typeface="MiSans"/>
              </a:rPr>
              <a:t>codexdojo-os-prototype — OS educacional canônico</a:t>
            </a:r>
            <a:endParaRPr lang="en-US" sz="1100"/>
          </a:p>
        </p:txBody>
      </p:sp>
      <p:sp>
        <p:nvSpPr>
          <p:cNvPr id="9" name="os-sub"/>
          <p:cNvSpPr txBox="1"/>
          <p:nvPr/>
        </p:nvSpPr>
        <p:spPr>
          <a:xfrm>
            <a:off x="6553200" y="1778000"/>
            <a:ext cx="4927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850">
                <a:solidFill>
                  <a:srgbClr val="8B9199"/>
                </a:solidFill>
                <a:latin typeface="MiSans"/>
                <a:ea typeface="MiSans"/>
              </a:rPr>
              <a:t>React 19 + Vite 8 · npm · Playwright em 4 webServers × 3 viewports</a:t>
            </a:r>
            <a:endParaRPr lang="en-US" sz="850"/>
          </a:p>
        </p:txBody>
      </p:sp>
      <p:sp>
        <p:nvSpPr>
          <p:cNvPr id="10" name="os-body"/>
          <p:cNvSpPr txBox="1"/>
          <p:nvPr/>
        </p:nvSpPr>
        <p:spPr>
          <a:xfrm>
            <a:off x="6553200" y="2082800"/>
            <a:ext cx="4927600" cy="200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5000"/>
              </a:lnSpc>
            </a:pPr>
            <a:r>
              <a:rPr lang="en-US" sz="1000">
                <a:solidFill>
                  <a:srgbClr val="454A51"/>
                </a:solidFill>
                <a:latin typeface="MiSans"/>
                <a:ea typeface="MiSans"/>
              </a:rPr>
              <a:t>· Desktop Linux fictício: TopBar (streak/dominadas do snapshot), Dock, janelas, launcher, catálogo de 50+ apps com maturidade explícita;</a:t>
            </a:r>
            <a:endParaRPr lang="en-US" sz="1000"/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lang="en-US" sz="1000">
                <a:solidFill>
                  <a:srgbClr val="454A51"/>
                </a:solidFill>
                <a:latin typeface="MiSans"/>
                <a:ea typeface="MiSans"/>
              </a:rPr>
              <a:t>· </a:t>
            </a:r>
            <a:r>
              <a:rPr lang="en-US" sz="1000" b="1">
                <a:solidFill>
                  <a:srgbClr val="454A51"/>
                </a:solidFill>
                <a:latin typeface="MiSans"/>
                <a:ea typeface="MiSans"/>
              </a:rPr>
              <a:t>Engine Hub</a:t>
            </a:r>
            <a:r>
              <a:rPr lang="en-US" sz="1000">
                <a:solidFill>
                  <a:srgbClr val="454A51"/>
                </a:solidFill>
                <a:latin typeface="MiSans"/>
                <a:ea typeface="MiSans"/>
              </a:rPr>
              <a:t>: 6 engines registrados, cada um com learnerAccess tipado e </a:t>
            </a:r>
            <a:r>
              <a:rPr lang="en-US" sz="1000" b="1">
                <a:solidFill>
                  <a:srgbClr val="454A51"/>
                </a:solidFill>
                <a:latin typeface="MiSans"/>
                <a:ea typeface="MiSans"/>
              </a:rPr>
              <a:t>masteryAuthority: 'never'</a:t>
            </a:r>
            <a:r>
              <a:rPr lang="en-US" sz="1000">
                <a:solidFill>
                  <a:srgbClr val="454A51"/>
                </a:solidFill>
                <a:latin typeface="MiSans"/>
                <a:ea typeface="MiSans"/>
              </a:rPr>
              <a:t> — a impossibilidade de conceder domínio é enforced pelo compilador;</a:t>
            </a:r>
            <a:endParaRPr lang="en-US" sz="1000"/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lang="en-US" sz="1000">
                <a:solidFill>
                  <a:srgbClr val="454A51"/>
                </a:solidFill>
                <a:latin typeface="MiSans"/>
                <a:ea typeface="MiSans"/>
              </a:rPr>
              <a:t>· </a:t>
            </a:r>
            <a:r>
              <a:rPr lang="en-US" sz="1000" b="1">
                <a:solidFill>
                  <a:srgbClr val="454A51"/>
                </a:solidFill>
                <a:latin typeface="MiSans"/>
                <a:ea typeface="MiSans"/>
              </a:rPr>
              <a:t>bridge local</a:t>
            </a:r>
            <a:r>
              <a:rPr lang="en-US" sz="1000">
                <a:solidFill>
                  <a:srgbClr val="454A51"/>
                </a:solidFill>
                <a:latin typeface="MiSans"/>
                <a:ea typeface="MiSans"/>
              </a:rPr>
              <a:t> (só dev): loopback + token por processo + allowlist fechada de 3 ações argv-fixas — "callers cannot supply paths or commands";</a:t>
            </a:r>
            <a:endParaRPr lang="en-US" sz="1000"/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lang="en-US" sz="1000">
                <a:solidFill>
                  <a:srgbClr val="454A51"/>
                </a:solidFill>
                <a:latin typeface="MiSans"/>
                <a:ea typeface="MiSans"/>
              </a:rPr>
              <a:t>· missões, terminal e mentor são </a:t>
            </a:r>
            <a:r>
              <a:rPr lang="en-US" sz="1000" b="1">
                <a:solidFill>
                  <a:srgbClr val="454A51"/>
                </a:solidFill>
                <a:latin typeface="MiSans"/>
                <a:ea typeface="MiSans"/>
              </a:rPr>
              <a:t>estado local de UI</a:t>
            </a:r>
            <a:r>
              <a:rPr lang="en-US" sz="1000">
                <a:solidFill>
                  <a:srgbClr val="454A51"/>
                </a:solidFill>
                <a:latin typeface="MiSans"/>
                <a:ea typeface="MiSans"/>
              </a:rPr>
              <a:t> — demonstrativos, nunca canônicos.</a:t>
            </a:r>
            <a:endParaRPr lang="en-US" sz="1000"/>
          </a:p>
        </p:txBody>
      </p:sp>
      <p:sp>
        <p:nvSpPr>
          <p:cNvPr id="11" name="g-head"/>
          <p:cNvSpPr txBox="1"/>
          <p:nvPr/>
        </p:nvSpPr>
        <p:spPr>
          <a:xfrm>
            <a:off x="711200" y="43180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050" b="1" spc="120" kern="0">
                <a:solidFill>
                  <a:srgbClr val="1B1E23"/>
                </a:solidFill>
                <a:latin typeface="MiSans"/>
                <a:ea typeface="MiSans"/>
              </a:rPr>
              <a:t>POR QUE NUNCA MARCAM MASTERY — 5 GARANTIAS EM CAMADAS</a:t>
            </a:r>
            <a:endParaRPr lang="en-US" sz="1050"/>
          </a:p>
        </p:txBody>
      </p:sp>
      <p:sp>
        <p:nvSpPr>
          <p:cNvPr id="12" name="g-rule"/>
          <p:cNvSpPr/>
          <p:nvPr>
            <p:extLst>
              <p:ext uri="{F5677B7D-0D2A-4D9B-9A5C-6D8D7D0E5A5D}">
                <pptd:line encoding="base64url">eyJjdXJ2ZSI6InJvdW5kIiwicG9pbnRzIjoiMCwxIDg0OCwxIiwidmlld0JveCI6Wzg0OCwyXX0</pptd:line>
              </p:ext>
            </p:extLst>
          </p:nvPr>
        </p:nvSpPr>
        <p:spPr>
          <a:xfrm>
            <a:off x="711200" y="4572000"/>
            <a:ext cx="10769600" cy="25400"/>
          </a:xfrm>
          <a:custGeom>
            <a:avLst/>
            <a:gdLst/>
            <a:ahLst/>
            <a:cxnLst/>
            <a:rect l="l" t="t" r="r" b="b"/>
            <a:pathLst>
              <a:path w="848" h="2">
                <a:moveTo>
                  <a:pt x="0" y="1"/>
                </a:moveTo>
                <a:lnTo>
                  <a:pt x="848" y="1"/>
                </a:lnTo>
              </a:path>
            </a:pathLst>
          </a:custGeom>
          <a:noFill/>
          <a:ln w="12700" cap="rnd">
            <a:solidFill>
              <a:srgbClr val="E3E6EA"/>
            </a:solidFill>
            <a:round/>
          </a:ln>
        </p:spPr>
      </p:sp>
      <p:sp>
        <p:nvSpPr>
          <p:cNvPr id="13" name="g1"/>
          <p:cNvSpPr txBox="1"/>
          <p:nvPr/>
        </p:nvSpPr>
        <p:spPr>
          <a:xfrm>
            <a:off x="711200" y="4724400"/>
            <a:ext cx="2006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0000"/>
              </a:lnSpc>
            </a:pPr>
            <a:r>
              <a:rPr lang="en-US" sz="900" b="1">
                <a:solidFill>
                  <a:srgbClr val="96401E"/>
                </a:solidFill>
                <a:latin typeface="MiSans"/>
                <a:ea typeface="MiSans"/>
              </a:rPr>
              <a:t>1 · Contrato de repo</a:t>
            </a:r>
            <a:endParaRPr lang="en-US" sz="900"/>
          </a:p>
          <a:p>
            <a:pPr algn="l">
              <a:lnSpc>
                <a:spcPct val="140000"/>
              </a:lnSpc>
              <a:spcBef>
                <a:spcPts val="300"/>
              </a:spcBef>
            </a:pPr>
            <a:r>
              <a:rPr lang="en-US" sz="900">
                <a:solidFill>
                  <a:srgbClr val="454A51"/>
                </a:solidFill>
                <a:latin typeface="MiSans"/>
                <a:ea typeface="MiSans"/>
              </a:rPr>
              <a:t>mastery exige tentativa + avaliação executável; produtor não verifica o próprio trabalho</a:t>
            </a:r>
            <a:endParaRPr lang="en-US" sz="900"/>
          </a:p>
        </p:txBody>
      </p:sp>
      <p:sp>
        <p:nvSpPr>
          <p:cNvPr id="14" name="g2"/>
          <p:cNvSpPr txBox="1"/>
          <p:nvPr/>
        </p:nvSpPr>
        <p:spPr>
          <a:xfrm>
            <a:off x="2870200" y="4724400"/>
            <a:ext cx="2006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0000"/>
              </a:lnSpc>
            </a:pPr>
            <a:r>
              <a:rPr lang="en-US" sz="900" b="1">
                <a:solidFill>
                  <a:srgbClr val="96401E"/>
                </a:solidFill>
                <a:latin typeface="MiSans"/>
                <a:ea typeface="MiSans"/>
              </a:rPr>
              <a:t>2 · Docs de engine</a:t>
            </a:r>
            <a:endParaRPr lang="en-US" sz="900"/>
          </a:p>
          <a:p>
            <a:pPr algn="l">
              <a:lnSpc>
                <a:spcPct val="140000"/>
              </a:lnSpc>
              <a:spcBef>
                <a:spcPts val="300"/>
              </a:spcBef>
            </a:pPr>
            <a:r>
              <a:rPr lang="en-US" sz="900">
                <a:solidFill>
                  <a:srgbClr val="454A51"/>
                </a:solidFill>
                <a:latin typeface="MiSans"/>
                <a:ea typeface="MiSans"/>
              </a:rPr>
              <a:t>anti-padrões explícitos: "do not move learner state into this app"; proibido segundo learner store</a:t>
            </a:r>
            <a:endParaRPr lang="en-US" sz="900"/>
          </a:p>
        </p:txBody>
      </p:sp>
      <p:sp>
        <p:nvSpPr>
          <p:cNvPr id="15" name="g3"/>
          <p:cNvSpPr txBox="1"/>
          <p:nvPr/>
        </p:nvSpPr>
        <p:spPr>
          <a:xfrm>
            <a:off x="5029200" y="4724400"/>
            <a:ext cx="2006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0000"/>
              </a:lnSpc>
            </a:pPr>
            <a:r>
              <a:rPr lang="en-US" sz="900" b="1">
                <a:solidFill>
                  <a:srgbClr val="96401E"/>
                </a:solidFill>
                <a:latin typeface="MiSans"/>
                <a:ea typeface="MiSans"/>
              </a:rPr>
              <a:t>3 · Tipo</a:t>
            </a:r>
            <a:endParaRPr lang="en-US" sz="900"/>
          </a:p>
          <a:p>
            <a:pPr algn="l">
              <a:lnSpc>
                <a:spcPct val="140000"/>
              </a:lnSpc>
              <a:spcBef>
                <a:spcPts val="300"/>
              </a:spcBef>
            </a:pPr>
            <a:r>
              <a:rPr lang="en-US" sz="900">
                <a:solidFill>
                  <a:srgbClr val="454A51"/>
                </a:solidFill>
                <a:latin typeface="MiSans"/>
                <a:ea typeface="MiSans"/>
              </a:rPr>
              <a:t>masteryAuthority: 'never' é literal obrigatório no EngineDefinition — erro de compilação se ausente</a:t>
            </a:r>
            <a:endParaRPr lang="en-US" sz="900"/>
          </a:p>
        </p:txBody>
      </p:sp>
      <p:sp>
        <p:nvSpPr>
          <p:cNvPr id="16" name="g4"/>
          <p:cNvSpPr txBox="1"/>
          <p:nvPr/>
        </p:nvSpPr>
        <p:spPr>
          <a:xfrm>
            <a:off x="7188200" y="4724400"/>
            <a:ext cx="2006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0000"/>
              </a:lnSpc>
            </a:pPr>
            <a:r>
              <a:rPr lang="en-US" sz="900" b="1">
                <a:solidFill>
                  <a:srgbClr val="96401E"/>
                </a:solidFill>
                <a:latin typeface="MiSans"/>
                <a:ea typeface="MiSans"/>
              </a:rPr>
              <a:t>4 · Protocolo</a:t>
            </a:r>
            <a:endParaRPr lang="en-US" sz="900"/>
          </a:p>
          <a:p>
            <a:pPr algn="l">
              <a:lnSpc>
                <a:spcPct val="140000"/>
              </a:lnSpc>
              <a:spcBef>
                <a:spcPts val="300"/>
              </a:spcBef>
            </a:pPr>
            <a:r>
              <a:rPr lang="en-US" sz="900">
                <a:solidFill>
                  <a:srgbClr val="454A51"/>
                </a:solidFill>
                <a:latin typeface="MiSans"/>
                <a:ea typeface="MiSans"/>
              </a:rPr>
              <a:t>evidência de jogos só é aceita com verifier_required: true e rotulada "não verificada"; o Hub não persiste nada</a:t>
            </a:r>
            <a:endParaRPr lang="en-US" sz="900"/>
          </a:p>
        </p:txBody>
      </p:sp>
      <p:sp>
        <p:nvSpPr>
          <p:cNvPr id="17" name="g5"/>
          <p:cNvSpPr txBox="1"/>
          <p:nvPr/>
        </p:nvSpPr>
        <p:spPr>
          <a:xfrm>
            <a:off x="9347200" y="4724400"/>
            <a:ext cx="2133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0000"/>
              </a:lnSpc>
            </a:pPr>
            <a:r>
              <a:rPr lang="en-US" sz="900" b="1">
                <a:solidFill>
                  <a:srgbClr val="96401E"/>
                </a:solidFill>
                <a:latin typeface="MiSans"/>
                <a:ea typeface="MiSans"/>
              </a:rPr>
              <a:t>5 · Testes</a:t>
            </a:r>
            <a:endParaRPr lang="en-US" sz="900"/>
          </a:p>
          <a:p>
            <a:pPr algn="l">
              <a:lnSpc>
                <a:spcPct val="140000"/>
              </a:lnSpc>
              <a:spcBef>
                <a:spcPts val="300"/>
              </a:spcBef>
            </a:pPr>
            <a:r>
              <a:rPr lang="en-US" sz="900">
                <a:solidFill>
                  <a:srgbClr val="454A51"/>
                </a:solidFill>
                <a:latin typeface="MiSans"/>
                <a:ea typeface="MiSans"/>
              </a:rPr>
              <a:t>snapshot serializado antes/depois de interações prova imutabilidade; smoke tests assertam "cannot mark mastery" nos recibos</a:t>
            </a:r>
            <a:endParaRPr lang="en-US" sz="900"/>
          </a:p>
        </p:txBody>
      </p:sp>
      <p:sp>
        <p:nvSpPr>
          <p:cNvPr id="18" name="footer-lin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E3E6EA"/>
          </a:solidFill>
          <a:ln>
            <a:noFill/>
          </a:ln>
        </p:spPr>
      </p:sp>
      <p:sp>
        <p:nvSpPr>
          <p:cNvPr id="19" name="footer-left"/>
          <p:cNvSpPr txBox="1"/>
          <p:nvPr/>
        </p:nvSpPr>
        <p:spPr>
          <a:xfrm>
            <a:off x="711200" y="6553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35000"/>
              </a:lnSpc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AI DEVSCHOOL — COMO FUNCIONA</a:t>
            </a:r>
            <a:endParaRPr lang="en-US" sz="900"/>
          </a:p>
        </p:txBody>
      </p:sp>
      <p:sp>
        <p:nvSpPr>
          <p:cNvPr id="20" name="footer-page"/>
          <p:cNvSpPr txBox="1"/>
          <p:nvPr/>
        </p:nvSpPr>
        <p:spPr>
          <a:xfrm>
            <a:off x="10414000" y="6553200"/>
            <a:ext cx="106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35000"/>
              </a:lnSpc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20</a:t>
            </a:r>
            <a:endParaRPr lang="en-US" sz="900"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 b="1" spc="250" kern="0">
                <a:solidFill>
                  <a:srgbClr val="BC5327"/>
                </a:solidFill>
                <a:latin typeface="MiSans"/>
                <a:ea typeface="MiSans"/>
              </a:rPr>
              <a:t>20 · PONTA A PONTA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11200" y="7112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15000"/>
              </a:lnSpc>
            </a:pPr>
            <a:r>
              <a:rPr lang="en-US" sz="2600" b="1">
                <a:solidFill>
                  <a:srgbClr val="1B1E23"/>
                </a:solidFill>
                <a:latin typeface="MiSans"/>
                <a:ea typeface="MiSans"/>
              </a:rPr>
              <a:t>Uma unidade de aprendizado, do diagnóstico ao dominado</a:t>
            </a:r>
            <a:endParaRPr lang="en-US" sz="2600"/>
          </a:p>
        </p:txBody>
      </p:sp>
      <p:sp>
        <p:nvSpPr>
          <p:cNvPr id="4" name="title-rule"/>
          <p:cNvSpPr/>
          <p:nvPr/>
        </p:nvSpPr>
        <p:spPr>
          <a:xfrm>
            <a:off x="711200" y="1295400"/>
            <a:ext cx="711200" cy="38100"/>
          </a:xfrm>
          <a:prstGeom prst="rect">
            <a:avLst/>
          </a:prstGeom>
          <a:solidFill>
            <a:srgbClr val="BC5327"/>
          </a:solidFill>
          <a:ln>
            <a:noFill/>
          </a:ln>
        </p:spPr>
      </p:sp>
      <p:sp>
        <p:nvSpPr>
          <p:cNvPr id="5" name="s1"/>
          <p:cNvSpPr/>
          <p:nvPr/>
        </p:nvSpPr>
        <p:spPr>
          <a:xfrm>
            <a:off x="711200" y="1625600"/>
            <a:ext cx="2006600" cy="1473200"/>
          </a:xfrm>
          <a:prstGeom prst="rect">
            <a:avLst/>
          </a:prstGeom>
          <a:solidFill>
            <a:srgbClr val="EDF1F5"/>
          </a:solidFill>
          <a:ln w="12700">
            <a:solidFill>
              <a:srgbClr val="33506B"/>
            </a:solidFill>
          </a:ln>
        </p:spPr>
      </p:sp>
      <p:sp>
        <p:nvSpPr>
          <p:cNvPr id="6" name="s1-t"/>
          <p:cNvSpPr txBox="1"/>
          <p:nvPr/>
        </p:nvSpPr>
        <p:spPr>
          <a:xfrm>
            <a:off x="838200" y="1727200"/>
            <a:ext cx="17526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20000"/>
              </a:lnSpc>
            </a:pPr>
            <a:r>
              <a:rPr lang="en-US" sz="1300" b="1">
                <a:solidFill>
                  <a:srgbClr val="33506B"/>
                </a:solidFill>
                <a:latin typeface="MiSans"/>
                <a:ea typeface="MiSans"/>
              </a:rPr>
              <a:t>1</a:t>
            </a:r>
            <a:endParaRPr lang="en-US" sz="1600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950" b="1">
                <a:solidFill>
                  <a:srgbClr val="1B1E23"/>
                </a:solidFill>
                <a:latin typeface="MiSans"/>
                <a:ea typeface="MiSans"/>
              </a:rPr>
              <a:t>Cartógrafo seleciona a unidade</a:t>
            </a:r>
            <a:endParaRPr lang="en-US" sz="1600"/>
          </a:p>
          <a:p>
            <a:pPr algn="l">
              <a:lnSpc>
                <a:spcPct val="120000"/>
              </a:lnSpc>
            </a:pPr>
            <a:r>
              <a:rPr lang="en-US" sz="800">
                <a:solidFill>
                  <a:srgbClr val="8B9199"/>
                </a:solidFill>
                <a:latin typeface="MiSans"/>
                <a:ea typeface="MiSans"/>
              </a:rPr>
              <a:t>só por pré-requisito comprovado — nunca "do básico"</a:t>
            </a:r>
            <a:endParaRPr lang="en-US" sz="1600"/>
          </a:p>
        </p:txBody>
      </p:sp>
      <p:sp>
        <p:nvSpPr>
          <p:cNvPr id="7" name="a1"/>
          <p:cNvSpPr/>
          <p:nvPr>
            <p:extLst>
              <p:ext uri="{F5677B7D-0D2A-4D9B-9A5C-6D8D7D0E5A5D}">
                <pptd:line encoding="base64url">eyJjdXJ2ZSI6InJvdW5kIiwicG9pbnRzIjoiMCw3IDE2LDciLCJ2aWV3Qm94IjpbMTYsMTRdfQ</pptd:line>
              </p:ext>
            </p:extLst>
          </p:nvPr>
        </p:nvSpPr>
        <p:spPr>
          <a:xfrm>
            <a:off x="2717800" y="2260600"/>
            <a:ext cx="203200" cy="177800"/>
          </a:xfrm>
          <a:custGeom>
            <a:avLst/>
            <a:gdLst/>
            <a:ahLst/>
            <a:cxnLst/>
            <a:rect l="l" t="t" r="r" b="b"/>
            <a:pathLst>
              <a:path w="16" h="14">
                <a:moveTo>
                  <a:pt x="0" y="7"/>
                </a:moveTo>
                <a:lnTo>
                  <a:pt x="16" y="7"/>
                </a:lnTo>
              </a:path>
            </a:pathLst>
          </a:custGeom>
          <a:noFill/>
          <a:ln w="19050" cap="rnd">
            <a:solidFill>
              <a:srgbClr val="8B9199"/>
            </a:solidFill>
            <a:round/>
            <a:tailEnd type="stealth"/>
          </a:ln>
        </p:spPr>
      </p:sp>
      <p:sp>
        <p:nvSpPr>
          <p:cNvPr id="8" name="s2"/>
          <p:cNvSpPr/>
          <p:nvPr/>
        </p:nvSpPr>
        <p:spPr>
          <a:xfrm>
            <a:off x="2921000" y="1625600"/>
            <a:ext cx="2006600" cy="1473200"/>
          </a:xfrm>
          <a:prstGeom prst="rect">
            <a:avLst/>
          </a:prstGeom>
          <a:solidFill>
            <a:srgbClr val="EDF1F5"/>
          </a:solidFill>
          <a:ln w="12700">
            <a:solidFill>
              <a:srgbClr val="33506B"/>
            </a:solidFill>
          </a:ln>
        </p:spPr>
      </p:sp>
      <p:sp>
        <p:nvSpPr>
          <p:cNvPr id="9" name="s2-t"/>
          <p:cNvSpPr txBox="1"/>
          <p:nvPr/>
        </p:nvSpPr>
        <p:spPr>
          <a:xfrm>
            <a:off x="3048000" y="1727200"/>
            <a:ext cx="17526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20000"/>
              </a:lnSpc>
            </a:pPr>
            <a:r>
              <a:rPr lang="en-US" sz="1300" b="1">
                <a:solidFill>
                  <a:srgbClr val="33506B"/>
                </a:solidFill>
                <a:latin typeface="MiSans"/>
                <a:ea typeface="MiSans"/>
              </a:rPr>
              <a:t>2</a:t>
            </a:r>
            <a:endParaRPr lang="en-US" sz="1600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950" b="1">
                <a:solidFill>
                  <a:srgbClr val="1B1E23"/>
                </a:solidFill>
                <a:latin typeface="MiSans"/>
                <a:ea typeface="MiSans"/>
              </a:rPr>
              <a:t>Sonda apresenta o diagnóstico</a:t>
            </a:r>
            <a:endParaRPr lang="en-US" sz="1600"/>
          </a:p>
          <a:p>
            <a:pPr algn="l">
              <a:lnSpc>
                <a:spcPct val="120000"/>
              </a:lnSpc>
            </a:pPr>
            <a:r>
              <a:rPr lang="en-US" sz="800">
                <a:solidFill>
                  <a:srgbClr val="8B9199"/>
                </a:solidFill>
                <a:latin typeface="MiSans"/>
                <a:ea typeface="MiSans"/>
              </a:rPr>
              <a:t>estado: apresentando · Dreyfus × Bloom por conceito</a:t>
            </a:r>
            <a:endParaRPr lang="en-US" sz="1600"/>
          </a:p>
        </p:txBody>
      </p:sp>
      <p:sp>
        <p:nvSpPr>
          <p:cNvPr id="10" name="a2"/>
          <p:cNvSpPr/>
          <p:nvPr>
            <p:extLst>
              <p:ext uri="{F5677B7D-0D2A-4D9B-9A5C-6D8D7D0E5A5D}">
                <pptd:line encoding="base64url">eyJjdXJ2ZSI6InJvdW5kIiwicG9pbnRzIjoiMCw3IDE2LDciLCJ2aWV3Qm94IjpbMTYsMTRdfQ</pptd:line>
              </p:ext>
            </p:extLst>
          </p:nvPr>
        </p:nvSpPr>
        <p:spPr>
          <a:xfrm>
            <a:off x="4927600" y="2260600"/>
            <a:ext cx="203200" cy="177800"/>
          </a:xfrm>
          <a:custGeom>
            <a:avLst/>
            <a:gdLst/>
            <a:ahLst/>
            <a:cxnLst/>
            <a:rect l="l" t="t" r="r" b="b"/>
            <a:pathLst>
              <a:path w="16" h="14">
                <a:moveTo>
                  <a:pt x="0" y="7"/>
                </a:moveTo>
                <a:lnTo>
                  <a:pt x="16" y="7"/>
                </a:lnTo>
              </a:path>
            </a:pathLst>
          </a:custGeom>
          <a:noFill/>
          <a:ln w="19050" cap="rnd">
            <a:solidFill>
              <a:srgbClr val="8B9199"/>
            </a:solidFill>
            <a:round/>
            <a:tailEnd type="stealth"/>
          </a:ln>
        </p:spPr>
      </p:sp>
      <p:sp>
        <p:nvSpPr>
          <p:cNvPr id="11" name="s3"/>
          <p:cNvSpPr/>
          <p:nvPr/>
        </p:nvSpPr>
        <p:spPr>
          <a:xfrm>
            <a:off x="5130800" y="1625600"/>
            <a:ext cx="2006600" cy="1473200"/>
          </a:xfrm>
          <a:prstGeom prst="rect">
            <a:avLst/>
          </a:prstGeom>
          <a:solidFill>
            <a:srgbClr val="EDF1F5"/>
          </a:solidFill>
          <a:ln w="12700">
            <a:solidFill>
              <a:srgbClr val="33506B"/>
            </a:solidFill>
          </a:ln>
        </p:spPr>
      </p:sp>
      <p:sp>
        <p:nvSpPr>
          <p:cNvPr id="12" name="s3-t"/>
          <p:cNvSpPr txBox="1"/>
          <p:nvPr/>
        </p:nvSpPr>
        <p:spPr>
          <a:xfrm>
            <a:off x="5257800" y="1727200"/>
            <a:ext cx="17526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20000"/>
              </a:lnSpc>
            </a:pPr>
            <a:r>
              <a:rPr lang="en-US" sz="1300" b="1">
                <a:solidFill>
                  <a:srgbClr val="33506B"/>
                </a:solidFill>
                <a:latin typeface="MiSans"/>
                <a:ea typeface="MiSans"/>
              </a:rPr>
              <a:t>3</a:t>
            </a:r>
            <a:endParaRPr lang="en-US" sz="1600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950" b="1">
                <a:solidFill>
                  <a:srgbClr val="1B1E23"/>
                </a:solidFill>
                <a:latin typeface="MiSans"/>
                <a:ea typeface="MiSans"/>
              </a:rPr>
              <a:t>Aprendiz tenta</a:t>
            </a:r>
            <a:endParaRPr lang="en-US" sz="1600"/>
          </a:p>
          <a:p>
            <a:pPr algn="l">
              <a:lnSpc>
                <a:spcPct val="120000"/>
              </a:lnSpc>
            </a:pPr>
            <a:r>
              <a:rPr lang="en-US" sz="800">
                <a:solidFill>
                  <a:srgbClr val="8B9199"/>
                </a:solidFill>
                <a:latin typeface="MiSans"/>
                <a:ea typeface="MiSans"/>
              </a:rPr>
              <a:t>learner/attempts/ (append-only; falhas nunca se apagam) → praticando</a:t>
            </a:r>
            <a:endParaRPr lang="en-US" sz="1600"/>
          </a:p>
        </p:txBody>
      </p:sp>
      <p:sp>
        <p:nvSpPr>
          <p:cNvPr id="13" name="a3"/>
          <p:cNvSpPr/>
          <p:nvPr>
            <p:extLst>
              <p:ext uri="{F5677B7D-0D2A-4D9B-9A5C-6D8D7D0E5A5D}">
                <pptd:line encoding="base64url">eyJjdXJ2ZSI6InJvdW5kIiwicG9pbnRzIjoiMCw3IDE2LDciLCJ2aWV3Qm94IjpbMTYsMTRdfQ</pptd:line>
              </p:ext>
            </p:extLst>
          </p:nvPr>
        </p:nvSpPr>
        <p:spPr>
          <a:xfrm>
            <a:off x="7137400" y="2260600"/>
            <a:ext cx="203200" cy="177800"/>
          </a:xfrm>
          <a:custGeom>
            <a:avLst/>
            <a:gdLst/>
            <a:ahLst/>
            <a:cxnLst/>
            <a:rect l="l" t="t" r="r" b="b"/>
            <a:pathLst>
              <a:path w="16" h="14">
                <a:moveTo>
                  <a:pt x="0" y="7"/>
                </a:moveTo>
                <a:lnTo>
                  <a:pt x="16" y="7"/>
                </a:lnTo>
              </a:path>
            </a:pathLst>
          </a:custGeom>
          <a:noFill/>
          <a:ln w="19050" cap="rnd">
            <a:solidFill>
              <a:srgbClr val="8B9199"/>
            </a:solidFill>
            <a:round/>
            <a:tailEnd type="stealth"/>
          </a:ln>
        </p:spPr>
      </p:sp>
      <p:sp>
        <p:nvSpPr>
          <p:cNvPr id="14" name="s4"/>
          <p:cNvSpPr/>
          <p:nvPr/>
        </p:nvSpPr>
        <p:spPr>
          <a:xfrm>
            <a:off x="7340600" y="1625600"/>
            <a:ext cx="2006600" cy="1473200"/>
          </a:xfrm>
          <a:prstGeom prst="rect">
            <a:avLst/>
          </a:prstGeom>
          <a:solidFill>
            <a:srgbClr val="F8EAE1"/>
          </a:solidFill>
          <a:ln w="19050">
            <a:solidFill>
              <a:srgbClr val="BC5327"/>
            </a:solidFill>
          </a:ln>
        </p:spPr>
      </p:sp>
      <p:sp>
        <p:nvSpPr>
          <p:cNvPr id="15" name="s4-t"/>
          <p:cNvSpPr txBox="1"/>
          <p:nvPr/>
        </p:nvSpPr>
        <p:spPr>
          <a:xfrm>
            <a:off x="7467600" y="1727200"/>
            <a:ext cx="17526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20000"/>
              </a:lnSpc>
            </a:pPr>
            <a:r>
              <a:rPr lang="en-US" sz="1300" b="1">
                <a:solidFill>
                  <a:srgbClr val="96401E"/>
                </a:solidFill>
                <a:latin typeface="MiSans"/>
                <a:ea typeface="MiSans"/>
              </a:rPr>
              <a:t>4</a:t>
            </a:r>
            <a:endParaRPr lang="en-US" sz="1600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950" b="1">
                <a:solidFill>
                  <a:srgbClr val="1B1E23"/>
                </a:solidFill>
                <a:latin typeface="MiSans"/>
                <a:ea typeface="MiSans"/>
              </a:rPr>
              <a:t>Gate desbloqueia</a:t>
            </a:r>
            <a:endParaRPr lang="en-US" sz="1600"/>
          </a:p>
          <a:p>
            <a:pPr algn="l">
              <a:lnSpc>
                <a:spcPct val="120000"/>
              </a:lnSpc>
            </a:pPr>
            <a:r>
              <a:rPr lang="en-US" sz="800">
                <a:solidFill>
                  <a:srgbClr val="96401E"/>
                </a:solidFill>
                <a:latin typeface="MiSans"/>
                <a:ea typeface="MiSans"/>
              </a:rPr>
              <a:t>tentativa avaliada → implementation_blocked: false → avaliando</a:t>
            </a:r>
            <a:endParaRPr lang="en-US" sz="1600"/>
          </a:p>
        </p:txBody>
      </p:sp>
      <p:sp>
        <p:nvSpPr>
          <p:cNvPr id="16" name="a4"/>
          <p:cNvSpPr/>
          <p:nvPr>
            <p:extLst>
              <p:ext uri="{F5677B7D-0D2A-4D9B-9A5C-6D8D7D0E5A5D}">
                <pptd:line encoding="base64url">eyJjdXJ2ZSI6InJvdW5kIiwicG9pbnRzIjoiMCw3IDE2LDciLCJ2aWV3Qm94IjpbMTYsMTRdfQ</pptd:line>
              </p:ext>
            </p:extLst>
          </p:nvPr>
        </p:nvSpPr>
        <p:spPr>
          <a:xfrm>
            <a:off x="9347200" y="2260600"/>
            <a:ext cx="203200" cy="177800"/>
          </a:xfrm>
          <a:custGeom>
            <a:avLst/>
            <a:gdLst/>
            <a:ahLst/>
            <a:cxnLst/>
            <a:rect l="l" t="t" r="r" b="b"/>
            <a:pathLst>
              <a:path w="16" h="14">
                <a:moveTo>
                  <a:pt x="0" y="7"/>
                </a:moveTo>
                <a:lnTo>
                  <a:pt x="16" y="7"/>
                </a:lnTo>
              </a:path>
            </a:pathLst>
          </a:custGeom>
          <a:noFill/>
          <a:ln w="19050" cap="rnd">
            <a:solidFill>
              <a:srgbClr val="8B9199"/>
            </a:solidFill>
            <a:round/>
            <a:tailEnd type="stealth"/>
          </a:ln>
        </p:spPr>
      </p:sp>
      <p:sp>
        <p:nvSpPr>
          <p:cNvPr id="17" name="s5"/>
          <p:cNvSpPr/>
          <p:nvPr/>
        </p:nvSpPr>
        <p:spPr>
          <a:xfrm>
            <a:off x="9550400" y="1625600"/>
            <a:ext cx="1930400" cy="1473200"/>
          </a:xfrm>
          <a:prstGeom prst="rect">
            <a:avLst/>
          </a:prstGeom>
          <a:solidFill>
            <a:srgbClr val="EDF1F5"/>
          </a:solidFill>
          <a:ln w="12700">
            <a:solidFill>
              <a:srgbClr val="33506B"/>
            </a:solidFill>
          </a:ln>
        </p:spPr>
      </p:sp>
      <p:sp>
        <p:nvSpPr>
          <p:cNvPr id="18" name="s5-t"/>
          <p:cNvSpPr txBox="1"/>
          <p:nvPr/>
        </p:nvSpPr>
        <p:spPr>
          <a:xfrm>
            <a:off x="9677400" y="1727200"/>
            <a:ext cx="16764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20000"/>
              </a:lnSpc>
            </a:pPr>
            <a:r>
              <a:rPr lang="en-US" sz="1300" b="1">
                <a:solidFill>
                  <a:srgbClr val="33506B"/>
                </a:solidFill>
                <a:latin typeface="MiSans"/>
                <a:ea typeface="MiSans"/>
              </a:rPr>
              <a:t>5</a:t>
            </a:r>
            <a:endParaRPr lang="en-US" sz="1600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950" b="1">
                <a:solidFill>
                  <a:srgbClr val="1B1E23"/>
                </a:solidFill>
                <a:latin typeface="MiSans"/>
                <a:ea typeface="MiSans"/>
              </a:rPr>
              <a:t>Missão no jogo</a:t>
            </a:r>
            <a:endParaRPr lang="en-US" sz="1600"/>
          </a:p>
          <a:p>
            <a:pPr algn="l">
              <a:lnSpc>
                <a:spcPct val="120000"/>
              </a:lnSpc>
            </a:pPr>
            <a:r>
              <a:rPr lang="en-US" sz="800">
                <a:solidFill>
                  <a:srgbClr val="8B9199"/>
                </a:solidFill>
                <a:latin typeface="MiSans"/>
                <a:ea typeface="MiSans"/>
              </a:rPr>
              <a:t>pixel/voxel emitem evidência bruta (.logs/evidence.ndjson)</a:t>
            </a:r>
            <a:endParaRPr lang="en-US" sz="1600"/>
          </a:p>
        </p:txBody>
      </p:sp>
      <p:sp>
        <p:nvSpPr>
          <p:cNvPr id="19" name="s6"/>
          <p:cNvSpPr/>
          <p:nvPr/>
        </p:nvSpPr>
        <p:spPr>
          <a:xfrm>
            <a:off x="711200" y="3556000"/>
            <a:ext cx="2540000" cy="1473200"/>
          </a:xfrm>
          <a:prstGeom prst="rect">
            <a:avLst/>
          </a:prstGeom>
          <a:solidFill>
            <a:srgbClr val="1B1E23"/>
          </a:solidFill>
          <a:ln>
            <a:noFill/>
          </a:ln>
        </p:spPr>
      </p:sp>
      <p:sp>
        <p:nvSpPr>
          <p:cNvPr id="20" name="s6-t"/>
          <p:cNvSpPr txBox="1"/>
          <p:nvPr/>
        </p:nvSpPr>
        <p:spPr>
          <a:xfrm>
            <a:off x="838200" y="3657600"/>
            <a:ext cx="2286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20000"/>
              </a:lnSpc>
            </a:pPr>
            <a:r>
              <a:rPr lang="en-US" sz="1300" b="1">
                <a:solidFill>
                  <a:srgbClr val="F2B794"/>
                </a:solidFill>
                <a:latin typeface="MiSans"/>
                <a:ea typeface="MiSans"/>
              </a:rPr>
              <a:t>6</a:t>
            </a:r>
            <a:endParaRPr lang="en-US" sz="1600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950" b="1">
                <a:solidFill>
                  <a:srgbClr val="FFFFFF"/>
                </a:solidFill>
                <a:latin typeface="MiSans"/>
                <a:ea typeface="MiSans"/>
              </a:rPr>
              <a:t>Verificador independente</a:t>
            </a:r>
            <a:endParaRPr lang="en-US" sz="1600"/>
          </a:p>
          <a:p>
            <a:pPr algn="l">
              <a:lnSpc>
                <a:spcPct val="120000"/>
              </a:lnSpc>
            </a:pPr>
            <a:r>
              <a:rPr lang="en-US" sz="800">
                <a:solidFill>
                  <a:srgbClr val="D8DDE3"/>
                </a:solidFill>
                <a:latin typeface="MiSans"/>
                <a:ea typeface="MiSans"/>
              </a:rPr>
              <a:t>learner.gate + recibo separado: digest SHA-256, anti-replay, contexto isolado</a:t>
            </a:r>
            <a:endParaRPr lang="en-US" sz="1600"/>
          </a:p>
        </p:txBody>
      </p:sp>
      <p:sp>
        <p:nvSpPr>
          <p:cNvPr id="21" name="a6"/>
          <p:cNvSpPr/>
          <p:nvPr>
            <p:extLst>
              <p:ext uri="{F5677B7D-0D2A-4D9B-9A5C-6D8D7D0E5A5D}">
                <pptd:line encoding="base64url">eyJjdXJ2ZSI6InJvdW5kIiwicG9pbnRzIjoiMCw3IDE2LDciLCJ2aWV3Qm94IjpbMTYsMTRdfQ</pptd:line>
              </p:ext>
            </p:extLst>
          </p:nvPr>
        </p:nvSpPr>
        <p:spPr>
          <a:xfrm>
            <a:off x="3251200" y="4191000"/>
            <a:ext cx="203200" cy="177800"/>
          </a:xfrm>
          <a:custGeom>
            <a:avLst/>
            <a:gdLst/>
            <a:ahLst/>
            <a:cxnLst/>
            <a:rect l="l" t="t" r="r" b="b"/>
            <a:pathLst>
              <a:path w="16" h="14">
                <a:moveTo>
                  <a:pt x="0" y="7"/>
                </a:moveTo>
                <a:lnTo>
                  <a:pt x="16" y="7"/>
                </a:lnTo>
              </a:path>
            </a:pathLst>
          </a:custGeom>
          <a:noFill/>
          <a:ln w="19050" cap="rnd">
            <a:solidFill>
              <a:srgbClr val="8B9199"/>
            </a:solidFill>
            <a:round/>
            <a:tailEnd type="stealth"/>
          </a:ln>
        </p:spPr>
      </p:sp>
      <p:sp>
        <p:nvSpPr>
          <p:cNvPr id="22" name="s7"/>
          <p:cNvSpPr/>
          <p:nvPr/>
        </p:nvSpPr>
        <p:spPr>
          <a:xfrm>
            <a:off x="3454400" y="3556000"/>
            <a:ext cx="2540000" cy="1473200"/>
          </a:xfrm>
          <a:prstGeom prst="rect">
            <a:avLst/>
          </a:prstGeom>
          <a:solidFill>
            <a:srgbClr val="E9F3EC"/>
          </a:solidFill>
          <a:ln w="19050">
            <a:solidFill>
              <a:srgbClr val="2F7D4F"/>
            </a:solidFill>
          </a:ln>
        </p:spPr>
      </p:sp>
      <p:sp>
        <p:nvSpPr>
          <p:cNvPr id="23" name="s7-t"/>
          <p:cNvSpPr txBox="1"/>
          <p:nvPr/>
        </p:nvSpPr>
        <p:spPr>
          <a:xfrm>
            <a:off x="3581400" y="3657600"/>
            <a:ext cx="2286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20000"/>
              </a:lnSpc>
            </a:pPr>
            <a:r>
              <a:rPr lang="en-US" sz="1300" b="1">
                <a:solidFill>
                  <a:srgbClr val="2F7D4F"/>
                </a:solidFill>
                <a:latin typeface="MiSans"/>
                <a:ea typeface="MiSans"/>
              </a:rPr>
              <a:t>7</a:t>
            </a:r>
            <a:endParaRPr lang="en-US" sz="1600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950" b="1">
                <a:solidFill>
                  <a:srgbClr val="1B1E23"/>
                </a:solidFill>
                <a:latin typeface="MiSans"/>
                <a:ea typeface="MiSans"/>
              </a:rPr>
              <a:t>commit_gate_transition</a:t>
            </a:r>
            <a:endParaRPr lang="en-US" sz="1600"/>
          </a:p>
          <a:p>
            <a:pPr algn="l">
              <a:lnSpc>
                <a:spcPct val="120000"/>
              </a:lnSpc>
            </a:pPr>
            <a:r>
              <a:rPr lang="en-US" sz="800">
                <a:solidFill>
                  <a:srgbClr val="8B9199"/>
                </a:solidFill>
                <a:latin typeface="MiSans"/>
                <a:ea typeface="MiSans"/>
              </a:rPr>
              <a:t>mastered + rating + streak + FSRS; re-valida invariantes e persiste atomicamente</a:t>
            </a:r>
            <a:endParaRPr lang="en-US" sz="1600"/>
          </a:p>
        </p:txBody>
      </p:sp>
      <p:sp>
        <p:nvSpPr>
          <p:cNvPr id="24" name="a7"/>
          <p:cNvSpPr/>
          <p:nvPr>
            <p:extLst>
              <p:ext uri="{F5677B7D-0D2A-4D9B-9A5C-6D8D7D0E5A5D}">
                <pptd:line encoding="base64url">eyJjdXJ2ZSI6InJvdW5kIiwicG9pbnRzIjoiMCw3IDE2LDciLCJ2aWV3Qm94IjpbMTYsMTRdfQ</pptd:line>
              </p:ext>
            </p:extLst>
          </p:nvPr>
        </p:nvSpPr>
        <p:spPr>
          <a:xfrm>
            <a:off x="5994400" y="4191000"/>
            <a:ext cx="203200" cy="177800"/>
          </a:xfrm>
          <a:custGeom>
            <a:avLst/>
            <a:gdLst/>
            <a:ahLst/>
            <a:cxnLst/>
            <a:rect l="l" t="t" r="r" b="b"/>
            <a:pathLst>
              <a:path w="16" h="14">
                <a:moveTo>
                  <a:pt x="0" y="7"/>
                </a:moveTo>
                <a:lnTo>
                  <a:pt x="16" y="7"/>
                </a:lnTo>
              </a:path>
            </a:pathLst>
          </a:custGeom>
          <a:noFill/>
          <a:ln w="19050" cap="rnd">
            <a:solidFill>
              <a:srgbClr val="8B9199"/>
            </a:solidFill>
            <a:round/>
            <a:tailEnd type="stealth"/>
          </a:ln>
        </p:spPr>
      </p:sp>
      <p:sp>
        <p:nvSpPr>
          <p:cNvPr id="25" name="s8"/>
          <p:cNvSpPr/>
          <p:nvPr/>
        </p:nvSpPr>
        <p:spPr>
          <a:xfrm>
            <a:off x="6197600" y="3556000"/>
            <a:ext cx="2540000" cy="1473200"/>
          </a:xfrm>
          <a:prstGeom prst="rect">
            <a:avLst/>
          </a:prstGeom>
          <a:solidFill>
            <a:srgbClr val="F8EAE1"/>
          </a:solidFill>
          <a:ln w="19050">
            <a:solidFill>
              <a:srgbClr val="BC5327"/>
            </a:solidFill>
          </a:ln>
        </p:spPr>
      </p:sp>
      <p:sp>
        <p:nvSpPr>
          <p:cNvPr id="26" name="s8-t"/>
          <p:cNvSpPr txBox="1"/>
          <p:nvPr/>
        </p:nvSpPr>
        <p:spPr>
          <a:xfrm>
            <a:off x="6324600" y="3657600"/>
            <a:ext cx="2286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20000"/>
              </a:lnSpc>
            </a:pPr>
            <a:r>
              <a:rPr lang="en-US" sz="1300" b="1">
                <a:solidFill>
                  <a:srgbClr val="96401E"/>
                </a:solidFill>
                <a:latin typeface="MiSans"/>
                <a:ea typeface="MiSans"/>
              </a:rPr>
              <a:t>8</a:t>
            </a:r>
            <a:endParaRPr lang="en-US" sz="1600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950" b="1">
                <a:solidFill>
                  <a:srgbClr val="1B1E23"/>
                </a:solidFill>
                <a:latin typeface="MiSans"/>
                <a:ea typeface="MiSans"/>
              </a:rPr>
              <a:t>substrate sync</a:t>
            </a:r>
            <a:endParaRPr lang="en-US" sz="1600"/>
          </a:p>
          <a:p>
            <a:pPr algn="l">
              <a:lnSpc>
                <a:spcPct val="120000"/>
              </a:lnSpc>
            </a:pPr>
            <a:r>
              <a:rPr lang="en-US" sz="800">
                <a:solidFill>
                  <a:srgbClr val="96401E"/>
                </a:solidFill>
                <a:latin typeface="MiSans"/>
                <a:ea typeface="MiSans"/>
              </a:rPr>
              <a:t>python3 -m learner.substrate regenera as 11+ views numa única fronteira</a:t>
            </a:r>
            <a:endParaRPr lang="en-US" sz="1600"/>
          </a:p>
        </p:txBody>
      </p:sp>
      <p:sp>
        <p:nvSpPr>
          <p:cNvPr id="27" name="a8"/>
          <p:cNvSpPr/>
          <p:nvPr>
            <p:extLst>
              <p:ext uri="{F5677B7D-0D2A-4D9B-9A5C-6D8D7D0E5A5D}">
                <pptd:line encoding="base64url">eyJjdXJ2ZSI6InJvdW5kIiwicG9pbnRzIjoiMCw3IDE2LDciLCJ2aWV3Qm94IjpbMTYsMTRdfQ</pptd:line>
              </p:ext>
            </p:extLst>
          </p:nvPr>
        </p:nvSpPr>
        <p:spPr>
          <a:xfrm>
            <a:off x="8737600" y="4191000"/>
            <a:ext cx="203200" cy="177800"/>
          </a:xfrm>
          <a:custGeom>
            <a:avLst/>
            <a:gdLst/>
            <a:ahLst/>
            <a:cxnLst/>
            <a:rect l="l" t="t" r="r" b="b"/>
            <a:pathLst>
              <a:path w="16" h="14">
                <a:moveTo>
                  <a:pt x="0" y="7"/>
                </a:moveTo>
                <a:lnTo>
                  <a:pt x="16" y="7"/>
                </a:lnTo>
              </a:path>
            </a:pathLst>
          </a:custGeom>
          <a:noFill/>
          <a:ln w="19050" cap="rnd">
            <a:solidFill>
              <a:srgbClr val="8B9199"/>
            </a:solidFill>
            <a:round/>
            <a:tailEnd type="stealth"/>
          </a:ln>
        </p:spPr>
      </p:sp>
      <p:sp>
        <p:nvSpPr>
          <p:cNvPr id="28" name="s9"/>
          <p:cNvSpPr/>
          <p:nvPr/>
        </p:nvSpPr>
        <p:spPr>
          <a:xfrm>
            <a:off x="8940800" y="3556000"/>
            <a:ext cx="2540000" cy="1473200"/>
          </a:xfrm>
          <a:prstGeom prst="rect">
            <a:avLst/>
          </a:prstGeom>
          <a:solidFill>
            <a:srgbClr val="EDF1F5"/>
          </a:solidFill>
          <a:ln w="12700">
            <a:solidFill>
              <a:srgbClr val="33506B"/>
            </a:solidFill>
          </a:ln>
        </p:spPr>
      </p:sp>
      <p:sp>
        <p:nvSpPr>
          <p:cNvPr id="29" name="s9-t"/>
          <p:cNvSpPr txBox="1"/>
          <p:nvPr/>
        </p:nvSpPr>
        <p:spPr>
          <a:xfrm>
            <a:off x="9067800" y="3657600"/>
            <a:ext cx="2286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20000"/>
              </a:lnSpc>
            </a:pPr>
            <a:r>
              <a:rPr lang="en-US" sz="1300" b="1">
                <a:solidFill>
                  <a:srgbClr val="33506B"/>
                </a:solidFill>
                <a:latin typeface="MiSans"/>
                <a:ea typeface="MiSans"/>
              </a:rPr>
              <a:t>9</a:t>
            </a:r>
            <a:endParaRPr lang="en-US" sz="1600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950" b="1">
                <a:solidFill>
                  <a:srgbClr val="1B1E23"/>
                </a:solidFill>
                <a:latin typeface="MiSans"/>
                <a:ea typeface="MiSans"/>
              </a:rPr>
              <a:t>O ecossistema reflete</a:t>
            </a:r>
            <a:endParaRPr lang="en-US" sz="1600"/>
          </a:p>
          <a:p>
            <a:pPr algn="l">
              <a:lnSpc>
                <a:spcPct val="120000"/>
              </a:lnSpc>
            </a:pPr>
            <a:r>
              <a:rPr lang="en-US" sz="800">
                <a:solidFill>
                  <a:srgbClr val="8B9199"/>
                </a:solidFill>
                <a:latin typeface="MiSans"/>
                <a:ea typeface="MiSans"/>
              </a:rPr>
              <a:t>dashboard, OS, whiteboard e review slices dos jogos atualizados; revisão espaçada agendada</a:t>
            </a:r>
            <a:endParaRPr lang="en-US" sz="1600"/>
          </a:p>
        </p:txBody>
      </p:sp>
      <p:sp>
        <p:nvSpPr>
          <p:cNvPr id="30" name="audit-panel"/>
          <p:cNvSpPr/>
          <p:nvPr/>
        </p:nvSpPr>
        <p:spPr>
          <a:xfrm>
            <a:off x="711200" y="5384800"/>
            <a:ext cx="10769600" cy="736600"/>
          </a:xfrm>
          <a:prstGeom prst="rect">
            <a:avLst/>
          </a:prstGeom>
          <a:solidFill>
            <a:srgbClr val="F7F5F0"/>
          </a:solidFill>
          <a:ln w="12700">
            <a:solidFill>
              <a:srgbClr val="E3E6EA"/>
            </a:solidFill>
          </a:ln>
        </p:spPr>
      </p:sp>
      <p:sp>
        <p:nvSpPr>
          <p:cNvPr id="31" name="audit"/>
          <p:cNvSpPr txBox="1"/>
          <p:nvPr/>
        </p:nvSpPr>
        <p:spPr>
          <a:xfrm>
            <a:off x="914400" y="5473700"/>
            <a:ext cx="10363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5000"/>
              </a:lnSpc>
            </a:pPr>
            <a:r>
              <a:rPr lang="en-US" sz="1000" b="1">
                <a:solidFill>
                  <a:srgbClr val="1B1E23"/>
                </a:solidFill>
                <a:latin typeface="MiSans"/>
                <a:ea typeface="MiSans"/>
              </a:rPr>
              <a:t>A trilha de auditoria se provou de verdade:</a:t>
            </a:r>
            <a:r>
              <a:rPr lang="en-US" sz="1000">
                <a:solidFill>
                  <a:srgbClr val="454A51"/>
                </a:solidFill>
                <a:latin typeface="MiSans"/>
                <a:ea typeface="MiSans"/>
              </a:rPr>
              <a:t> a primeira unidade (U0) foi dominada em 2026-07-05 a partir de evidência GATEKEEPER via verificador — e uma auditoria posterior </a:t>
            </a:r>
            <a:r>
              <a:rPr lang="en-US" sz="1000" b="1">
                <a:solidFill>
                  <a:srgbClr val="B4443C"/>
                </a:solidFill>
                <a:latin typeface="MiSans"/>
                <a:ea typeface="MiSans"/>
              </a:rPr>
              <a:t>reverteu 18 "masteries"</a:t>
            </a:r>
            <a:r>
              <a:rPr lang="en-US" sz="1000">
                <a:solidFill>
                  <a:srgbClr val="454A51"/>
                </a:solidFill>
                <a:latin typeface="MiSans"/>
                <a:ea typeface="MiSans"/>
              </a:rPr>
              <a:t> semeadas sem evidência em 2026-07-01. O sistema corrige a si mesmo porque o gate é o único caminho.</a:t>
            </a:r>
            <a:endParaRPr lang="en-US" sz="1000"/>
          </a:p>
        </p:txBody>
      </p:sp>
      <p:sp>
        <p:nvSpPr>
          <p:cNvPr id="32" name="footer-lin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E3E6EA"/>
          </a:solidFill>
          <a:ln>
            <a:noFill/>
          </a:ln>
        </p:spPr>
      </p:sp>
      <p:sp>
        <p:nvSpPr>
          <p:cNvPr id="33" name="footer-left"/>
          <p:cNvSpPr txBox="1"/>
          <p:nvPr/>
        </p:nvSpPr>
        <p:spPr>
          <a:xfrm>
            <a:off x="711200" y="6553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35000"/>
              </a:lnSpc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AI DEVSCHOOL — COMO FUNCIONA</a:t>
            </a:r>
            <a:endParaRPr lang="en-US" sz="900"/>
          </a:p>
        </p:txBody>
      </p:sp>
      <p:sp>
        <p:nvSpPr>
          <p:cNvPr id="34" name="footer-page"/>
          <p:cNvSpPr txBox="1"/>
          <p:nvPr/>
        </p:nvSpPr>
        <p:spPr>
          <a:xfrm>
            <a:off x="10414000" y="6553200"/>
            <a:ext cx="106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35000"/>
              </a:lnSpc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21</a:t>
            </a:r>
            <a:endParaRPr lang="en-US" sz="900"/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 b="1" spc="250" kern="0">
                <a:solidFill>
                  <a:srgbClr val="BC5327"/>
                </a:solidFill>
                <a:latin typeface="MiSans"/>
                <a:ea typeface="MiSans"/>
              </a:rPr>
              <a:t>21 · GATES EMPÍRICOS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11200" y="7112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15000"/>
              </a:lnSpc>
            </a:pPr>
            <a:r>
              <a:rPr lang="en-US" sz="2600" b="1">
                <a:solidFill>
                  <a:srgbClr val="1B1E23"/>
                </a:solidFill>
                <a:latin typeface="MiSans"/>
                <a:ea typeface="MiSans"/>
              </a:rPr>
              <a:t>Os números que decidem — single-sourced e testados</a:t>
            </a:r>
            <a:endParaRPr lang="en-US" sz="2600"/>
          </a:p>
        </p:txBody>
      </p:sp>
      <p:sp>
        <p:nvSpPr>
          <p:cNvPr id="4" name="title-rule"/>
          <p:cNvSpPr/>
          <p:nvPr/>
        </p:nvSpPr>
        <p:spPr>
          <a:xfrm>
            <a:off x="711200" y="1295400"/>
            <a:ext cx="711200" cy="38100"/>
          </a:xfrm>
          <a:prstGeom prst="rect">
            <a:avLst/>
          </a:prstGeom>
          <a:solidFill>
            <a:srgbClr val="BC5327"/>
          </a:solidFill>
          <a:ln>
            <a:noFill/>
          </a:ln>
        </p:spPr>
      </p:sp>
      <p:graphicFrame>
        <p:nvGraphicFramePr>
          <p:cNvPr id="5" name="tbl"/>
          <p:cNvGraphicFramePr>
            <a:graphicFrameLocks noGrp="1"/>
          </p:cNvGraphicFramePr>
          <p:nvPr/>
        </p:nvGraphicFramePr>
        <p:xfrm>
          <a:off x="711200" y="1600200"/>
          <a:ext cx="7112000" cy="4343400"/>
        </p:xfrm>
        <a:graphic>
          <a:graphicData uri="http://schemas.openxmlformats.org/drawingml/2006/table">
            <a:tbl>
              <a:tblPr/>
              <a:tblGrid>
                <a:gridCol w="2987040"/>
                <a:gridCol w="2133600"/>
                <a:gridCol w="1991360"/>
              </a:tblGrid>
              <a:tr h="390906"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900" b="1">
                          <a:solidFill>
                            <a:srgbClr val="1B1E23"/>
                          </a:solidFill>
                          <a:latin typeface="Times New Roman"/>
                          <a:ea typeface="Times New Roman"/>
                        </a:rPr>
                        <a:t>Gate</a:t>
                      </a:r>
                      <a:endParaRPr lang="en-US" sz="90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900" b="1">
                          <a:solidFill>
                            <a:srgbClr val="1B1E23"/>
                          </a:solidFill>
                          <a:latin typeface="Times New Roman"/>
                          <a:ea typeface="Times New Roman"/>
                        </a:rPr>
                        <a:t>Threshold</a:t>
                      </a:r>
                      <a:endParaRPr lang="en-US" sz="90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900" b="1">
                          <a:solidFill>
                            <a:srgbClr val="1B1E23"/>
                          </a:solidFill>
                          <a:latin typeface="Times New Roman"/>
                          <a:ea typeface="Times New Roman"/>
                        </a:rPr>
                        <a:t>Fonte canônica</a:t>
                      </a:r>
                      <a:endParaRPr lang="en-US" sz="90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solidFill>
                      <a:srgbClr val="F7F5F0"/>
                    </a:solidFill>
                  </a:tcPr>
                </a:tc>
              </a:tr>
              <a:tr h="359199"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900">
                          <a:solidFill>
                            <a:srgbClr val="454A51"/>
                          </a:solidFill>
                          <a:latin typeface="Times New Roman"/>
                          <a:ea typeface="Times New Roman"/>
                        </a:rPr>
                        <a:t>Mutation score</a:t>
                      </a:r>
                      <a:endParaRPr lang="en-US" sz="90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900">
                          <a:solidFill>
                            <a:srgbClr val="454A51"/>
                          </a:solidFill>
                          <a:latin typeface="Times New Roman"/>
                          <a:ea typeface="Times New Roman"/>
                        </a:rPr>
                        <a:t>≥ 0,65</a:t>
                      </a:r>
                      <a:endParaRPr lang="en-US" sz="90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900">
                          <a:solidFill>
                            <a:srgbClr val="454A51"/>
                          </a:solidFill>
                          <a:latin typeface="Times New Roman"/>
                          <a:ea typeface="Times New Roman"/>
                        </a:rPr>
                        <a:t>gates.mutation_score_min</a:t>
                      </a:r>
                      <a:endParaRPr lang="en-US" sz="90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noFill/>
                  </a:tcPr>
                </a:tc>
              </a:tr>
              <a:tr h="359199"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900">
                          <a:solidFill>
                            <a:srgbClr val="454A51"/>
                          </a:solidFill>
                          <a:latin typeface="Times New Roman"/>
                          <a:ea typeface="Times New Roman"/>
                        </a:rPr>
                        <a:t>Cobertura do núcleo</a:t>
                      </a:r>
                      <a:endParaRPr lang="en-US" sz="90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900">
                          <a:solidFill>
                            <a:srgbClr val="454A51"/>
                          </a:solidFill>
                          <a:latin typeface="Times New Roman"/>
                          <a:ea typeface="Times New Roman"/>
                        </a:rPr>
                        <a:t>≥ 0,80</a:t>
                      </a:r>
                      <a:endParaRPr lang="en-US" sz="90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900">
                          <a:solidFill>
                            <a:srgbClr val="454A51"/>
                          </a:solidFill>
                          <a:latin typeface="Times New Roman"/>
                          <a:ea typeface="Times New Roman"/>
                        </a:rPr>
                        <a:t>gates.cobertura_nucleo_min</a:t>
                      </a:r>
                      <a:endParaRPr lang="en-US" sz="90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noFill/>
                  </a:tcPr>
                </a:tc>
              </a:tr>
              <a:tr h="359199"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900">
                          <a:solidFill>
                            <a:srgbClr val="454A51"/>
                          </a:solidFill>
                          <a:latin typeface="Times New Roman"/>
                          <a:ea typeface="Times New Roman"/>
                        </a:rPr>
                        <a:t>Suíte verde</a:t>
                      </a:r>
                      <a:endParaRPr lang="en-US" sz="90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900">
                          <a:solidFill>
                            <a:srgbClr val="454A51"/>
                          </a:solidFill>
                          <a:latin typeface="Times New Roman"/>
                          <a:ea typeface="Times New Roman"/>
                        </a:rPr>
                        <a:t>100%</a:t>
                      </a:r>
                      <a:endParaRPr lang="en-US" sz="90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900">
                          <a:solidFill>
                            <a:srgbClr val="454A51"/>
                          </a:solidFill>
                          <a:latin typeface="Times New Roman"/>
                          <a:ea typeface="Times New Roman"/>
                        </a:rPr>
                        <a:t>gates.suíte_verde_min</a:t>
                      </a:r>
                      <a:endParaRPr lang="en-US" sz="90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noFill/>
                  </a:tcPr>
                </a:tc>
              </a:tr>
              <a:tr h="359199"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900">
                          <a:solidFill>
                            <a:srgbClr val="454A51"/>
                          </a:solidFill>
                          <a:latin typeface="Times New Roman"/>
                          <a:ea typeface="Times New Roman"/>
                        </a:rPr>
                        <a:t>Lints</a:t>
                      </a:r>
                      <a:endParaRPr lang="en-US" sz="90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900">
                          <a:solidFill>
                            <a:srgbClr val="454A51"/>
                          </a:solidFill>
                          <a:latin typeface="Times New Roman"/>
                          <a:ea typeface="Times New Roman"/>
                        </a:rPr>
                        <a:t>0 erros / 0 avisos</a:t>
                      </a:r>
                      <a:endParaRPr lang="en-US" sz="90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900">
                          <a:solidFill>
                            <a:srgbClr val="454A51"/>
                          </a:solidFill>
                          <a:latin typeface="Times New Roman"/>
                          <a:ea typeface="Times New Roman"/>
                        </a:rPr>
                        <a:t>gates.lints_erros_max</a:t>
                      </a:r>
                      <a:endParaRPr lang="en-US" sz="90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noFill/>
                  </a:tcPr>
                </a:tc>
              </a:tr>
              <a:tr h="359199"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900">
                          <a:solidFill>
                            <a:srgbClr val="454A51"/>
                          </a:solidFill>
                          <a:latin typeface="Times New Roman"/>
                          <a:ea typeface="Times New Roman"/>
                        </a:rPr>
                        <a:t>Benchmark</a:t>
                      </a:r>
                      <a:endParaRPr lang="en-US" sz="90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900">
                          <a:solidFill>
                            <a:srgbClr val="454A51"/>
                          </a:solidFill>
                          <a:latin typeface="Times New Roman"/>
                          <a:ea typeface="Times New Roman"/>
                        </a:rPr>
                        <a:t>N ≥ 10 + warmup; CV &lt; 20%</a:t>
                      </a:r>
                      <a:endParaRPr lang="en-US" sz="90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900">
                          <a:solidFill>
                            <a:srgbClr val="454A51"/>
                          </a:solidFill>
                          <a:latin typeface="Times New Roman"/>
                          <a:ea typeface="Times New Roman"/>
                        </a:rPr>
                        <a:t>galileu.samples_min / cv_max_pct</a:t>
                      </a:r>
                      <a:endParaRPr lang="en-US" sz="90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noFill/>
                  </a:tcPr>
                </a:tc>
              </a:tr>
              <a:tr h="359199"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900">
                          <a:solidFill>
                            <a:srgbClr val="454A51"/>
                          </a:solidFill>
                          <a:latin typeface="Times New Roman"/>
                          <a:ea typeface="Times New Roman"/>
                        </a:rPr>
                        <a:t>Retry budget por unidade</a:t>
                      </a:r>
                      <a:endParaRPr lang="en-US" sz="90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900">
                          <a:solidFill>
                            <a:srgbClr val="454A51"/>
                          </a:solidFill>
                          <a:latin typeface="Times New Roman"/>
                          <a:ea typeface="Times New Roman"/>
                        </a:rPr>
                        <a:t>≤ 3 (depois Sêneca)</a:t>
                      </a:r>
                      <a:endParaRPr lang="en-US" sz="90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900">
                          <a:solidFill>
                            <a:srgbClr val="454A51"/>
                          </a:solidFill>
                          <a:latin typeface="Times New Roman"/>
                          <a:ea typeface="Times New Roman"/>
                        </a:rPr>
                        <a:t>retries.max_por_unidade</a:t>
                      </a:r>
                      <a:endParaRPr lang="en-US" sz="90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noFill/>
                  </a:tcPr>
                </a:tc>
              </a:tr>
              <a:tr h="359199"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900">
                          <a:solidFill>
                            <a:srgbClr val="454A51"/>
                          </a:solidFill>
                          <a:latin typeface="Times New Roman"/>
                          <a:ea typeface="Times New Roman"/>
                        </a:rPr>
                        <a:t>Quota Sócrates</a:t>
                      </a:r>
                      <a:endParaRPr lang="en-US" sz="90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900">
                          <a:solidFill>
                            <a:srgbClr val="454A51"/>
                          </a:solidFill>
                          <a:latin typeface="Times New Roman"/>
                          <a:ea typeface="Times New Roman"/>
                        </a:rPr>
                        <a:t>15 consultas/dia</a:t>
                      </a:r>
                      <a:endParaRPr lang="en-US" sz="90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900">
                          <a:solidFill>
                            <a:srgbClr val="454A51"/>
                          </a:solidFill>
                          <a:latin typeface="Times New Roman"/>
                          <a:ea typeface="Times New Roman"/>
                        </a:rPr>
                        <a:t>socrates.quota_dia</a:t>
                      </a:r>
                      <a:endParaRPr lang="en-US" sz="90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noFill/>
                  </a:tcPr>
                </a:tc>
              </a:tr>
              <a:tr h="359199"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900">
                          <a:solidFill>
                            <a:srgbClr val="454A51"/>
                          </a:solidFill>
                          <a:latin typeface="Times New Roman"/>
                          <a:ea typeface="Times New Roman"/>
                        </a:rPr>
                        <a:t>AIDI (dep. de IA)</a:t>
                      </a:r>
                      <a:endParaRPr lang="en-US" sz="90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900">
                          <a:solidFill>
                            <a:srgbClr val="454A51"/>
                          </a:solidFill>
                          <a:latin typeface="Times New Roman"/>
                          <a:ea typeface="Times New Roman"/>
                        </a:rPr>
                        <a:t>âmbar 0,60 · vermelho 0,75</a:t>
                      </a:r>
                      <a:endParaRPr lang="en-US" sz="90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900">
                          <a:solidFill>
                            <a:srgbClr val="454A51"/>
                          </a:solidFill>
                          <a:latin typeface="Times New Roman"/>
                          <a:ea typeface="Times New Roman"/>
                        </a:rPr>
                        <a:t>atena.aidi_alerta_*</a:t>
                      </a:r>
                      <a:endParaRPr lang="en-US" sz="90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noFill/>
                  </a:tcPr>
                </a:tc>
              </a:tr>
              <a:tr h="359199"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900">
                          <a:solidFill>
                            <a:srgbClr val="454A51"/>
                          </a:solidFill>
                          <a:latin typeface="Times New Roman"/>
                          <a:ea typeface="Times New Roman"/>
                        </a:rPr>
                        <a:t>SLA de governança</a:t>
                      </a:r>
                      <a:endParaRPr lang="en-US" sz="90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900">
                          <a:solidFill>
                            <a:srgbClr val="454A51"/>
                          </a:solidFill>
                          <a:latin typeface="Times New Roman"/>
                          <a:ea typeface="Times New Roman"/>
                        </a:rPr>
                        <a:t>24h (4h p/ regressão)</a:t>
                      </a:r>
                      <a:endParaRPr lang="en-US" sz="90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900">
                          <a:solidFill>
                            <a:srgbClr val="454A51"/>
                          </a:solidFill>
                          <a:latin typeface="Times New Roman"/>
                          <a:ea typeface="Times New Roman"/>
                        </a:rPr>
                        <a:t>seneca.sla_horas</a:t>
                      </a:r>
                      <a:endParaRPr lang="en-US" sz="90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noFill/>
                  </a:tcPr>
                </a:tc>
              </a:tr>
              <a:tr h="359199"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900">
                          <a:solidFill>
                            <a:srgbClr val="454A51"/>
                          </a:solidFill>
                          <a:latin typeface="Times New Roman"/>
                          <a:ea typeface="Times New Roman"/>
                        </a:rPr>
                        <a:t>Complexidade / duplicação</a:t>
                      </a:r>
                      <a:endParaRPr lang="en-US" sz="90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900">
                          <a:solidFill>
                            <a:srgbClr val="454A51"/>
                          </a:solidFill>
                          <a:latin typeface="Times New Roman"/>
                          <a:ea typeface="Times New Roman"/>
                        </a:rPr>
                        <a:t>CC mediana &lt; 10 · dup &lt; 7%</a:t>
                      </a:r>
                      <a:endParaRPr lang="en-US" sz="90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900">
                          <a:solidFill>
                            <a:srgbClr val="454A51"/>
                          </a:solidFill>
                          <a:latin typeface="Times New Roman"/>
                          <a:ea typeface="Times New Roman"/>
                        </a:rPr>
                        <a:t>gates.cc_mediana_max / duplicacao_max_pct</a:t>
                      </a:r>
                      <a:endParaRPr lang="en-US" sz="90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noFill/>
                  </a:tcPr>
                </a:tc>
              </a:tr>
              <a:tr h="359199"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900">
                          <a:solidFill>
                            <a:srgbClr val="454A51"/>
                          </a:solidFill>
                          <a:latin typeface="Times New Roman"/>
                          <a:ea typeface="Times New Roman"/>
                        </a:rPr>
                        <a:t>Tamanho de PR</a:t>
                      </a:r>
                      <a:endParaRPr lang="en-US" sz="90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900">
                          <a:solidFill>
                            <a:srgbClr val="454A51"/>
                          </a:solidFill>
                          <a:latin typeface="Times New Roman"/>
                          <a:ea typeface="Times New Roman"/>
                        </a:rPr>
                        <a:t>≤ 300 LOC</a:t>
                      </a:r>
                      <a:endParaRPr lang="en-US" sz="90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noFill/>
                  </a:tcPr>
                </a:tc>
                <a:tc>
                  <a:txBody>
                    <a:bodyPr lIns="0" rIns="0" tIns="0" bIns="0" rtlCol="0" wrap="square" anchor="ctr"/>
                    <a:lstStyle/>
                    <a:p>
                      <a:pPr algn="l"/>
                      <a:r>
                        <a:rPr lang="en-US" sz="900">
                          <a:solidFill>
                            <a:srgbClr val="454A51"/>
                          </a:solidFill>
                          <a:latin typeface="Times New Roman"/>
                          <a:ea typeface="Times New Roman"/>
                        </a:rPr>
                        <a:t>gates.pr_loc_max</a:t>
                      </a:r>
                      <a:endParaRPr lang="en-US" sz="900"/>
                    </a:p>
                  </a:txBody>
                  <a:tcPr marL="91440" marR="91440" marT="45720" marB="45720" anchor="ctr">
                    <a:lnL w="12700">
                      <a:solidFill>
                        <a:srgbClr val="E3E6EA"/>
                      </a:solidFill>
                    </a:lnL>
                    <a:lnR w="12700">
                      <a:solidFill>
                        <a:srgbClr val="E3E6EA"/>
                      </a:solidFill>
                    </a:lnR>
                    <a:lnT w="12700">
                      <a:solidFill>
                        <a:srgbClr val="E3E6EA"/>
                      </a:solidFill>
                    </a:lnT>
                    <a:lnB w="12700">
                      <a:solidFill>
                        <a:srgbClr val="E3E6EA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seam-head"/>
          <p:cNvSpPr txBox="1"/>
          <p:nvPr/>
        </p:nvSpPr>
        <p:spPr>
          <a:xfrm>
            <a:off x="8280400" y="1600200"/>
            <a:ext cx="3200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000" b="1" spc="120" kern="0">
                <a:solidFill>
                  <a:srgbClr val="1B1E23"/>
                </a:solidFill>
                <a:latin typeface="MiSans"/>
                <a:ea typeface="MiSans"/>
              </a:rPr>
              <a:t>O THRESHOLD SEAM</a:t>
            </a:r>
            <a:endParaRPr lang="en-US" sz="1000"/>
          </a:p>
        </p:txBody>
      </p:sp>
      <p:sp>
        <p:nvSpPr>
          <p:cNvPr id="7" name="seam-body"/>
          <p:cNvSpPr txBox="1"/>
          <p:nvPr/>
        </p:nvSpPr>
        <p:spPr>
          <a:xfrm>
            <a:off x="8280400" y="1879600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5000"/>
              </a:lnSpc>
            </a:pPr>
            <a:r>
              <a:rPr lang="en-US" sz="950">
                <a:solidFill>
                  <a:srgbClr val="454A51"/>
                </a:solidFill>
                <a:latin typeface="MiSans"/>
                <a:ea typeface="MiSans"/>
              </a:rPr>
              <a:t>Todos os números vivem em </a:t>
            </a:r>
            <a:r>
              <a:rPr lang="en-US" sz="950" b="1">
                <a:solidFill>
                  <a:srgbClr val="454A51"/>
                </a:solidFill>
                <a:latin typeface="MiSans"/>
                <a:ea typeface="MiSans"/>
              </a:rPr>
              <a:t>engines/minimaxDojo/config/learner.yaml</a:t>
            </a:r>
            <a:r>
              <a:rPr lang="en-US" sz="950">
                <a:solidFill>
                  <a:srgbClr val="454A51"/>
                </a:solidFill>
                <a:latin typeface="MiSans"/>
                <a:ea typeface="MiSans"/>
              </a:rPr>
              <a:t> (89 linhas).</a:t>
            </a:r>
            <a:endParaRPr lang="en-US" sz="950"/>
          </a:p>
          <a:p>
            <a:pPr algn="l">
              <a:lnSpc>
                <a:spcPct val="145000"/>
              </a:lnSpc>
              <a:spcBef>
                <a:spcPts val="700"/>
              </a:spcBef>
            </a:pPr>
            <a:r>
              <a:rPr lang="en-US" sz="950">
                <a:solidFill>
                  <a:srgbClr val="454A51"/>
                </a:solidFill>
                <a:latin typeface="MiSans"/>
                <a:ea typeface="MiSans"/>
              </a:rPr>
              <a:t>Prompts e docs nunca hardcodam valores: referenciam simbolicamente com o marcador </a:t>
            </a:r>
            <a:r>
              <a:rPr lang="en-US" sz="950" b="1">
                <a:solidFill>
                  <a:srgbClr val="454A51"/>
                </a:solidFill>
                <a:latin typeface="MiSans"/>
                <a:ea typeface="MiSans"/>
              </a:rPr>
              <a:t>⟨config: path⟩</a:t>
            </a:r>
            <a:r>
              <a:rPr lang="en-US" sz="950">
                <a:solidFill>
                  <a:srgbClr val="454A51"/>
                </a:solidFill>
                <a:latin typeface="MiSans"/>
                <a:ea typeface="MiSans"/>
              </a:rPr>
              <a:t> — a seam fica num só lugar.</a:t>
            </a:r>
            <a:endParaRPr lang="en-US" sz="950"/>
          </a:p>
          <a:p>
            <a:pPr algn="l">
              <a:lnSpc>
                <a:spcPct val="145000"/>
              </a:lnSpc>
              <a:spcBef>
                <a:spcPts val="700"/>
              </a:spcBef>
            </a:pPr>
            <a:r>
              <a:rPr lang="en-US" sz="950">
                <a:solidFill>
                  <a:srgbClr val="454A51"/>
                </a:solidFill>
                <a:latin typeface="MiSans"/>
                <a:ea typeface="MiSans"/>
              </a:rPr>
              <a:t>O core Python carrega o YAML com fallbacks para permanecer importável sem PyYAML.</a:t>
            </a:r>
            <a:endParaRPr lang="en-US" sz="950"/>
          </a:p>
        </p:txBody>
      </p:sp>
      <p:sp>
        <p:nvSpPr>
          <p:cNvPr id="8" name="drift-panel"/>
          <p:cNvSpPr/>
          <p:nvPr/>
        </p:nvSpPr>
        <p:spPr>
          <a:xfrm>
            <a:off x="8280400" y="4318000"/>
            <a:ext cx="3200400" cy="1625600"/>
          </a:xfrm>
          <a:prstGeom prst="rect">
            <a:avLst/>
          </a:prstGeom>
          <a:solidFill>
            <a:srgbClr val="F8EAE1"/>
          </a:solidFill>
          <a:ln w="19050">
            <a:solidFill>
              <a:srgbClr val="BC5327"/>
            </a:solidFill>
          </a:ln>
        </p:spPr>
      </p:sp>
      <p:sp>
        <p:nvSpPr>
          <p:cNvPr id="9" name="drift"/>
          <p:cNvSpPr txBox="1"/>
          <p:nvPr/>
        </p:nvSpPr>
        <p:spPr>
          <a:xfrm>
            <a:off x="8432800" y="4419600"/>
            <a:ext cx="2895600" cy="142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5000"/>
              </a:lnSpc>
            </a:pPr>
            <a:r>
              <a:rPr lang="en-US" sz="900" b="1">
                <a:solidFill>
                  <a:srgbClr val="96401E"/>
                </a:solidFill>
                <a:latin typeface="MiSans"/>
                <a:ea typeface="MiSans"/>
              </a:rPr>
              <a:t>Testes anti-drift travam o contrato:</a:t>
            </a:r>
            <a:endParaRPr lang="en-US" sz="900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900">
                <a:solidFill>
                  <a:srgbClr val="454A51"/>
                </a:solidFill>
                <a:latin typeface="MiSans"/>
                <a:ea typeface="MiSans"/>
              </a:rPr>
              <a:t>· test_threshold_drift — learning_state.yaml e o skill do motor não podem inventar um segundo threshold (0,60 vs 0,65);</a:t>
            </a:r>
            <a:endParaRPr lang="en-US" sz="900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900">
                <a:solidFill>
                  <a:srgbClr val="454A51"/>
                </a:solidFill>
                <a:latin typeface="MiSans"/>
                <a:ea typeface="MiSans"/>
              </a:rPr>
              <a:t>· test_config_seam — o marcador config resolve;</a:t>
            </a:r>
            <a:endParaRPr lang="en-US" sz="900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900">
                <a:solidFill>
                  <a:srgbClr val="454A51"/>
                </a:solidFill>
                <a:latin typeface="MiSans"/>
                <a:ea typeface="MiSans"/>
              </a:rPr>
              <a:t>· test_agent_roster_drift — todo tutor canônico tem wrapper runnable.</a:t>
            </a:r>
            <a:endParaRPr lang="en-US" sz="900"/>
          </a:p>
        </p:txBody>
      </p:sp>
      <p:sp>
        <p:nvSpPr>
          <p:cNvPr id="10" name="footer-lin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E3E6EA"/>
          </a:solidFill>
          <a:ln>
            <a:noFill/>
          </a:ln>
        </p:spPr>
      </p:sp>
      <p:sp>
        <p:nvSpPr>
          <p:cNvPr id="11" name="footer-left"/>
          <p:cNvSpPr txBox="1"/>
          <p:nvPr/>
        </p:nvSpPr>
        <p:spPr>
          <a:xfrm>
            <a:off x="711200" y="6553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35000"/>
              </a:lnSpc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AI DEVSCHOOL — COMO FUNCIONA</a:t>
            </a:r>
            <a:endParaRPr lang="en-US" sz="900"/>
          </a:p>
        </p:txBody>
      </p:sp>
      <p:sp>
        <p:nvSpPr>
          <p:cNvPr id="12" name="footer-page"/>
          <p:cNvSpPr txBox="1"/>
          <p:nvPr/>
        </p:nvSpPr>
        <p:spPr>
          <a:xfrm>
            <a:off x="10414000" y="6553200"/>
            <a:ext cx="106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35000"/>
              </a:lnSpc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22</a:t>
            </a:r>
            <a:endParaRPr lang="en-US" sz="900"/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 b="1" spc="250" kern="0">
                <a:solidFill>
                  <a:srgbClr val="BC5327"/>
                </a:solidFill>
                <a:latin typeface="MiSans"/>
                <a:ea typeface="MiSans"/>
              </a:rPr>
              <a:t>22 · VALIDAÇÃO</a:t>
            </a:r>
            <a:endParaRPr lang="en-US" sz="1100"/>
          </a:p>
        </p:txBody>
      </p:sp>
      <p:sp>
        <p:nvSpPr>
          <p:cNvPr id="3" name="title"/>
          <p:cNvSpPr txBox="1"/>
          <p:nvPr/>
        </p:nvSpPr>
        <p:spPr>
          <a:xfrm>
            <a:off x="711200" y="7112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15000"/>
              </a:lnSpc>
            </a:pPr>
            <a:r>
              <a:rPr lang="en-US" sz="2600" b="1">
                <a:solidFill>
                  <a:srgbClr val="1B1E23"/>
                </a:solidFill>
                <a:latin typeface="MiSans"/>
                <a:ea typeface="MiSans"/>
              </a:rPr>
              <a:t>Como verificar cada camada você mesmo</a:t>
            </a:r>
            <a:endParaRPr lang="en-US" sz="2600"/>
          </a:p>
        </p:txBody>
      </p:sp>
      <p:sp>
        <p:nvSpPr>
          <p:cNvPr id="4" name="title-rule"/>
          <p:cNvSpPr/>
          <p:nvPr/>
        </p:nvSpPr>
        <p:spPr>
          <a:xfrm>
            <a:off x="711200" y="1295400"/>
            <a:ext cx="711200" cy="38100"/>
          </a:xfrm>
          <a:prstGeom prst="rect">
            <a:avLst/>
          </a:prstGeom>
          <a:solidFill>
            <a:srgbClr val="BC5327"/>
          </a:solidFill>
          <a:ln>
            <a:noFill/>
          </a:ln>
        </p:spPr>
      </p:sp>
      <p:sp>
        <p:nvSpPr>
          <p:cNvPr id="5" name="code-panel"/>
          <p:cNvSpPr/>
          <p:nvPr/>
        </p:nvSpPr>
        <p:spPr>
          <a:xfrm>
            <a:off x="711200" y="1574800"/>
            <a:ext cx="7112000" cy="4470400"/>
          </a:xfrm>
          <a:prstGeom prst="rect">
            <a:avLst/>
          </a:prstGeom>
          <a:solidFill>
            <a:srgbClr val="1B1E23"/>
          </a:solidFill>
          <a:ln>
            <a:noFill/>
          </a:ln>
        </p:spPr>
      </p:sp>
      <p:sp>
        <p:nvSpPr>
          <p:cNvPr id="6" name="code"/>
          <p:cNvSpPr txBox="1"/>
          <p:nvPr/>
        </p:nvSpPr>
        <p:spPr>
          <a:xfrm>
            <a:off x="939800" y="1778000"/>
            <a:ext cx="6654800" cy="411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60000"/>
              </a:lnSpc>
            </a:pPr>
            <a:r>
              <a:rPr lang="en-US" sz="950">
                <a:solidFill>
                  <a:srgbClr val="8B9199"/>
                </a:solidFill>
                <a:latin typeface="MiSans"/>
                <a:ea typeface="MiSans"/>
              </a:rPr>
              <a:t># Substrato Python compartilhado (raiz)</a:t>
            </a:r>
            <a:endParaRPr lang="en-US" sz="950"/>
          </a:p>
          <a:p>
            <a:pPr algn="l">
              <a:lnSpc>
                <a:spcPct val="160000"/>
              </a:lnSpc>
            </a:pPr>
            <a:r>
              <a:rPr lang="en-US" sz="950">
                <a:solidFill>
                  <a:srgbClr val="F2B794"/>
                </a:solidFill>
                <a:latin typeface="MiSans"/>
                <a:ea typeface="MiSans"/>
              </a:rPr>
              <a:t>$</a:t>
            </a:r>
            <a:r>
              <a:rPr lang="en-US" sz="950">
                <a:solidFill>
                  <a:srgbClr val="D8DDE3"/>
                </a:solidFill>
                <a:latin typeface="MiSans"/>
                <a:ea typeface="MiSans"/>
              </a:rPr>
              <a:t> make install &amp;&amp; make test &amp;&amp; make test-core &amp;&amp; make test-substrate</a:t>
            </a:r>
            <a:endParaRPr lang="en-US" sz="950"/>
          </a:p>
          <a:p>
            <a:pPr algn="l">
              <a:lnSpc>
                <a:spcPct val="160000"/>
              </a:lnSpc>
            </a:pPr>
            <a:r>
              <a:rPr lang="en-US" sz="950">
                <a:solidFill>
                  <a:srgbClr val="F2B794"/>
                </a:solidFill>
                <a:latin typeface="MiSans"/>
                <a:ea typeface="MiSans"/>
              </a:rPr>
              <a:t>$</a:t>
            </a:r>
            <a:r>
              <a:rPr lang="en-US" sz="950">
                <a:solidFill>
                  <a:srgbClr val="D8DDE3"/>
                </a:solidFill>
                <a:latin typeface="MiSans"/>
                <a:ea typeface="MiSans"/>
              </a:rPr>
              <a:t> python3 -m learner.substrate            </a:t>
            </a:r>
            <a:r>
              <a:rPr lang="en-US" sz="950">
                <a:solidFill>
                  <a:srgbClr val="8B9199"/>
                </a:solidFill>
                <a:latin typeface="MiSans"/>
                <a:ea typeface="MiSans"/>
              </a:rPr>
              <a:t># regenera views</a:t>
            </a:r>
            <a:endParaRPr lang="en-US" sz="950"/>
          </a:p>
          <a:p>
            <a:pPr algn="l">
              <a:lnSpc>
                <a:spcPct val="160000"/>
              </a:lnSpc>
            </a:pPr>
            <a:r>
              <a:rPr lang="en-US" sz="950">
                <a:solidFill>
                  <a:srgbClr val="F2B794"/>
                </a:solidFill>
                <a:latin typeface="MiSans"/>
                <a:ea typeface="MiSans"/>
              </a:rPr>
              <a:t>$</a:t>
            </a:r>
            <a:r>
              <a:rPr lang="en-US" sz="950">
                <a:solidFill>
                  <a:srgbClr val="D8DDE3"/>
                </a:solidFill>
                <a:latin typeface="MiSans"/>
                <a:ea typeface="MiSans"/>
              </a:rPr>
              <a:t> python3 -m learner.substrate --check    </a:t>
            </a:r>
            <a:r>
              <a:rPr lang="en-US" sz="950">
                <a:solidFill>
                  <a:srgbClr val="8B9199"/>
                </a:solidFill>
                <a:latin typeface="MiSans"/>
                <a:ea typeface="MiSans"/>
              </a:rPr>
              <a:t># drift, sem escrever</a:t>
            </a:r>
            <a:endParaRPr lang="en-US" sz="950"/>
          </a:p>
          <a:p>
            <a:pPr algn="l">
              <a:lnSpc>
                <a:spcPct val="160000"/>
              </a:lnSpc>
            </a:pPr>
            <a:r>
              <a:rPr lang="en-US" sz="950">
                <a:solidFill>
                  <a:srgbClr val="F2B794"/>
                </a:solidFill>
                <a:latin typeface="MiSans"/>
                <a:ea typeface="MiSans"/>
              </a:rPr>
              <a:t>$</a:t>
            </a:r>
            <a:r>
              <a:rPr lang="en-US" sz="950">
                <a:solidFill>
                  <a:srgbClr val="D8DDE3"/>
                </a:solidFill>
                <a:latin typeface="MiSans"/>
                <a:ea typeface="MiSans"/>
              </a:rPr>
              <a:t> python3 -m learner.gate --dry-run       </a:t>
            </a:r>
            <a:r>
              <a:rPr lang="en-US" sz="950">
                <a:solidFill>
                  <a:srgbClr val="8B9199"/>
                </a:solidFill>
                <a:latin typeface="MiSans"/>
                <a:ea typeface="MiSans"/>
              </a:rPr>
              <a:t># gate verificador</a:t>
            </a:r>
            <a:endParaRPr lang="en-US" sz="95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950">
                <a:solidFill>
                  <a:srgbClr val="8B9199"/>
                </a:solidFill>
                <a:latin typeface="MiSans"/>
                <a:ea typeface="MiSans"/>
              </a:rPr>
              <a:t># Runner de checklist</a:t>
            </a:r>
            <a:endParaRPr lang="en-US" sz="950"/>
          </a:p>
          <a:p>
            <a:pPr algn="l">
              <a:lnSpc>
                <a:spcPct val="160000"/>
              </a:lnSpc>
            </a:pPr>
            <a:r>
              <a:rPr lang="en-US" sz="950">
                <a:solidFill>
                  <a:srgbClr val="F2B794"/>
                </a:solidFill>
                <a:latin typeface="MiSans"/>
                <a:ea typeface="MiSans"/>
              </a:rPr>
              <a:t>$</a:t>
            </a:r>
            <a:r>
              <a:rPr lang="en-US" sz="950">
                <a:solidFill>
                  <a:srgbClr val="D8DDE3"/>
                </a:solidFill>
                <a:latin typeface="MiSans"/>
                <a:ea typeface="MiSans"/>
              </a:rPr>
              <a:t> python3 -m engines.openclaw --preview</a:t>
            </a:r>
            <a:endParaRPr lang="en-US" sz="950"/>
          </a:p>
          <a:p>
            <a:pPr algn="l">
              <a:lnSpc>
                <a:spcPct val="160000"/>
              </a:lnSpc>
            </a:pPr>
            <a:r>
              <a:rPr lang="en-US" sz="950">
                <a:solidFill>
                  <a:srgbClr val="F2B794"/>
                </a:solidFill>
                <a:latin typeface="MiSans"/>
                <a:ea typeface="MiSans"/>
              </a:rPr>
              <a:t>$</a:t>
            </a:r>
            <a:r>
              <a:rPr lang="en-US" sz="950">
                <a:solidFill>
                  <a:srgbClr val="D8DDE3"/>
                </a:solidFill>
                <a:latin typeface="MiSans"/>
                <a:ea typeface="MiSans"/>
              </a:rPr>
              <a:t> python3 -m pytest engines/openclaw/tests/</a:t>
            </a:r>
            <a:endParaRPr lang="en-US" sz="95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950">
                <a:solidFill>
                  <a:srgbClr val="8B9199"/>
                </a:solidFill>
                <a:latin typeface="MiSans"/>
                <a:ea typeface="MiSans"/>
              </a:rPr>
              <a:t># Apps JS (cada um se valida)</a:t>
            </a:r>
            <a:endParaRPr lang="en-US" sz="950"/>
          </a:p>
          <a:p>
            <a:pPr algn="l">
              <a:lnSpc>
                <a:spcPct val="160000"/>
              </a:lnSpc>
            </a:pPr>
            <a:r>
              <a:rPr lang="en-US" sz="950">
                <a:solidFill>
                  <a:srgbClr val="F2B794"/>
                </a:solidFill>
                <a:latin typeface="MiSans"/>
                <a:ea typeface="MiSans"/>
              </a:rPr>
              <a:t>$</a:t>
            </a:r>
            <a:r>
              <a:rPr lang="en-US" sz="950">
                <a:solidFill>
                  <a:srgbClr val="D8DDE3"/>
                </a:solidFill>
                <a:latin typeface="MiSans"/>
                <a:ea typeface="MiSans"/>
              </a:rPr>
              <a:t> cd engines/codexDojo &amp;&amp; pnpm run lint &amp;&amp; pnpm run test &amp;&amp; pnpm run build</a:t>
            </a:r>
            <a:endParaRPr lang="en-US" sz="950"/>
          </a:p>
          <a:p>
            <a:pPr algn="l">
              <a:lnSpc>
                <a:spcPct val="160000"/>
              </a:lnSpc>
            </a:pPr>
            <a:r>
              <a:rPr lang="en-US" sz="950">
                <a:solidFill>
                  <a:srgbClr val="F2B794"/>
                </a:solidFill>
                <a:latin typeface="MiSans"/>
                <a:ea typeface="MiSans"/>
              </a:rPr>
              <a:t>$</a:t>
            </a:r>
            <a:r>
              <a:rPr lang="en-US" sz="950">
                <a:solidFill>
                  <a:srgbClr val="D8DDE3"/>
                </a:solidFill>
                <a:latin typeface="MiSans"/>
                <a:ea typeface="MiSans"/>
              </a:rPr>
              <a:t> cd engines/codexdojo-os-prototype &amp;&amp; npm run lint &amp;&amp; npm run test \</a:t>
            </a:r>
            <a:endParaRPr lang="en-US" sz="950"/>
          </a:p>
          <a:p>
            <a:pPr algn="l">
              <a:lnSpc>
                <a:spcPct val="160000"/>
              </a:lnSpc>
            </a:pPr>
            <a:r>
              <a:rPr lang="en-US" sz="950">
                <a:solidFill>
                  <a:srgbClr val="D8DDE3"/>
                </a:solidFill>
                <a:latin typeface="MiSans"/>
                <a:ea typeface="MiSans"/>
              </a:rPr>
              <a:t>    &amp;&amp; npm run build &amp;&amp; npm run test:smoke</a:t>
            </a:r>
            <a:endParaRPr lang="en-US" sz="950"/>
          </a:p>
          <a:p>
            <a:pPr algn="l">
              <a:lnSpc>
                <a:spcPct val="160000"/>
              </a:lnSpc>
            </a:pPr>
            <a:r>
              <a:rPr lang="en-US" sz="950">
                <a:solidFill>
                  <a:srgbClr val="F2B794"/>
                </a:solidFill>
                <a:latin typeface="MiSans"/>
                <a:ea typeface="MiSans"/>
              </a:rPr>
              <a:t>$</a:t>
            </a:r>
            <a:r>
              <a:rPr lang="en-US" sz="950">
                <a:solidFill>
                  <a:srgbClr val="D8DDE3"/>
                </a:solidFill>
                <a:latin typeface="MiSans"/>
                <a:ea typeface="MiSans"/>
              </a:rPr>
              <a:t> cd engines/pixelDojo &amp;&amp; pnpm run lint &amp;&amp; pnpm run test \</a:t>
            </a:r>
            <a:endParaRPr lang="en-US" sz="950"/>
          </a:p>
          <a:p>
            <a:pPr algn="l">
              <a:lnSpc>
                <a:spcPct val="160000"/>
              </a:lnSpc>
            </a:pPr>
            <a:r>
              <a:rPr lang="en-US" sz="950">
                <a:solidFill>
                  <a:srgbClr val="D8DDE3"/>
                </a:solidFill>
                <a:latin typeface="MiSans"/>
                <a:ea typeface="MiSans"/>
              </a:rPr>
              <a:t>    &amp;&amp; pnpm run typecheck &amp;&amp; pnpm run build &amp;&amp; pnpm run smoke</a:t>
            </a:r>
            <a:endParaRPr lang="en-US" sz="950"/>
          </a:p>
          <a:p>
            <a:pPr algn="l">
              <a:lnSpc>
                <a:spcPct val="160000"/>
              </a:lnSpc>
            </a:pPr>
            <a:r>
              <a:rPr lang="en-US" sz="950">
                <a:solidFill>
                  <a:srgbClr val="F2B794"/>
                </a:solidFill>
                <a:latin typeface="MiSans"/>
                <a:ea typeface="MiSans"/>
              </a:rPr>
              <a:t>$</a:t>
            </a:r>
            <a:r>
              <a:rPr lang="en-US" sz="950">
                <a:solidFill>
                  <a:srgbClr val="D8DDE3"/>
                </a:solidFill>
                <a:latin typeface="MiSans"/>
                <a:ea typeface="MiSans"/>
              </a:rPr>
              <a:t> cd engines/voxelDojo &amp;&amp; </a:t>
            </a:r>
            <a:r>
              <a:rPr lang="en-US" sz="950">
                <a:solidFill>
                  <a:srgbClr val="8B9199"/>
                </a:solidFill>
                <a:latin typeface="MiSans"/>
                <a:ea typeface="MiSans"/>
              </a:rPr>
              <a:t># mesma sequência (pnpm, recursiva)</a:t>
            </a:r>
            <a:endParaRPr lang="en-US" sz="95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950">
                <a:solidFill>
                  <a:srgbClr val="8B9199"/>
                </a:solidFill>
                <a:latin typeface="MiSans"/>
                <a:ea typeface="MiSans"/>
              </a:rPr>
              <a:t># Trilha verificada do projeto 02 (Node)</a:t>
            </a:r>
            <a:endParaRPr lang="en-US" sz="950"/>
          </a:p>
          <a:p>
            <a:pPr algn="l">
              <a:lnSpc>
                <a:spcPct val="160000"/>
              </a:lnSpc>
            </a:pPr>
            <a:r>
              <a:rPr lang="en-US" sz="950">
                <a:solidFill>
                  <a:srgbClr val="F2B794"/>
                </a:solidFill>
                <a:latin typeface="MiSans"/>
                <a:ea typeface="MiSans"/>
              </a:rPr>
              <a:t>$</a:t>
            </a:r>
            <a:r>
              <a:rPr lang="en-US" sz="950">
                <a:solidFill>
                  <a:srgbClr val="D8DDE3"/>
                </a:solidFill>
                <a:latin typeface="MiSans"/>
                <a:ea typeface="MiSans"/>
              </a:rPr>
              <a:t> cd curriculum/02_key_value_store/node-impl \</a:t>
            </a:r>
            <a:endParaRPr lang="en-US" sz="950"/>
          </a:p>
          <a:p>
            <a:pPr algn="l">
              <a:lnSpc>
                <a:spcPct val="160000"/>
              </a:lnSpc>
            </a:pPr>
            <a:r>
              <a:rPr lang="en-US" sz="950">
                <a:solidFill>
                  <a:srgbClr val="D8DDE3"/>
                </a:solidFill>
                <a:latin typeface="MiSans"/>
                <a:ea typeface="MiSans"/>
              </a:rPr>
              <a:t>    &amp;&amp; npm run lint &amp;&amp; npm run test:coverage &amp;&amp; npm run build</a:t>
            </a:r>
            <a:endParaRPr lang="en-US" sz="950"/>
          </a:p>
        </p:txBody>
      </p:sp>
      <p:sp>
        <p:nvSpPr>
          <p:cNvPr id="7" name="n-head"/>
          <p:cNvSpPr txBox="1"/>
          <p:nvPr/>
        </p:nvSpPr>
        <p:spPr>
          <a:xfrm>
            <a:off x="8280400" y="1574800"/>
            <a:ext cx="3200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000" b="1" spc="120" kern="0">
                <a:solidFill>
                  <a:srgbClr val="1B1E23"/>
                </a:solidFill>
                <a:latin typeface="MiSans"/>
                <a:ea typeface="MiSans"/>
              </a:rPr>
              <a:t>OBSERVAÇÕES</a:t>
            </a:r>
            <a:endParaRPr lang="en-US" sz="1000"/>
          </a:p>
        </p:txBody>
      </p:sp>
      <p:sp>
        <p:nvSpPr>
          <p:cNvPr id="8" name="n-rule"/>
          <p:cNvSpPr/>
          <p:nvPr>
            <p:extLst>
              <p:ext uri="{F5677B7D-0D2A-4D9B-9A5C-6D8D7D0E5A5D}">
                <pptd:line encoding="base64url">eyJjdXJ2ZSI6InJvdW5kIiwicG9pbnRzIjoiMCwxIDI1MiwxIiwidmlld0JveCI6WzI1MiwyXX0</pptd:line>
              </p:ext>
            </p:extLst>
          </p:nvPr>
        </p:nvSpPr>
        <p:spPr>
          <a:xfrm>
            <a:off x="8280400" y="1828800"/>
            <a:ext cx="3200400" cy="25400"/>
          </a:xfrm>
          <a:custGeom>
            <a:avLst/>
            <a:gdLst/>
            <a:ahLst/>
            <a:cxnLst/>
            <a:rect l="l" t="t" r="r" b="b"/>
            <a:pathLst>
              <a:path w="252" h="2">
                <a:moveTo>
                  <a:pt x="0" y="1"/>
                </a:moveTo>
                <a:lnTo>
                  <a:pt x="252" y="1"/>
                </a:lnTo>
              </a:path>
            </a:pathLst>
          </a:custGeom>
          <a:noFill/>
          <a:ln w="12700" cap="rnd">
            <a:solidFill>
              <a:srgbClr val="E3E6EA"/>
            </a:solidFill>
            <a:round/>
          </a:ln>
        </p:spPr>
      </p:sp>
      <p:sp>
        <p:nvSpPr>
          <p:cNvPr id="9" name="n-body"/>
          <p:cNvSpPr txBox="1"/>
          <p:nvPr/>
        </p:nvSpPr>
        <p:spPr>
          <a:xfrm>
            <a:off x="8280400" y="1981200"/>
            <a:ext cx="3200400" cy="406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45000"/>
              </a:lnSpc>
            </a:pPr>
            <a:r>
              <a:rPr lang="en-US" sz="1000">
                <a:solidFill>
                  <a:srgbClr val="454A51"/>
                </a:solidFill>
                <a:latin typeface="MiSans"/>
                <a:ea typeface="MiSans"/>
              </a:rPr>
              <a:t>· </a:t>
            </a:r>
            <a:r>
              <a:rPr lang="en-US" sz="1000" b="1">
                <a:solidFill>
                  <a:srgbClr val="454A51"/>
                </a:solidFill>
                <a:latin typeface="MiSans"/>
                <a:ea typeface="MiSans"/>
              </a:rPr>
              <a:t>Nunca rode npm/pnpm install na raiz</a:t>
            </a:r>
            <a:r>
              <a:rPr lang="en-US" sz="1000">
                <a:solidFill>
                  <a:srgbClr val="454A51"/>
                </a:solidFill>
                <a:latin typeface="MiSans"/>
                <a:ea typeface="MiSans"/>
              </a:rPr>
              <a:t> — a raiz é um umbrella, não um app;</a:t>
            </a:r>
            <a:endParaRPr lang="en-US" sz="1000"/>
          </a:p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lang="en-US" sz="1000">
                <a:solidFill>
                  <a:srgbClr val="454A51"/>
                </a:solidFill>
                <a:latin typeface="MiSans"/>
                <a:ea typeface="MiSans"/>
              </a:rPr>
              <a:t>· os targets </a:t>
            </a:r>
            <a:r>
              <a:rPr lang="en-US" sz="1000" b="1">
                <a:solidFill>
                  <a:srgbClr val="454A51"/>
                </a:solidFill>
                <a:latin typeface="MiSans"/>
                <a:ea typeface="MiSans"/>
              </a:rPr>
              <a:t>make</a:t>
            </a:r>
            <a:r>
              <a:rPr lang="en-US" sz="1000">
                <a:solidFill>
                  <a:srgbClr val="454A51"/>
                </a:solidFill>
                <a:latin typeface="MiSans"/>
                <a:ea typeface="MiSans"/>
              </a:rPr>
              <a:t> cobrem apenas as suítes Python compartilhadas (minimaxDojo, openclaw, learner/substrate, gate) — não são um build geral do repo;</a:t>
            </a:r>
            <a:endParaRPr lang="en-US" sz="1000"/>
          </a:p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lang="en-US" sz="1000">
                <a:solidFill>
                  <a:srgbClr val="454A51"/>
                </a:solidFill>
                <a:latin typeface="MiSans"/>
                <a:ea typeface="MiSans"/>
              </a:rPr>
              <a:t>· </a:t>
            </a:r>
            <a:r>
              <a:rPr lang="en-US" sz="1000" b="1">
                <a:solidFill>
                  <a:srgbClr val="454A51"/>
                </a:solidFill>
                <a:latin typeface="MiSans"/>
                <a:ea typeface="MiSans"/>
              </a:rPr>
              <a:t>smoke</a:t>
            </a:r>
            <a:r>
              <a:rPr lang="en-US" sz="1000">
                <a:solidFill>
                  <a:srgbClr val="454A51"/>
                </a:solidFill>
                <a:latin typeface="MiSans"/>
                <a:ea typeface="MiSans"/>
              </a:rPr>
              <a:t> = Playwright jogando de verdade (2D/3D) ou subindo os 4 webServers do OS em 3 viewports;</a:t>
            </a:r>
            <a:endParaRPr lang="en-US" sz="1000"/>
          </a:p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lang="en-US" sz="1000">
                <a:solidFill>
                  <a:srgbClr val="454A51"/>
                </a:solidFill>
                <a:latin typeface="MiSans"/>
                <a:ea typeface="MiSans"/>
              </a:rPr>
              <a:t>· evidência gerada (</a:t>
            </a:r>
            <a:r>
              <a:rPr lang="en-US" sz="1000">
                <a:solidFill>
                  <a:srgbClr val="96401E"/>
                </a:solidFill>
                <a:latin typeface="MiSans"/>
                <a:ea typeface="MiSans"/>
              </a:rPr>
              <a:t>evidence.ndjson</a:t>
            </a:r>
            <a:r>
              <a:rPr lang="en-US" sz="1000">
                <a:solidFill>
                  <a:srgbClr val="454A51"/>
                </a:solidFill>
                <a:latin typeface="MiSans"/>
                <a:ea typeface="MiSans"/>
              </a:rPr>
              <a:t>, live-evidence*) é </a:t>
            </a:r>
            <a:r>
              <a:rPr lang="en-US" sz="1000" b="1">
                <a:solidFill>
                  <a:srgbClr val="454A51"/>
                </a:solidFill>
                <a:latin typeface="MiSans"/>
                <a:ea typeface="MiSans"/>
              </a:rPr>
              <a:t>trilha de auditoria</a:t>
            </a:r>
            <a:r>
              <a:rPr lang="en-US" sz="1000">
                <a:solidFill>
                  <a:srgbClr val="454A51"/>
                </a:solidFill>
                <a:latin typeface="MiSans"/>
                <a:ea typeface="MiSans"/>
              </a:rPr>
              <a:t>: fica versionada; screenshots de smoke são artefatos, não source;</a:t>
            </a:r>
            <a:endParaRPr lang="en-US" sz="1000"/>
          </a:p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lang="en-US" sz="1000">
                <a:solidFill>
                  <a:srgbClr val="454A51"/>
                </a:solidFill>
                <a:latin typeface="MiSans"/>
                <a:ea typeface="MiSans"/>
              </a:rPr>
              <a:t>· o gate pode ser ensaiado com </a:t>
            </a:r>
            <a:r>
              <a:rPr lang="en-US" sz="1000" b="1">
                <a:solidFill>
                  <a:srgbClr val="454A51"/>
                </a:solidFill>
                <a:latin typeface="MiSans"/>
                <a:ea typeface="MiSans"/>
              </a:rPr>
              <a:t>--dry-run</a:t>
            </a:r>
            <a:r>
              <a:rPr lang="en-US" sz="1000">
                <a:solidFill>
                  <a:srgbClr val="454A51"/>
                </a:solidFill>
                <a:latin typeface="MiSans"/>
                <a:ea typeface="MiSans"/>
              </a:rPr>
              <a:t>: decide sem escrever nada.</a:t>
            </a:r>
            <a:endParaRPr lang="en-US" sz="1000"/>
          </a:p>
        </p:txBody>
      </p:sp>
      <p:sp>
        <p:nvSpPr>
          <p:cNvPr id="10" name="footer-lin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E3E6EA"/>
          </a:solidFill>
          <a:ln>
            <a:noFill/>
          </a:ln>
        </p:spPr>
      </p:sp>
      <p:sp>
        <p:nvSpPr>
          <p:cNvPr id="11" name="footer-left"/>
          <p:cNvSpPr txBox="1"/>
          <p:nvPr/>
        </p:nvSpPr>
        <p:spPr>
          <a:xfrm>
            <a:off x="711200" y="6553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35000"/>
              </a:lnSpc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AI DEVSCHOOL — COMO FUNCIONA</a:t>
            </a:r>
            <a:endParaRPr lang="en-US" sz="900"/>
          </a:p>
        </p:txBody>
      </p:sp>
      <p:sp>
        <p:nvSpPr>
          <p:cNvPr id="12" name="footer-page"/>
          <p:cNvSpPr txBox="1"/>
          <p:nvPr/>
        </p:nvSpPr>
        <p:spPr>
          <a:xfrm>
            <a:off x="10414000" y="6553200"/>
            <a:ext cx="106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r">
              <a:lnSpc>
                <a:spcPct val="135000"/>
              </a:lnSpc>
            </a:pPr>
            <a:r>
              <a:rPr lang="en-US" sz="900">
                <a:solidFill>
                  <a:srgbClr val="8B9199"/>
                </a:solidFill>
                <a:latin typeface="MiSans"/>
                <a:ea typeface="MiSans"/>
              </a:rPr>
              <a:t>23</a:t>
            </a:r>
            <a:endParaRPr lang="en-US" sz="900"/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1B1E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-bar"/>
          <p:cNvSpPr/>
          <p:nvPr/>
        </p:nvSpPr>
        <p:spPr>
          <a:xfrm>
            <a:off x="711200" y="1219200"/>
            <a:ext cx="76200" cy="1066800"/>
          </a:xfrm>
          <a:prstGeom prst="rect">
            <a:avLst/>
          </a:prstGeom>
          <a:solidFill>
            <a:srgbClr val="BC5327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1016000" y="11684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 b="1" spc="250" kern="0">
                <a:solidFill>
                  <a:srgbClr val="F2B794"/>
                </a:solidFill>
                <a:latin typeface="MiSans"/>
                <a:ea typeface="MiSans"/>
              </a:rPr>
              <a:t>EM UMA FRASE</a:t>
            </a:r>
            <a:endParaRPr lang="en-US" sz="1100"/>
          </a:p>
        </p:txBody>
      </p:sp>
      <p:sp>
        <p:nvSpPr>
          <p:cNvPr id="4" name="big"/>
          <p:cNvSpPr txBox="1"/>
          <p:nvPr/>
        </p:nvSpPr>
        <p:spPr>
          <a:xfrm>
            <a:off x="990600" y="1447800"/>
            <a:ext cx="10160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600" b="1">
                <a:solidFill>
                  <a:srgbClr val="FFFFFF"/>
                </a:solidFill>
                <a:latin typeface="MiSans"/>
                <a:ea typeface="MiSans"/>
              </a:rPr>
              <a:t>A IA propõe. O gate executável dispõe.</a:t>
            </a:r>
            <a:endParaRPr lang="en-US" sz="1600"/>
          </a:p>
        </p:txBody>
      </p:sp>
      <p:sp>
        <p:nvSpPr>
          <p:cNvPr id="5" name="sub"/>
          <p:cNvSpPr txBox="1"/>
          <p:nvPr/>
        </p:nvSpPr>
        <p:spPr>
          <a:xfrm>
            <a:off x="1016000" y="2413000"/>
            <a:ext cx="10160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50000"/>
              </a:lnSpc>
            </a:pPr>
            <a:r>
              <a:rPr lang="en-US" sz="1300">
                <a:solidFill>
                  <a:srgbClr val="C6CCD3"/>
                </a:solidFill>
                <a:latin typeface="MiSans"/>
                <a:ea typeface="MiSans"/>
              </a:rPr>
              <a:t>Toda afirmação de progresso — mastered, streak, rating, promoção de projeto — é uma função pura de arquivos auditáveis. A única porta de entrada para "domínio" é um verificador independente que re-executa um contrato empírico.</a:t>
            </a:r>
            <a:endParaRPr lang="en-US" sz="1300"/>
          </a:p>
        </p:txBody>
      </p:sp>
      <p:sp>
        <p:nvSpPr>
          <p:cNvPr id="6" name="st-head"/>
          <p:cNvSpPr txBox="1"/>
          <p:nvPr/>
        </p:nvSpPr>
        <p:spPr>
          <a:xfrm>
            <a:off x="711200" y="3403600"/>
            <a:ext cx="533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000" b="1" spc="150" kern="0">
                <a:solidFill>
                  <a:srgbClr val="F2B794"/>
                </a:solidFill>
                <a:latin typeface="MiSans"/>
                <a:ea typeface="MiSans"/>
              </a:rPr>
              <a:t>ESTADO HONESTO HOJE (2026-07)</a:t>
            </a:r>
            <a:endParaRPr lang="en-US" sz="1000"/>
          </a:p>
        </p:txBody>
      </p:sp>
      <p:sp>
        <p:nvSpPr>
          <p:cNvPr id="7" name="st-rule"/>
          <p:cNvSpPr/>
          <p:nvPr>
            <p:extLst>
              <p:ext uri="{F5677B7D-0D2A-4D9B-9A5C-6D8D7D0E5A5D}">
                <pptd:line encoding="base64url">eyJjdXJ2ZSI6InJvdW5kIiwicG9pbnRzIjoiMCwxIDQyMCwxIiwidmlld0JveCI6WzQyMCwyXX0</pptd:line>
              </p:ext>
            </p:extLst>
          </p:nvPr>
        </p:nvSpPr>
        <p:spPr>
          <a:xfrm>
            <a:off x="711200" y="3657600"/>
            <a:ext cx="5334000" cy="25400"/>
          </a:xfrm>
          <a:custGeom>
            <a:avLst/>
            <a:gdLst/>
            <a:ahLst/>
            <a:cxnLst/>
            <a:rect l="l" t="t" r="r" b="b"/>
            <a:pathLst>
              <a:path w="420" h="2">
                <a:moveTo>
                  <a:pt x="0" y="1"/>
                </a:moveTo>
                <a:lnTo>
                  <a:pt x="420" y="1"/>
                </a:lnTo>
              </a:path>
            </a:pathLst>
          </a:custGeom>
          <a:noFill/>
          <a:ln w="12700" cap="rnd">
            <a:solidFill>
              <a:srgbClr val="3A4048"/>
            </a:solidFill>
            <a:round/>
          </a:ln>
        </p:spPr>
      </p:sp>
      <p:sp>
        <p:nvSpPr>
          <p:cNvPr id="8" name="st-body"/>
          <p:cNvSpPr txBox="1"/>
          <p:nvPr/>
        </p:nvSpPr>
        <p:spPr>
          <a:xfrm>
            <a:off x="711200" y="3810000"/>
            <a:ext cx="53340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55000"/>
              </a:lnSpc>
            </a:pPr>
            <a:r>
              <a:rPr lang="en-US" sz="1100">
                <a:solidFill>
                  <a:srgbClr val="C6CCD3"/>
                </a:solidFill>
                <a:latin typeface="MiSans"/>
                <a:ea typeface="MiSans"/>
              </a:rPr>
              <a:t>· </a:t>
            </a:r>
            <a:r>
              <a:rPr lang="en-US" sz="1100" b="1">
                <a:solidFill>
                  <a:srgbClr val="FFFFFF"/>
                </a:solidFill>
                <a:latin typeface="MiSans"/>
                <a:ea typeface="MiSans"/>
              </a:rPr>
              <a:t>2 de 18 projetos</a:t>
            </a:r>
            <a:r>
              <a:rPr lang="en-US" sz="1100">
                <a:solidFill>
                  <a:srgbClr val="C6CCD3"/>
                </a:solidFill>
                <a:latin typeface="MiSans"/>
                <a:ea typeface="MiSans"/>
              </a:rPr>
              <a:t> implementados — ambos com certificação Node.js-only e caveats explícitos;</a:t>
            </a:r>
            <a:endParaRPr lang="en-US" sz="1100"/>
          </a:p>
          <a:p>
            <a:pPr algn="l">
              <a:lnSpc>
                <a:spcPct val="155000"/>
              </a:lnSpc>
            </a:pPr>
            <a:r>
              <a:rPr lang="en-US" sz="1100">
                <a:solidFill>
                  <a:srgbClr val="C6CCD3"/>
                </a:solidFill>
                <a:latin typeface="MiSans"/>
                <a:ea typeface="MiSans"/>
              </a:rPr>
              <a:t>· </a:t>
            </a:r>
            <a:r>
              <a:rPr lang="en-US" sz="1100" b="1">
                <a:solidFill>
                  <a:srgbClr val="FFFFFF"/>
                </a:solidFill>
                <a:latin typeface="MiSans"/>
                <a:ea typeface="MiSans"/>
              </a:rPr>
              <a:t>1 unidade dominada</a:t>
            </a:r>
            <a:r>
              <a:rPr lang="en-US" sz="1100">
                <a:solidFill>
                  <a:srgbClr val="C6CCD3"/>
                </a:solidFill>
                <a:latin typeface="MiSans"/>
                <a:ea typeface="MiSans"/>
              </a:rPr>
              <a:t> (U0) com evidência verificada; 18 masteries falsas revertidas por auditoria;</a:t>
            </a:r>
            <a:endParaRPr lang="en-US" sz="1100"/>
          </a:p>
          <a:p>
            <a:pPr algn="l">
              <a:lnSpc>
                <a:spcPct val="155000"/>
              </a:lnSpc>
            </a:pPr>
            <a:r>
              <a:rPr lang="en-US" sz="1100">
                <a:solidFill>
                  <a:srgbClr val="C6CCD3"/>
                </a:solidFill>
                <a:latin typeface="MiSans"/>
                <a:ea typeface="MiSans"/>
              </a:rPr>
              <a:t>· unidade ativa </a:t>
            </a:r>
            <a:r>
              <a:rPr lang="en-US" sz="1100" b="1">
                <a:solidFill>
                  <a:srgbClr val="FFFFFF"/>
                </a:solidFill>
                <a:latin typeface="MiSans"/>
                <a:ea typeface="MiSans"/>
              </a:rPr>
              <a:t>U2-key-value-store</a:t>
            </a:r>
            <a:r>
              <a:rPr lang="en-US" sz="1100">
                <a:solidFill>
                  <a:srgbClr val="C6CCD3"/>
                </a:solidFill>
                <a:latin typeface="MiSans"/>
                <a:ea typeface="MiSans"/>
              </a:rPr>
              <a:t> em avaliação; pipeline em cycle-complete aguardando o próximo curator;</a:t>
            </a:r>
            <a:endParaRPr lang="en-US" sz="1100"/>
          </a:p>
          <a:p>
            <a:pPr algn="l">
              <a:lnSpc>
                <a:spcPct val="155000"/>
              </a:lnSpc>
            </a:pPr>
            <a:r>
              <a:rPr lang="en-US" sz="1100">
                <a:solidFill>
                  <a:srgbClr val="C6CCD3"/>
                </a:solidFill>
                <a:latin typeface="MiSans"/>
                <a:ea typeface="MiSans"/>
              </a:rPr>
              <a:t>· evolução ativa: docs/VISION.md e novos engines em proposta.</a:t>
            </a:r>
            <a:endParaRPr lang="en-US" sz="1100"/>
          </a:p>
        </p:txBody>
      </p:sp>
      <p:sp>
        <p:nvSpPr>
          <p:cNvPr id="9" name="next-head"/>
          <p:cNvSpPr txBox="1"/>
          <p:nvPr/>
        </p:nvSpPr>
        <p:spPr>
          <a:xfrm>
            <a:off x="6654800" y="34036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000" b="1" spc="150" kern="0">
                <a:solidFill>
                  <a:srgbClr val="F2B794"/>
                </a:solidFill>
                <a:latin typeface="MiSans"/>
                <a:ea typeface="MiSans"/>
              </a:rPr>
              <a:t>PARA ONDE VAI (docs/VISION.md)</a:t>
            </a:r>
            <a:endParaRPr lang="en-US" sz="1000"/>
          </a:p>
        </p:txBody>
      </p:sp>
      <p:sp>
        <p:nvSpPr>
          <p:cNvPr id="10" name="next-rule"/>
          <p:cNvSpPr/>
          <p:nvPr>
            <p:extLst>
              <p:ext uri="{F5677B7D-0D2A-4D9B-9A5C-6D8D7D0E5A5D}">
                <pptd:line encoding="base64url">eyJjdXJ2ZSI6InJvdW5kIiwicG9pbnRzIjoiMCwxIDM4MCwxIiwidmlld0JveCI6WzM4MCwyXX0</pptd:line>
              </p:ext>
            </p:extLst>
          </p:nvPr>
        </p:nvSpPr>
        <p:spPr>
          <a:xfrm>
            <a:off x="6654800" y="3657600"/>
            <a:ext cx="4826000" cy="25400"/>
          </a:xfrm>
          <a:custGeom>
            <a:avLst/>
            <a:gdLst/>
            <a:ahLst/>
            <a:cxnLst/>
            <a:rect l="l" t="t" r="r" b="b"/>
            <a:pathLst>
              <a:path w="380" h="2">
                <a:moveTo>
                  <a:pt x="0" y="1"/>
                </a:moveTo>
                <a:lnTo>
                  <a:pt x="380" y="1"/>
                </a:lnTo>
              </a:path>
            </a:pathLst>
          </a:custGeom>
          <a:noFill/>
          <a:ln w="12700" cap="rnd">
            <a:solidFill>
              <a:srgbClr val="3A4048"/>
            </a:solidFill>
            <a:round/>
          </a:ln>
        </p:spPr>
      </p:sp>
      <p:sp>
        <p:nvSpPr>
          <p:cNvPr id="11" name="next-body"/>
          <p:cNvSpPr txBox="1"/>
          <p:nvPr/>
        </p:nvSpPr>
        <p:spPr>
          <a:xfrm>
            <a:off x="6654800" y="3810000"/>
            <a:ext cx="48260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l">
              <a:lnSpc>
                <a:spcPct val="155000"/>
              </a:lnSpc>
            </a:pPr>
            <a:r>
              <a:rPr lang="en-US" sz="1100">
                <a:solidFill>
                  <a:srgbClr val="C6CCD3"/>
                </a:solidFill>
                <a:latin typeface="MiSans"/>
                <a:ea typeface="MiSans"/>
              </a:rPr>
              <a:t>· trilha </a:t>
            </a:r>
            <a:r>
              <a:rPr lang="en-US" sz="1100" b="1">
                <a:solidFill>
                  <a:srgbClr val="FFFFFF"/>
                </a:solidFill>
                <a:latin typeface="MiSans"/>
                <a:ea typeface="MiSans"/>
              </a:rPr>
              <a:t>"Nível 0"</a:t>
            </a:r>
            <a:r>
              <a:rPr lang="en-US" sz="1100">
                <a:solidFill>
                  <a:srgbClr val="C6CCD3"/>
                </a:solidFill>
                <a:latin typeface="MiSans"/>
                <a:ea typeface="MiSans"/>
              </a:rPr>
              <a:t> para não-técnicos;</a:t>
            </a:r>
            <a:endParaRPr lang="en-US" sz="1100"/>
          </a:p>
          <a:p>
            <a:pPr algn="l">
              <a:lnSpc>
                <a:spcPct val="155000"/>
              </a:lnSpc>
            </a:pPr>
            <a:r>
              <a:rPr lang="en-US" sz="1100">
                <a:solidFill>
                  <a:srgbClr val="C6CCD3"/>
                </a:solidFill>
                <a:latin typeface="MiSans"/>
                <a:ea typeface="MiSans"/>
              </a:rPr>
              <a:t>· micro-lições fora dos jogos, numa pegada Duolingo (lições pequenas, FSRS, streak);</a:t>
            </a:r>
            <a:endParaRPr lang="en-US" sz="1100"/>
          </a:p>
          <a:p>
            <a:pPr algn="l">
              <a:lnSpc>
                <a:spcPct val="155000"/>
              </a:lnSpc>
            </a:pPr>
            <a:r>
              <a:rPr lang="en-US" sz="1100">
                <a:solidFill>
                  <a:srgbClr val="C6CCD3"/>
                </a:solidFill>
                <a:latin typeface="MiSans"/>
                <a:ea typeface="MiSans"/>
              </a:rPr>
              <a:t>· onboarding simples e </a:t>
            </a:r>
            <a:r>
              <a:rPr lang="en-US" sz="1100" b="1">
                <a:solidFill>
                  <a:srgbClr val="FFFFFF"/>
                </a:solidFill>
                <a:latin typeface="MiSans"/>
                <a:ea typeface="MiSans"/>
              </a:rPr>
              <a:t>replicação da instância</a:t>
            </a:r>
            <a:r>
              <a:rPr lang="en-US" sz="1100">
                <a:solidFill>
                  <a:srgbClr val="C6CCD3"/>
                </a:solidFill>
                <a:latin typeface="MiSans"/>
                <a:ea typeface="MiSans"/>
              </a:rPr>
              <a:t> — hoje: piloto single-learner;</a:t>
            </a:r>
            <a:endParaRPr lang="en-US" sz="1100"/>
          </a:p>
          <a:p>
            <a:pPr algn="l">
              <a:lnSpc>
                <a:spcPct val="155000"/>
              </a:lnSpc>
            </a:pPr>
            <a:r>
              <a:rPr lang="en-US" sz="1100">
                <a:solidFill>
                  <a:srgbClr val="C6CCD3"/>
                </a:solidFill>
                <a:latin typeface="MiSans"/>
                <a:ea typeface="MiSans"/>
              </a:rPr>
              <a:t>· visão: democratizar conhecimento e aplicação de IA, sem criar dependência de IA.</a:t>
            </a:r>
            <a:endParaRPr lang="en-US" sz="1100"/>
          </a:p>
        </p:txBody>
      </p:sp>
      <p:sp>
        <p:nvSpPr>
          <p:cNvPr id="12" name="end-line"/>
          <p:cNvSpPr/>
          <p:nvPr>
            <p:extLst>
              <p:ext uri="{F5677B7D-0D2A-4D9B-9A5C-6D8D7D0E5A5D}">
                <pptd:line encoding="base64url">eyJjdXJ2ZSI6InJvdW5kIiwicG9pbnRzIjoiMCwxIDg0OCwxIiwidmlld0JveCI6Wzg0OCwyXX0</pptd:line>
              </p:ext>
            </p:extLst>
          </p:nvPr>
        </p:nvSpPr>
        <p:spPr>
          <a:xfrm>
            <a:off x="711200" y="6045200"/>
            <a:ext cx="10769600" cy="25400"/>
          </a:xfrm>
          <a:custGeom>
            <a:avLst/>
            <a:gdLst/>
            <a:ahLst/>
            <a:cxnLst/>
            <a:rect l="l" t="t" r="r" b="b"/>
            <a:pathLst>
              <a:path w="848" h="2">
                <a:moveTo>
                  <a:pt x="0" y="1"/>
                </a:moveTo>
                <a:lnTo>
                  <a:pt x="848" y="1"/>
                </a:lnTo>
              </a:path>
            </a:pathLst>
          </a:custGeom>
          <a:noFill/>
          <a:ln w="12700" cap="rnd">
            <a:solidFill>
              <a:srgbClr val="3A4048"/>
            </a:solidFill>
            <a:round/>
          </a:ln>
        </p:spPr>
      </p:sp>
      <p:sp>
        <p:nvSpPr>
          <p:cNvPr id="13" name="end-note"/>
          <p:cNvSpPr txBox="1"/>
          <p:nvPr/>
        </p:nvSpPr>
        <p:spPr>
          <a:xfrm>
            <a:off x="711200" y="6197600"/>
            <a:ext cx="10769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000">
                <a:solidFill>
                  <a:srgbClr val="8B9199"/>
                </a:solidFill>
                <a:latin typeface="MiSans"/>
                <a:ea typeface="MiSans"/>
              </a:rPr>
              <a:t>Fontes: docs/handbook/* · AGENTS.md · learner/* · curriculum/* · engines/* — todo número deste deck é verificável no repositório.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Neo Design</Application>
  <Slides>24</Slides>
</Properties>
</file>

<file path=docProps/core.xml><?xml version="1.0" encoding="utf-8"?>
<cp:coreProperties xmlns:cp="http://schemas.openxmlformats.org/package/2006/metadata/core-properties" xmlns:dc="http://purl.org/dc/elements/1.1/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/>
  </property>
</Properties>
</file>